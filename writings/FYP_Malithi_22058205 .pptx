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75" r:id="rId1"/>
  </p:sldMasterIdLst>
  <p:notesMasterIdLst>
    <p:notesMasterId r:id="rId25"/>
  </p:notesMasterIdLst>
  <p:sldIdLst>
    <p:sldId id="256" r:id="rId2"/>
    <p:sldId id="257" r:id="rId3"/>
    <p:sldId id="321" r:id="rId4"/>
    <p:sldId id="309" r:id="rId5"/>
    <p:sldId id="306" r:id="rId6"/>
    <p:sldId id="311" r:id="rId7"/>
    <p:sldId id="310" r:id="rId8"/>
    <p:sldId id="261" r:id="rId9"/>
    <p:sldId id="308" r:id="rId10"/>
    <p:sldId id="262" r:id="rId11"/>
    <p:sldId id="322" r:id="rId12"/>
    <p:sldId id="313" r:id="rId13"/>
    <p:sldId id="315" r:id="rId14"/>
    <p:sldId id="323" r:id="rId15"/>
    <p:sldId id="318" r:id="rId16"/>
    <p:sldId id="316" r:id="rId17"/>
    <p:sldId id="319" r:id="rId18"/>
    <p:sldId id="317" r:id="rId19"/>
    <p:sldId id="320" r:id="rId20"/>
    <p:sldId id="324" r:id="rId21"/>
    <p:sldId id="325" r:id="rId22"/>
    <p:sldId id="272" r:id="rId23"/>
    <p:sldId id="284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DC3"/>
    <a:srgbClr val="18C1C4"/>
    <a:srgbClr val="A2EDE6"/>
    <a:srgbClr val="D71D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6950C4-1E84-488A-8373-B8880B70C4BE}">
  <a:tblStyle styleId="{F56950C4-1E84-488A-8373-B8880B70C4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27"/>
    <p:restoredTop sz="92424"/>
  </p:normalViewPr>
  <p:slideViewPr>
    <p:cSldViewPr snapToGrid="0">
      <p:cViewPr varScale="1">
        <p:scale>
          <a:sx n="131" d="100"/>
          <a:sy n="131" d="100"/>
        </p:scale>
        <p:origin x="18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2126a3bec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2126a3bec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1fba705b9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1fba705b9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MY" b="1" dirty="0"/>
              <a:t>Slide 1: CVD Global and Malaysian Statistics/Epidemiology</a:t>
            </a:r>
          </a:p>
          <a:p>
            <a:r>
              <a:rPr lang="en-MY" b="1" dirty="0"/>
              <a:t>Global Statistics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Non-communicable diseases (NCDs) account for 74% of global deaths (41 million) in 2019 (WHO, 2023).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Cardiovascular disease (CVD) is responsible for 44% of all NCD-related deaths, equating to approximately 17.9 million deaths (WHO, 2021, 2023).</a:t>
            </a:r>
          </a:p>
          <a:p>
            <a:r>
              <a:rPr lang="en-MY" b="1" dirty="0"/>
              <a:t>Malaysian Statistics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CVD has been the leading cause of death in Malaysia since the 1980s (IPH, 2020).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Ischemic heart disease (IHD) was the principal cause of death from 2001 to 2020.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In 2021, IHD accounted for 13.7% of 157,251 medically certified deaths, with deaths increasing from 18,526 in 2020 to 21,485 in 2021 (DOSM, 2022).</a:t>
            </a:r>
          </a:p>
          <a:p>
            <a:r>
              <a:rPr lang="en-MY" b="1" dirty="0"/>
              <a:t>Economic and Social Impact in Malaysia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In 2017, CVDs caused 1,397,311 Disability-Adjusted Life Years (DALYs) in Malaysia, resulting in an economic loss of around RM59.85 billion (MOH, 2020).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IHD and stroke contributed to RM32.48 billion and RM18.28 billion of economic loss, respectively.</a:t>
            </a:r>
          </a:p>
          <a:p>
            <a:r>
              <a:rPr lang="en-MY" b="1" dirty="0"/>
              <a:t>Image Suggestions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Global NCD mortality chart.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Malaysian CVD statistics graph.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653769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Slide 2: Focus on MI, Stroke, and Heart Failure</a:t>
            </a:r>
          </a:p>
          <a:p>
            <a:r>
              <a:rPr lang="en-MY" b="1" dirty="0"/>
              <a:t>Myocardial Infarction (MI)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Occurs when blood flow to the heart is blocked, leading to heart muscle damage.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Major cause of morbidity and mortality globally and in Malaysia.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In Malaysia, IHD, which includes MI, remains a leading cause of death.</a:t>
            </a:r>
          </a:p>
          <a:p>
            <a:r>
              <a:rPr lang="en-MY" b="1" dirty="0"/>
              <a:t>Stroke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Occurs when blood supply to part of the brain is interrupted, causing brain damage.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Incidence of stroke is rising in Malaysia, with deaths increasing from 9,105 in 2020 to 10,181 in 2021 (DOSM, 2022).</a:t>
            </a:r>
          </a:p>
          <a:p>
            <a:r>
              <a:rPr lang="en-MY" b="1" dirty="0"/>
              <a:t>Heart Failure (HF)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 condition where the heart is unable to pump blood effectively, often resulting from various CVDs.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Seen as the final stage of many CVDs, significantly impacting health and quality of life.</a:t>
            </a:r>
          </a:p>
          <a:p>
            <a:r>
              <a:rPr lang="en-MY" b="1" dirty="0"/>
              <a:t>Importance of these CVD Events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MI, stroke, and HF are major contributors to the overall CVD burden.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Effective prediction and prevention can significantly reduce morbidity and mortality.</a:t>
            </a:r>
          </a:p>
          <a:p>
            <a:r>
              <a:rPr lang="en-MY" b="1" dirty="0"/>
              <a:t>Image Suggestions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Visuals illustrating the impact of MI, stroke, and HF.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Statistical charts showing the incidence and mortality rates of these conditions in Malaysia.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84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Risk score,</a:t>
            </a:r>
            <a:br>
              <a:rPr lang="en-US" dirty="0"/>
            </a:br>
            <a:r>
              <a:rPr lang="en-US" dirty="0"/>
              <a:t>FRS – issues, not for Malaysia demographics, only for 10 years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lit review for ML that works for 10 years, also for MI stroke classification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gap? Problem statement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research objectives, 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Shap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conclusion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483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Slide 3: Limitations of Conventional Risk Scores and the Need for a Three-Year Model</a:t>
            </a:r>
          </a:p>
          <a:p>
            <a:r>
              <a:rPr lang="en-MY" b="1" dirty="0"/>
              <a:t>Conventional Risk Scores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Framingham Risk Score (FRS)</a:t>
            </a:r>
            <a:r>
              <a:rPr lang="en-MY" dirty="0"/>
              <a:t>, </a:t>
            </a:r>
            <a:r>
              <a:rPr lang="en-MY" b="1" dirty="0"/>
              <a:t>Pooled Cohort Equations (PCE)</a:t>
            </a:r>
            <a:r>
              <a:rPr lang="en-MY" dirty="0"/>
              <a:t>, </a:t>
            </a:r>
            <a:r>
              <a:rPr lang="en-MY" b="1" dirty="0"/>
              <a:t>SCORE2</a:t>
            </a:r>
            <a:r>
              <a:rPr lang="en-MY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Developed based on non-Malaysian populations, often resulting in poor calibration for Malaysian demographics (Chia et al., 2015; </a:t>
            </a:r>
            <a:r>
              <a:rPr lang="en-MY" dirty="0" err="1"/>
              <a:t>Selvarajah</a:t>
            </a:r>
            <a:r>
              <a:rPr lang="en-MY" dirty="0"/>
              <a:t> et al., 2014).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Validation studies in Malaysia show varying predictive accuracies (AUC values of 0.63 and 0.76 for FRS).</a:t>
            </a:r>
          </a:p>
          <a:p>
            <a:r>
              <a:rPr lang="en-MY" b="1" dirty="0"/>
              <a:t>Why Conventional Scores are Not Suitable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Overestimate or underestimate CVD risk in the Malaysian population due to different lifestyle and genetic factors (Kasim et al., 2023).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Need for ongoing validation and customization to fit the multiethnic Malaysian population.</a:t>
            </a:r>
          </a:p>
          <a:p>
            <a:r>
              <a:rPr lang="en-MY" b="1" dirty="0"/>
              <a:t>Why a Three-Year Prediction Model is Needed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Existing models typically provide 10-year risk predictions, which may not effectively capture short-term risks.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Short-term prediction models enable timely intervention and more aggressive preventive measures, crucial for reducing immediate CVD events (BMC Cardiovascular Disorders).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Studies have highlighted the effectiveness of short-term risk assessment in improving patient outcomes (Neural Computing and Applications).</a:t>
            </a:r>
          </a:p>
          <a:p>
            <a:r>
              <a:rPr lang="en-MY" b="1" dirty="0"/>
              <a:t>Image Suggestions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Flowchart comparing traditional and ML-based prediction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Visual representation of short-term (three-year) vs. long-term (ten-year) prediction models.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950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2126a3bec9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2126a3bec9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2126a3bec9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2126a3bec9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8065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2126a3bec9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2126a3bec9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2126a3bec9_0_4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2126a3bec9_0_4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22d898e42e7_0_1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22d898e42e7_0_1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086450"/>
            <a:ext cx="49890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647550"/>
            <a:ext cx="498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12" y="10"/>
            <a:ext cx="1271713" cy="1373615"/>
          </a:xfrm>
          <a:custGeom>
            <a:avLst/>
            <a:gdLst/>
            <a:ahLst/>
            <a:cxnLst/>
            <a:rect l="l" t="t" r="r" b="b"/>
            <a:pathLst>
              <a:path w="30925" h="33403" extrusionOk="0">
                <a:moveTo>
                  <a:pt x="30924" y="0"/>
                </a:moveTo>
                <a:cubicBezTo>
                  <a:pt x="25876" y="1160"/>
                  <a:pt x="19752" y="3472"/>
                  <a:pt x="20040" y="9573"/>
                </a:cubicBezTo>
                <a:cubicBezTo>
                  <a:pt x="20116" y="11218"/>
                  <a:pt x="20737" y="12809"/>
                  <a:pt x="20737" y="14454"/>
                </a:cubicBezTo>
                <a:cubicBezTo>
                  <a:pt x="20730" y="18676"/>
                  <a:pt x="16281" y="18335"/>
                  <a:pt x="13552" y="19919"/>
                </a:cubicBezTo>
                <a:cubicBezTo>
                  <a:pt x="10808" y="21503"/>
                  <a:pt x="9944" y="24974"/>
                  <a:pt x="8194" y="27612"/>
                </a:cubicBezTo>
                <a:cubicBezTo>
                  <a:pt x="6518" y="30151"/>
                  <a:pt x="3934" y="31940"/>
                  <a:pt x="1137" y="33054"/>
                </a:cubicBezTo>
                <a:cubicBezTo>
                  <a:pt x="788" y="33198"/>
                  <a:pt x="402" y="33304"/>
                  <a:pt x="0" y="33403"/>
                </a:cubicBezTo>
                <a:lnTo>
                  <a:pt x="30924" y="33403"/>
                </a:lnTo>
                <a:lnTo>
                  <a:pt x="30924" y="0"/>
                </a:lnTo>
                <a:close/>
              </a:path>
            </a:pathLst>
          </a:custGeom>
          <a:solidFill>
            <a:srgbClr val="F0A7B7">
              <a:alpha val="40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950675" y="4385100"/>
            <a:ext cx="3193321" cy="758401"/>
          </a:xfrm>
          <a:custGeom>
            <a:avLst/>
            <a:gdLst/>
            <a:ahLst/>
            <a:cxnLst/>
            <a:rect l="l" t="t" r="r" b="b"/>
            <a:pathLst>
              <a:path w="36708" h="8718" extrusionOk="0">
                <a:moveTo>
                  <a:pt x="35842" y="0"/>
                </a:moveTo>
                <a:cubicBezTo>
                  <a:pt x="35815" y="0"/>
                  <a:pt x="35787" y="1"/>
                  <a:pt x="35760" y="1"/>
                </a:cubicBezTo>
                <a:cubicBezTo>
                  <a:pt x="34070" y="32"/>
                  <a:pt x="32630" y="1229"/>
                  <a:pt x="31554" y="2533"/>
                </a:cubicBezTo>
                <a:cubicBezTo>
                  <a:pt x="30477" y="3836"/>
                  <a:pt x="29591" y="5330"/>
                  <a:pt x="28257" y="6360"/>
                </a:cubicBezTo>
                <a:cubicBezTo>
                  <a:pt x="26738" y="7539"/>
                  <a:pt x="24866" y="7968"/>
                  <a:pt x="22929" y="7968"/>
                </a:cubicBezTo>
                <a:cubicBezTo>
                  <a:pt x="21367" y="7968"/>
                  <a:pt x="19763" y="7689"/>
                  <a:pt x="18267" y="7300"/>
                </a:cubicBezTo>
                <a:cubicBezTo>
                  <a:pt x="15362" y="6546"/>
                  <a:pt x="12441" y="5440"/>
                  <a:pt x="9477" y="5440"/>
                </a:cubicBezTo>
                <a:cubicBezTo>
                  <a:pt x="9015" y="5440"/>
                  <a:pt x="8552" y="5467"/>
                  <a:pt x="8088" y="5527"/>
                </a:cubicBezTo>
                <a:cubicBezTo>
                  <a:pt x="5193" y="5890"/>
                  <a:pt x="2654" y="7459"/>
                  <a:pt x="1" y="8718"/>
                </a:cubicBezTo>
                <a:lnTo>
                  <a:pt x="36708" y="8718"/>
                </a:lnTo>
                <a:lnTo>
                  <a:pt x="36708" y="115"/>
                </a:lnTo>
                <a:cubicBezTo>
                  <a:pt x="36430" y="39"/>
                  <a:pt x="36139" y="0"/>
                  <a:pt x="35842" y="0"/>
                </a:cubicBezTo>
                <a:close/>
              </a:path>
            </a:pathLst>
          </a:custGeom>
          <a:solidFill>
            <a:srgbClr val="EF3455">
              <a:alpha val="37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168900" y="146250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970800" y="1851075"/>
            <a:ext cx="4091400" cy="157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6693750" y="786150"/>
            <a:ext cx="1368300" cy="91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3970800" y="3500900"/>
            <a:ext cx="40914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/>
          <p:nvPr/>
        </p:nvSpPr>
        <p:spPr>
          <a:xfrm rot="5400000" flipH="1">
            <a:off x="66153" y="-66100"/>
            <a:ext cx="1651240" cy="1783553"/>
          </a:xfrm>
          <a:custGeom>
            <a:avLst/>
            <a:gdLst/>
            <a:ahLst/>
            <a:cxnLst/>
            <a:rect l="l" t="t" r="r" b="b"/>
            <a:pathLst>
              <a:path w="30925" h="33403" extrusionOk="0">
                <a:moveTo>
                  <a:pt x="30924" y="0"/>
                </a:moveTo>
                <a:cubicBezTo>
                  <a:pt x="25876" y="1160"/>
                  <a:pt x="19752" y="3472"/>
                  <a:pt x="20040" y="9573"/>
                </a:cubicBezTo>
                <a:cubicBezTo>
                  <a:pt x="20116" y="11218"/>
                  <a:pt x="20737" y="12809"/>
                  <a:pt x="20737" y="14454"/>
                </a:cubicBezTo>
                <a:cubicBezTo>
                  <a:pt x="20730" y="18676"/>
                  <a:pt x="16281" y="18335"/>
                  <a:pt x="13552" y="19919"/>
                </a:cubicBezTo>
                <a:cubicBezTo>
                  <a:pt x="10808" y="21503"/>
                  <a:pt x="9944" y="24974"/>
                  <a:pt x="8194" y="27612"/>
                </a:cubicBezTo>
                <a:cubicBezTo>
                  <a:pt x="6518" y="30151"/>
                  <a:pt x="3934" y="31940"/>
                  <a:pt x="1137" y="33054"/>
                </a:cubicBezTo>
                <a:cubicBezTo>
                  <a:pt x="788" y="33198"/>
                  <a:pt x="402" y="33304"/>
                  <a:pt x="0" y="33403"/>
                </a:cubicBezTo>
                <a:lnTo>
                  <a:pt x="30924" y="33403"/>
                </a:lnTo>
                <a:lnTo>
                  <a:pt x="30924" y="0"/>
                </a:lnTo>
                <a:close/>
              </a:path>
            </a:pathLst>
          </a:custGeom>
          <a:solidFill>
            <a:srgbClr val="DF4365">
              <a:alpha val="46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9" name="Google Shape;19;p3"/>
          <p:cNvSpPr/>
          <p:nvPr/>
        </p:nvSpPr>
        <p:spPr>
          <a:xfrm rot="10800000">
            <a:off x="7588150" y="0"/>
            <a:ext cx="1555852" cy="2038836"/>
          </a:xfrm>
          <a:custGeom>
            <a:avLst/>
            <a:gdLst/>
            <a:ahLst/>
            <a:cxnLst/>
            <a:rect l="l" t="t" r="r" b="b"/>
            <a:pathLst>
              <a:path w="24755" h="32441" extrusionOk="0">
                <a:moveTo>
                  <a:pt x="1374" y="1"/>
                </a:moveTo>
                <a:cubicBezTo>
                  <a:pt x="961" y="1"/>
                  <a:pt x="505" y="98"/>
                  <a:pt x="0" y="304"/>
                </a:cubicBezTo>
                <a:lnTo>
                  <a:pt x="0" y="32441"/>
                </a:lnTo>
                <a:lnTo>
                  <a:pt x="24754" y="32441"/>
                </a:lnTo>
                <a:cubicBezTo>
                  <a:pt x="24694" y="32410"/>
                  <a:pt x="24641" y="32388"/>
                  <a:pt x="24580" y="32365"/>
                </a:cubicBezTo>
                <a:cubicBezTo>
                  <a:pt x="21146" y="30856"/>
                  <a:pt x="17470" y="29939"/>
                  <a:pt x="14067" y="28340"/>
                </a:cubicBezTo>
                <a:cubicBezTo>
                  <a:pt x="10672" y="26748"/>
                  <a:pt x="7443" y="24308"/>
                  <a:pt x="6064" y="20814"/>
                </a:cubicBezTo>
                <a:cubicBezTo>
                  <a:pt x="4653" y="17253"/>
                  <a:pt x="6890" y="1"/>
                  <a:pt x="1374" y="1"/>
                </a:cubicBezTo>
                <a:close/>
              </a:path>
            </a:pathLst>
          </a:custGeom>
          <a:solidFill>
            <a:srgbClr val="FABED2">
              <a:alpha val="49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0" y="3104675"/>
            <a:ext cx="1555852" cy="2038836"/>
          </a:xfrm>
          <a:custGeom>
            <a:avLst/>
            <a:gdLst/>
            <a:ahLst/>
            <a:cxnLst/>
            <a:rect l="l" t="t" r="r" b="b"/>
            <a:pathLst>
              <a:path w="24755" h="32441" extrusionOk="0">
                <a:moveTo>
                  <a:pt x="1374" y="1"/>
                </a:moveTo>
                <a:cubicBezTo>
                  <a:pt x="961" y="1"/>
                  <a:pt x="505" y="98"/>
                  <a:pt x="0" y="304"/>
                </a:cubicBezTo>
                <a:lnTo>
                  <a:pt x="0" y="32441"/>
                </a:lnTo>
                <a:lnTo>
                  <a:pt x="24754" y="32441"/>
                </a:lnTo>
                <a:cubicBezTo>
                  <a:pt x="24694" y="32410"/>
                  <a:pt x="24641" y="32388"/>
                  <a:pt x="24580" y="32365"/>
                </a:cubicBezTo>
                <a:cubicBezTo>
                  <a:pt x="21146" y="30856"/>
                  <a:pt x="17470" y="29939"/>
                  <a:pt x="14067" y="28340"/>
                </a:cubicBezTo>
                <a:cubicBezTo>
                  <a:pt x="10672" y="26748"/>
                  <a:pt x="7443" y="24308"/>
                  <a:pt x="6064" y="20814"/>
                </a:cubicBezTo>
                <a:cubicBezTo>
                  <a:pt x="4653" y="17253"/>
                  <a:pt x="6890" y="1"/>
                  <a:pt x="1374" y="1"/>
                </a:cubicBezTo>
                <a:close/>
              </a:path>
            </a:pathLst>
          </a:custGeom>
          <a:solidFill>
            <a:srgbClr val="FABED2">
              <a:alpha val="49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950675" y="4385100"/>
            <a:ext cx="3193321" cy="758401"/>
          </a:xfrm>
          <a:custGeom>
            <a:avLst/>
            <a:gdLst/>
            <a:ahLst/>
            <a:cxnLst/>
            <a:rect l="l" t="t" r="r" b="b"/>
            <a:pathLst>
              <a:path w="36708" h="8718" extrusionOk="0">
                <a:moveTo>
                  <a:pt x="35842" y="0"/>
                </a:moveTo>
                <a:cubicBezTo>
                  <a:pt x="35815" y="0"/>
                  <a:pt x="35787" y="1"/>
                  <a:pt x="35760" y="1"/>
                </a:cubicBezTo>
                <a:cubicBezTo>
                  <a:pt x="34070" y="32"/>
                  <a:pt x="32630" y="1229"/>
                  <a:pt x="31554" y="2533"/>
                </a:cubicBezTo>
                <a:cubicBezTo>
                  <a:pt x="30477" y="3836"/>
                  <a:pt x="29591" y="5330"/>
                  <a:pt x="28257" y="6360"/>
                </a:cubicBezTo>
                <a:cubicBezTo>
                  <a:pt x="26738" y="7539"/>
                  <a:pt x="24866" y="7968"/>
                  <a:pt x="22929" y="7968"/>
                </a:cubicBezTo>
                <a:cubicBezTo>
                  <a:pt x="21367" y="7968"/>
                  <a:pt x="19763" y="7689"/>
                  <a:pt x="18267" y="7300"/>
                </a:cubicBezTo>
                <a:cubicBezTo>
                  <a:pt x="15362" y="6546"/>
                  <a:pt x="12441" y="5440"/>
                  <a:pt x="9477" y="5440"/>
                </a:cubicBezTo>
                <a:cubicBezTo>
                  <a:pt x="9015" y="5440"/>
                  <a:pt x="8552" y="5467"/>
                  <a:pt x="8088" y="5527"/>
                </a:cubicBezTo>
                <a:cubicBezTo>
                  <a:pt x="5193" y="5890"/>
                  <a:pt x="2654" y="7459"/>
                  <a:pt x="1" y="8718"/>
                </a:cubicBezTo>
                <a:lnTo>
                  <a:pt x="36708" y="8718"/>
                </a:lnTo>
                <a:lnTo>
                  <a:pt x="36708" y="115"/>
                </a:lnTo>
                <a:cubicBezTo>
                  <a:pt x="36430" y="39"/>
                  <a:pt x="36139" y="0"/>
                  <a:pt x="35842" y="0"/>
                </a:cubicBezTo>
                <a:close/>
              </a:path>
            </a:pathLst>
          </a:custGeom>
          <a:solidFill>
            <a:srgbClr val="DF4365">
              <a:alpha val="46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2" name="Google Shape;22;p3"/>
          <p:cNvSpPr/>
          <p:nvPr/>
        </p:nvSpPr>
        <p:spPr>
          <a:xfrm rot="10800000" flipH="1">
            <a:off x="168900" y="146261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2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ppio One"/>
              <a:buNone/>
              <a:defRPr sz="24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3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4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/>
          <p:nvPr/>
        </p:nvSpPr>
        <p:spPr>
          <a:xfrm rot="10800000">
            <a:off x="7" y="10"/>
            <a:ext cx="1271713" cy="1373615"/>
          </a:xfrm>
          <a:custGeom>
            <a:avLst/>
            <a:gdLst/>
            <a:ahLst/>
            <a:cxnLst/>
            <a:rect l="l" t="t" r="r" b="b"/>
            <a:pathLst>
              <a:path w="30925" h="33403" extrusionOk="0">
                <a:moveTo>
                  <a:pt x="30924" y="0"/>
                </a:moveTo>
                <a:cubicBezTo>
                  <a:pt x="25876" y="1160"/>
                  <a:pt x="19752" y="3472"/>
                  <a:pt x="20040" y="9573"/>
                </a:cubicBezTo>
                <a:cubicBezTo>
                  <a:pt x="20116" y="11218"/>
                  <a:pt x="20737" y="12809"/>
                  <a:pt x="20737" y="14454"/>
                </a:cubicBezTo>
                <a:cubicBezTo>
                  <a:pt x="20730" y="18676"/>
                  <a:pt x="16281" y="18335"/>
                  <a:pt x="13552" y="19919"/>
                </a:cubicBezTo>
                <a:cubicBezTo>
                  <a:pt x="10808" y="21503"/>
                  <a:pt x="9944" y="24974"/>
                  <a:pt x="8194" y="27612"/>
                </a:cubicBezTo>
                <a:cubicBezTo>
                  <a:pt x="6518" y="30151"/>
                  <a:pt x="3934" y="31940"/>
                  <a:pt x="1137" y="33054"/>
                </a:cubicBezTo>
                <a:cubicBezTo>
                  <a:pt x="788" y="33198"/>
                  <a:pt x="402" y="33304"/>
                  <a:pt x="0" y="33403"/>
                </a:cubicBezTo>
                <a:lnTo>
                  <a:pt x="30924" y="33403"/>
                </a:lnTo>
                <a:lnTo>
                  <a:pt x="30924" y="0"/>
                </a:lnTo>
                <a:close/>
              </a:path>
            </a:pathLst>
          </a:custGeom>
          <a:solidFill>
            <a:srgbClr val="F0A7B7">
              <a:alpha val="40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950671" y="4385100"/>
            <a:ext cx="3193321" cy="758401"/>
          </a:xfrm>
          <a:custGeom>
            <a:avLst/>
            <a:gdLst/>
            <a:ahLst/>
            <a:cxnLst/>
            <a:rect l="l" t="t" r="r" b="b"/>
            <a:pathLst>
              <a:path w="36708" h="8718" extrusionOk="0">
                <a:moveTo>
                  <a:pt x="35842" y="0"/>
                </a:moveTo>
                <a:cubicBezTo>
                  <a:pt x="35815" y="0"/>
                  <a:pt x="35787" y="1"/>
                  <a:pt x="35760" y="1"/>
                </a:cubicBezTo>
                <a:cubicBezTo>
                  <a:pt x="34070" y="32"/>
                  <a:pt x="32630" y="1229"/>
                  <a:pt x="31554" y="2533"/>
                </a:cubicBezTo>
                <a:cubicBezTo>
                  <a:pt x="30477" y="3836"/>
                  <a:pt x="29591" y="5330"/>
                  <a:pt x="28257" y="6360"/>
                </a:cubicBezTo>
                <a:cubicBezTo>
                  <a:pt x="26738" y="7539"/>
                  <a:pt x="24866" y="7968"/>
                  <a:pt x="22929" y="7968"/>
                </a:cubicBezTo>
                <a:cubicBezTo>
                  <a:pt x="21367" y="7968"/>
                  <a:pt x="19763" y="7689"/>
                  <a:pt x="18267" y="7300"/>
                </a:cubicBezTo>
                <a:cubicBezTo>
                  <a:pt x="15362" y="6546"/>
                  <a:pt x="12441" y="5440"/>
                  <a:pt x="9477" y="5440"/>
                </a:cubicBezTo>
                <a:cubicBezTo>
                  <a:pt x="9015" y="5440"/>
                  <a:pt x="8552" y="5467"/>
                  <a:pt x="8088" y="5527"/>
                </a:cubicBezTo>
                <a:cubicBezTo>
                  <a:pt x="5193" y="5890"/>
                  <a:pt x="2654" y="7459"/>
                  <a:pt x="1" y="8718"/>
                </a:cubicBezTo>
                <a:lnTo>
                  <a:pt x="36708" y="8718"/>
                </a:lnTo>
                <a:lnTo>
                  <a:pt x="36708" y="115"/>
                </a:lnTo>
                <a:cubicBezTo>
                  <a:pt x="36430" y="39"/>
                  <a:pt x="36139" y="0"/>
                  <a:pt x="35842" y="0"/>
                </a:cubicBezTo>
                <a:close/>
              </a:path>
            </a:pathLst>
          </a:custGeom>
          <a:solidFill>
            <a:srgbClr val="EF3455">
              <a:alpha val="37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40" name="Google Shape;40;p5"/>
          <p:cNvSpPr/>
          <p:nvPr/>
        </p:nvSpPr>
        <p:spPr>
          <a:xfrm flipH="1">
            <a:off x="168899" y="146250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 rot="10800000" flipH="1">
            <a:off x="7872278" y="10"/>
            <a:ext cx="1271713" cy="1373615"/>
          </a:xfrm>
          <a:custGeom>
            <a:avLst/>
            <a:gdLst/>
            <a:ahLst/>
            <a:cxnLst/>
            <a:rect l="l" t="t" r="r" b="b"/>
            <a:pathLst>
              <a:path w="30925" h="33403" extrusionOk="0">
                <a:moveTo>
                  <a:pt x="30924" y="0"/>
                </a:moveTo>
                <a:cubicBezTo>
                  <a:pt x="25876" y="1160"/>
                  <a:pt x="19752" y="3472"/>
                  <a:pt x="20040" y="9573"/>
                </a:cubicBezTo>
                <a:cubicBezTo>
                  <a:pt x="20116" y="11218"/>
                  <a:pt x="20737" y="12809"/>
                  <a:pt x="20737" y="14454"/>
                </a:cubicBezTo>
                <a:cubicBezTo>
                  <a:pt x="20730" y="18676"/>
                  <a:pt x="16281" y="18335"/>
                  <a:pt x="13552" y="19919"/>
                </a:cubicBezTo>
                <a:cubicBezTo>
                  <a:pt x="10808" y="21503"/>
                  <a:pt x="9944" y="24974"/>
                  <a:pt x="8194" y="27612"/>
                </a:cubicBezTo>
                <a:cubicBezTo>
                  <a:pt x="6518" y="30151"/>
                  <a:pt x="3934" y="31940"/>
                  <a:pt x="1137" y="33054"/>
                </a:cubicBezTo>
                <a:cubicBezTo>
                  <a:pt x="788" y="33198"/>
                  <a:pt x="402" y="33304"/>
                  <a:pt x="0" y="33403"/>
                </a:cubicBezTo>
                <a:lnTo>
                  <a:pt x="30924" y="33403"/>
                </a:lnTo>
                <a:lnTo>
                  <a:pt x="30924" y="0"/>
                </a:lnTo>
                <a:close/>
              </a:path>
            </a:pathLst>
          </a:custGeom>
          <a:solidFill>
            <a:srgbClr val="F0A7B7">
              <a:alpha val="40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43" name="Google Shape;43;p6"/>
          <p:cNvSpPr/>
          <p:nvPr/>
        </p:nvSpPr>
        <p:spPr>
          <a:xfrm flipH="1">
            <a:off x="7" y="4385100"/>
            <a:ext cx="3193321" cy="758401"/>
          </a:xfrm>
          <a:custGeom>
            <a:avLst/>
            <a:gdLst/>
            <a:ahLst/>
            <a:cxnLst/>
            <a:rect l="l" t="t" r="r" b="b"/>
            <a:pathLst>
              <a:path w="36708" h="8718" extrusionOk="0">
                <a:moveTo>
                  <a:pt x="35842" y="0"/>
                </a:moveTo>
                <a:cubicBezTo>
                  <a:pt x="35815" y="0"/>
                  <a:pt x="35787" y="1"/>
                  <a:pt x="35760" y="1"/>
                </a:cubicBezTo>
                <a:cubicBezTo>
                  <a:pt x="34070" y="32"/>
                  <a:pt x="32630" y="1229"/>
                  <a:pt x="31554" y="2533"/>
                </a:cubicBezTo>
                <a:cubicBezTo>
                  <a:pt x="30477" y="3836"/>
                  <a:pt x="29591" y="5330"/>
                  <a:pt x="28257" y="6360"/>
                </a:cubicBezTo>
                <a:cubicBezTo>
                  <a:pt x="26738" y="7539"/>
                  <a:pt x="24866" y="7968"/>
                  <a:pt x="22929" y="7968"/>
                </a:cubicBezTo>
                <a:cubicBezTo>
                  <a:pt x="21367" y="7968"/>
                  <a:pt x="19763" y="7689"/>
                  <a:pt x="18267" y="7300"/>
                </a:cubicBezTo>
                <a:cubicBezTo>
                  <a:pt x="15362" y="6546"/>
                  <a:pt x="12441" y="5440"/>
                  <a:pt x="9477" y="5440"/>
                </a:cubicBezTo>
                <a:cubicBezTo>
                  <a:pt x="9015" y="5440"/>
                  <a:pt x="8552" y="5467"/>
                  <a:pt x="8088" y="5527"/>
                </a:cubicBezTo>
                <a:cubicBezTo>
                  <a:pt x="5193" y="5890"/>
                  <a:pt x="2654" y="7459"/>
                  <a:pt x="1" y="8718"/>
                </a:cubicBezTo>
                <a:lnTo>
                  <a:pt x="36708" y="8718"/>
                </a:lnTo>
                <a:lnTo>
                  <a:pt x="36708" y="115"/>
                </a:lnTo>
                <a:cubicBezTo>
                  <a:pt x="36430" y="39"/>
                  <a:pt x="36139" y="0"/>
                  <a:pt x="35842" y="0"/>
                </a:cubicBezTo>
                <a:close/>
              </a:path>
            </a:pathLst>
          </a:custGeom>
          <a:solidFill>
            <a:srgbClr val="EF3455">
              <a:alpha val="37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168900" y="146250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 rot="10800000" flipH="1">
            <a:off x="7872278" y="10"/>
            <a:ext cx="1271713" cy="1373615"/>
          </a:xfrm>
          <a:custGeom>
            <a:avLst/>
            <a:gdLst/>
            <a:ahLst/>
            <a:cxnLst/>
            <a:rect l="l" t="t" r="r" b="b"/>
            <a:pathLst>
              <a:path w="30925" h="33403" extrusionOk="0">
                <a:moveTo>
                  <a:pt x="30924" y="0"/>
                </a:moveTo>
                <a:cubicBezTo>
                  <a:pt x="25876" y="1160"/>
                  <a:pt x="19752" y="3472"/>
                  <a:pt x="20040" y="9573"/>
                </a:cubicBezTo>
                <a:cubicBezTo>
                  <a:pt x="20116" y="11218"/>
                  <a:pt x="20737" y="12809"/>
                  <a:pt x="20737" y="14454"/>
                </a:cubicBezTo>
                <a:cubicBezTo>
                  <a:pt x="20730" y="18676"/>
                  <a:pt x="16281" y="18335"/>
                  <a:pt x="13552" y="19919"/>
                </a:cubicBezTo>
                <a:cubicBezTo>
                  <a:pt x="10808" y="21503"/>
                  <a:pt x="9944" y="24974"/>
                  <a:pt x="8194" y="27612"/>
                </a:cubicBezTo>
                <a:cubicBezTo>
                  <a:pt x="6518" y="30151"/>
                  <a:pt x="3934" y="31940"/>
                  <a:pt x="1137" y="33054"/>
                </a:cubicBezTo>
                <a:cubicBezTo>
                  <a:pt x="788" y="33198"/>
                  <a:pt x="402" y="33304"/>
                  <a:pt x="0" y="33403"/>
                </a:cubicBezTo>
                <a:lnTo>
                  <a:pt x="30924" y="33403"/>
                </a:lnTo>
                <a:lnTo>
                  <a:pt x="30924" y="0"/>
                </a:lnTo>
                <a:close/>
              </a:path>
            </a:pathLst>
          </a:custGeom>
          <a:solidFill>
            <a:srgbClr val="F0A7B7">
              <a:alpha val="40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48" name="Google Shape;48;p7"/>
          <p:cNvSpPr/>
          <p:nvPr/>
        </p:nvSpPr>
        <p:spPr>
          <a:xfrm flipH="1">
            <a:off x="7" y="4385100"/>
            <a:ext cx="3193321" cy="758401"/>
          </a:xfrm>
          <a:custGeom>
            <a:avLst/>
            <a:gdLst/>
            <a:ahLst/>
            <a:cxnLst/>
            <a:rect l="l" t="t" r="r" b="b"/>
            <a:pathLst>
              <a:path w="36708" h="8718" extrusionOk="0">
                <a:moveTo>
                  <a:pt x="35842" y="0"/>
                </a:moveTo>
                <a:cubicBezTo>
                  <a:pt x="35815" y="0"/>
                  <a:pt x="35787" y="1"/>
                  <a:pt x="35760" y="1"/>
                </a:cubicBezTo>
                <a:cubicBezTo>
                  <a:pt x="34070" y="32"/>
                  <a:pt x="32630" y="1229"/>
                  <a:pt x="31554" y="2533"/>
                </a:cubicBezTo>
                <a:cubicBezTo>
                  <a:pt x="30477" y="3836"/>
                  <a:pt x="29591" y="5330"/>
                  <a:pt x="28257" y="6360"/>
                </a:cubicBezTo>
                <a:cubicBezTo>
                  <a:pt x="26738" y="7539"/>
                  <a:pt x="24866" y="7968"/>
                  <a:pt x="22929" y="7968"/>
                </a:cubicBezTo>
                <a:cubicBezTo>
                  <a:pt x="21367" y="7968"/>
                  <a:pt x="19763" y="7689"/>
                  <a:pt x="18267" y="7300"/>
                </a:cubicBezTo>
                <a:cubicBezTo>
                  <a:pt x="15362" y="6546"/>
                  <a:pt x="12441" y="5440"/>
                  <a:pt x="9477" y="5440"/>
                </a:cubicBezTo>
                <a:cubicBezTo>
                  <a:pt x="9015" y="5440"/>
                  <a:pt x="8552" y="5467"/>
                  <a:pt x="8088" y="5527"/>
                </a:cubicBezTo>
                <a:cubicBezTo>
                  <a:pt x="5193" y="5890"/>
                  <a:pt x="2654" y="7459"/>
                  <a:pt x="1" y="8718"/>
                </a:cubicBezTo>
                <a:lnTo>
                  <a:pt x="36708" y="8718"/>
                </a:lnTo>
                <a:lnTo>
                  <a:pt x="36708" y="115"/>
                </a:lnTo>
                <a:cubicBezTo>
                  <a:pt x="36430" y="39"/>
                  <a:pt x="36139" y="0"/>
                  <a:pt x="35842" y="0"/>
                </a:cubicBezTo>
                <a:close/>
              </a:path>
            </a:pathLst>
          </a:custGeom>
          <a:solidFill>
            <a:srgbClr val="EF3455">
              <a:alpha val="37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168900" y="146250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 rot="5400000" flipH="1">
            <a:off x="66153" y="-66100"/>
            <a:ext cx="1651240" cy="1783553"/>
          </a:xfrm>
          <a:custGeom>
            <a:avLst/>
            <a:gdLst/>
            <a:ahLst/>
            <a:cxnLst/>
            <a:rect l="l" t="t" r="r" b="b"/>
            <a:pathLst>
              <a:path w="30925" h="33403" extrusionOk="0">
                <a:moveTo>
                  <a:pt x="30924" y="0"/>
                </a:moveTo>
                <a:cubicBezTo>
                  <a:pt x="25876" y="1160"/>
                  <a:pt x="19752" y="3472"/>
                  <a:pt x="20040" y="9573"/>
                </a:cubicBezTo>
                <a:cubicBezTo>
                  <a:pt x="20116" y="11218"/>
                  <a:pt x="20737" y="12809"/>
                  <a:pt x="20737" y="14454"/>
                </a:cubicBezTo>
                <a:cubicBezTo>
                  <a:pt x="20730" y="18676"/>
                  <a:pt x="16281" y="18335"/>
                  <a:pt x="13552" y="19919"/>
                </a:cubicBezTo>
                <a:cubicBezTo>
                  <a:pt x="10808" y="21503"/>
                  <a:pt x="9944" y="24974"/>
                  <a:pt x="8194" y="27612"/>
                </a:cubicBezTo>
                <a:cubicBezTo>
                  <a:pt x="6518" y="30151"/>
                  <a:pt x="3934" y="31940"/>
                  <a:pt x="1137" y="33054"/>
                </a:cubicBezTo>
                <a:cubicBezTo>
                  <a:pt x="788" y="33198"/>
                  <a:pt x="402" y="33304"/>
                  <a:pt x="0" y="33403"/>
                </a:cubicBezTo>
                <a:lnTo>
                  <a:pt x="30924" y="33403"/>
                </a:lnTo>
                <a:lnTo>
                  <a:pt x="30924" y="0"/>
                </a:lnTo>
                <a:close/>
              </a:path>
            </a:pathLst>
          </a:custGeom>
          <a:solidFill>
            <a:srgbClr val="DF4365">
              <a:alpha val="46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54" name="Google Shape;54;p8"/>
          <p:cNvSpPr/>
          <p:nvPr/>
        </p:nvSpPr>
        <p:spPr>
          <a:xfrm rot="10800000">
            <a:off x="7588150" y="0"/>
            <a:ext cx="1555852" cy="2038836"/>
          </a:xfrm>
          <a:custGeom>
            <a:avLst/>
            <a:gdLst/>
            <a:ahLst/>
            <a:cxnLst/>
            <a:rect l="l" t="t" r="r" b="b"/>
            <a:pathLst>
              <a:path w="24755" h="32441" extrusionOk="0">
                <a:moveTo>
                  <a:pt x="1374" y="1"/>
                </a:moveTo>
                <a:cubicBezTo>
                  <a:pt x="961" y="1"/>
                  <a:pt x="505" y="98"/>
                  <a:pt x="0" y="304"/>
                </a:cubicBezTo>
                <a:lnTo>
                  <a:pt x="0" y="32441"/>
                </a:lnTo>
                <a:lnTo>
                  <a:pt x="24754" y="32441"/>
                </a:lnTo>
                <a:cubicBezTo>
                  <a:pt x="24694" y="32410"/>
                  <a:pt x="24641" y="32388"/>
                  <a:pt x="24580" y="32365"/>
                </a:cubicBezTo>
                <a:cubicBezTo>
                  <a:pt x="21146" y="30856"/>
                  <a:pt x="17470" y="29939"/>
                  <a:pt x="14067" y="28340"/>
                </a:cubicBezTo>
                <a:cubicBezTo>
                  <a:pt x="10672" y="26748"/>
                  <a:pt x="7443" y="24308"/>
                  <a:pt x="6064" y="20814"/>
                </a:cubicBezTo>
                <a:cubicBezTo>
                  <a:pt x="4653" y="17253"/>
                  <a:pt x="6890" y="1"/>
                  <a:pt x="1374" y="1"/>
                </a:cubicBezTo>
                <a:close/>
              </a:path>
            </a:pathLst>
          </a:custGeom>
          <a:solidFill>
            <a:srgbClr val="FABED2">
              <a:alpha val="49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0" y="3104675"/>
            <a:ext cx="1555852" cy="2038836"/>
          </a:xfrm>
          <a:custGeom>
            <a:avLst/>
            <a:gdLst/>
            <a:ahLst/>
            <a:cxnLst/>
            <a:rect l="l" t="t" r="r" b="b"/>
            <a:pathLst>
              <a:path w="24755" h="32441" extrusionOk="0">
                <a:moveTo>
                  <a:pt x="1374" y="1"/>
                </a:moveTo>
                <a:cubicBezTo>
                  <a:pt x="961" y="1"/>
                  <a:pt x="505" y="98"/>
                  <a:pt x="0" y="304"/>
                </a:cubicBezTo>
                <a:lnTo>
                  <a:pt x="0" y="32441"/>
                </a:lnTo>
                <a:lnTo>
                  <a:pt x="24754" y="32441"/>
                </a:lnTo>
                <a:cubicBezTo>
                  <a:pt x="24694" y="32410"/>
                  <a:pt x="24641" y="32388"/>
                  <a:pt x="24580" y="32365"/>
                </a:cubicBezTo>
                <a:cubicBezTo>
                  <a:pt x="21146" y="30856"/>
                  <a:pt x="17470" y="29939"/>
                  <a:pt x="14067" y="28340"/>
                </a:cubicBezTo>
                <a:cubicBezTo>
                  <a:pt x="10672" y="26748"/>
                  <a:pt x="7443" y="24308"/>
                  <a:pt x="6064" y="20814"/>
                </a:cubicBezTo>
                <a:cubicBezTo>
                  <a:pt x="4653" y="17253"/>
                  <a:pt x="6890" y="1"/>
                  <a:pt x="1374" y="1"/>
                </a:cubicBezTo>
                <a:close/>
              </a:path>
            </a:pathLst>
          </a:custGeom>
          <a:solidFill>
            <a:srgbClr val="FABED2">
              <a:alpha val="49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5950675" y="4385100"/>
            <a:ext cx="3193321" cy="758401"/>
          </a:xfrm>
          <a:custGeom>
            <a:avLst/>
            <a:gdLst/>
            <a:ahLst/>
            <a:cxnLst/>
            <a:rect l="l" t="t" r="r" b="b"/>
            <a:pathLst>
              <a:path w="36708" h="8718" extrusionOk="0">
                <a:moveTo>
                  <a:pt x="35842" y="0"/>
                </a:moveTo>
                <a:cubicBezTo>
                  <a:pt x="35815" y="0"/>
                  <a:pt x="35787" y="1"/>
                  <a:pt x="35760" y="1"/>
                </a:cubicBezTo>
                <a:cubicBezTo>
                  <a:pt x="34070" y="32"/>
                  <a:pt x="32630" y="1229"/>
                  <a:pt x="31554" y="2533"/>
                </a:cubicBezTo>
                <a:cubicBezTo>
                  <a:pt x="30477" y="3836"/>
                  <a:pt x="29591" y="5330"/>
                  <a:pt x="28257" y="6360"/>
                </a:cubicBezTo>
                <a:cubicBezTo>
                  <a:pt x="26738" y="7539"/>
                  <a:pt x="24866" y="7968"/>
                  <a:pt x="22929" y="7968"/>
                </a:cubicBezTo>
                <a:cubicBezTo>
                  <a:pt x="21367" y="7968"/>
                  <a:pt x="19763" y="7689"/>
                  <a:pt x="18267" y="7300"/>
                </a:cubicBezTo>
                <a:cubicBezTo>
                  <a:pt x="15362" y="6546"/>
                  <a:pt x="12441" y="5440"/>
                  <a:pt x="9477" y="5440"/>
                </a:cubicBezTo>
                <a:cubicBezTo>
                  <a:pt x="9015" y="5440"/>
                  <a:pt x="8552" y="5467"/>
                  <a:pt x="8088" y="5527"/>
                </a:cubicBezTo>
                <a:cubicBezTo>
                  <a:pt x="5193" y="5890"/>
                  <a:pt x="2654" y="7459"/>
                  <a:pt x="1" y="8718"/>
                </a:cubicBezTo>
                <a:lnTo>
                  <a:pt x="36708" y="8718"/>
                </a:lnTo>
                <a:lnTo>
                  <a:pt x="36708" y="115"/>
                </a:lnTo>
                <a:cubicBezTo>
                  <a:pt x="36430" y="39"/>
                  <a:pt x="36139" y="0"/>
                  <a:pt x="35842" y="0"/>
                </a:cubicBezTo>
                <a:close/>
              </a:path>
            </a:pathLst>
          </a:custGeom>
          <a:solidFill>
            <a:srgbClr val="DF4365">
              <a:alpha val="46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57" name="Google Shape;57;p8"/>
          <p:cNvSpPr/>
          <p:nvPr/>
        </p:nvSpPr>
        <p:spPr>
          <a:xfrm rot="10800000" flipH="1">
            <a:off x="168900" y="146261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1895700" y="1004125"/>
            <a:ext cx="5352600" cy="10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ubTitle" idx="1"/>
          </p:nvPr>
        </p:nvSpPr>
        <p:spPr>
          <a:xfrm>
            <a:off x="1895700" y="2947575"/>
            <a:ext cx="5352600" cy="12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just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just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/>
          <p:nvPr/>
        </p:nvSpPr>
        <p:spPr>
          <a:xfrm flipH="1">
            <a:off x="12" y="3769886"/>
            <a:ext cx="1271713" cy="1373615"/>
          </a:xfrm>
          <a:custGeom>
            <a:avLst/>
            <a:gdLst/>
            <a:ahLst/>
            <a:cxnLst/>
            <a:rect l="l" t="t" r="r" b="b"/>
            <a:pathLst>
              <a:path w="30925" h="33403" extrusionOk="0">
                <a:moveTo>
                  <a:pt x="30924" y="0"/>
                </a:moveTo>
                <a:cubicBezTo>
                  <a:pt x="25876" y="1160"/>
                  <a:pt x="19752" y="3472"/>
                  <a:pt x="20040" y="9573"/>
                </a:cubicBezTo>
                <a:cubicBezTo>
                  <a:pt x="20116" y="11218"/>
                  <a:pt x="20737" y="12809"/>
                  <a:pt x="20737" y="14454"/>
                </a:cubicBezTo>
                <a:cubicBezTo>
                  <a:pt x="20730" y="18676"/>
                  <a:pt x="16281" y="18335"/>
                  <a:pt x="13552" y="19919"/>
                </a:cubicBezTo>
                <a:cubicBezTo>
                  <a:pt x="10808" y="21503"/>
                  <a:pt x="9944" y="24974"/>
                  <a:pt x="8194" y="27612"/>
                </a:cubicBezTo>
                <a:cubicBezTo>
                  <a:pt x="6518" y="30151"/>
                  <a:pt x="3934" y="31940"/>
                  <a:pt x="1137" y="33054"/>
                </a:cubicBezTo>
                <a:cubicBezTo>
                  <a:pt x="788" y="33198"/>
                  <a:pt x="402" y="33304"/>
                  <a:pt x="0" y="33403"/>
                </a:cubicBezTo>
                <a:lnTo>
                  <a:pt x="30924" y="33403"/>
                </a:lnTo>
                <a:lnTo>
                  <a:pt x="30924" y="0"/>
                </a:lnTo>
                <a:close/>
              </a:path>
            </a:pathLst>
          </a:custGeom>
          <a:solidFill>
            <a:srgbClr val="F0A7B7">
              <a:alpha val="40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63" name="Google Shape;63;p9"/>
          <p:cNvSpPr/>
          <p:nvPr/>
        </p:nvSpPr>
        <p:spPr>
          <a:xfrm rot="10800000" flipH="1">
            <a:off x="5950675" y="10"/>
            <a:ext cx="3193321" cy="758401"/>
          </a:xfrm>
          <a:custGeom>
            <a:avLst/>
            <a:gdLst/>
            <a:ahLst/>
            <a:cxnLst/>
            <a:rect l="l" t="t" r="r" b="b"/>
            <a:pathLst>
              <a:path w="36708" h="8718" extrusionOk="0">
                <a:moveTo>
                  <a:pt x="35842" y="0"/>
                </a:moveTo>
                <a:cubicBezTo>
                  <a:pt x="35815" y="0"/>
                  <a:pt x="35787" y="1"/>
                  <a:pt x="35760" y="1"/>
                </a:cubicBezTo>
                <a:cubicBezTo>
                  <a:pt x="34070" y="32"/>
                  <a:pt x="32630" y="1229"/>
                  <a:pt x="31554" y="2533"/>
                </a:cubicBezTo>
                <a:cubicBezTo>
                  <a:pt x="30477" y="3836"/>
                  <a:pt x="29591" y="5330"/>
                  <a:pt x="28257" y="6360"/>
                </a:cubicBezTo>
                <a:cubicBezTo>
                  <a:pt x="26738" y="7539"/>
                  <a:pt x="24866" y="7968"/>
                  <a:pt x="22929" y="7968"/>
                </a:cubicBezTo>
                <a:cubicBezTo>
                  <a:pt x="21367" y="7968"/>
                  <a:pt x="19763" y="7689"/>
                  <a:pt x="18267" y="7300"/>
                </a:cubicBezTo>
                <a:cubicBezTo>
                  <a:pt x="15362" y="6546"/>
                  <a:pt x="12441" y="5440"/>
                  <a:pt x="9477" y="5440"/>
                </a:cubicBezTo>
                <a:cubicBezTo>
                  <a:pt x="9015" y="5440"/>
                  <a:pt x="8552" y="5467"/>
                  <a:pt x="8088" y="5527"/>
                </a:cubicBezTo>
                <a:cubicBezTo>
                  <a:pt x="5193" y="5890"/>
                  <a:pt x="2654" y="7459"/>
                  <a:pt x="1" y="8718"/>
                </a:cubicBezTo>
                <a:lnTo>
                  <a:pt x="36708" y="8718"/>
                </a:lnTo>
                <a:lnTo>
                  <a:pt x="36708" y="115"/>
                </a:lnTo>
                <a:cubicBezTo>
                  <a:pt x="36430" y="39"/>
                  <a:pt x="36139" y="0"/>
                  <a:pt x="35842" y="0"/>
                </a:cubicBezTo>
                <a:close/>
              </a:path>
            </a:pathLst>
          </a:custGeom>
          <a:solidFill>
            <a:srgbClr val="EF3455">
              <a:alpha val="37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64" name="Google Shape;64;p9"/>
          <p:cNvSpPr/>
          <p:nvPr/>
        </p:nvSpPr>
        <p:spPr>
          <a:xfrm rot="10800000" flipH="1">
            <a:off x="168900" y="146261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 rot="10800000" flipH="1">
            <a:off x="7872278" y="10"/>
            <a:ext cx="1271713" cy="1373615"/>
          </a:xfrm>
          <a:custGeom>
            <a:avLst/>
            <a:gdLst/>
            <a:ahLst/>
            <a:cxnLst/>
            <a:rect l="l" t="t" r="r" b="b"/>
            <a:pathLst>
              <a:path w="30925" h="33403" extrusionOk="0">
                <a:moveTo>
                  <a:pt x="30924" y="0"/>
                </a:moveTo>
                <a:cubicBezTo>
                  <a:pt x="25876" y="1160"/>
                  <a:pt x="19752" y="3472"/>
                  <a:pt x="20040" y="9573"/>
                </a:cubicBezTo>
                <a:cubicBezTo>
                  <a:pt x="20116" y="11218"/>
                  <a:pt x="20737" y="12809"/>
                  <a:pt x="20737" y="14454"/>
                </a:cubicBezTo>
                <a:cubicBezTo>
                  <a:pt x="20730" y="18676"/>
                  <a:pt x="16281" y="18335"/>
                  <a:pt x="13552" y="19919"/>
                </a:cubicBezTo>
                <a:cubicBezTo>
                  <a:pt x="10808" y="21503"/>
                  <a:pt x="9944" y="24974"/>
                  <a:pt x="8194" y="27612"/>
                </a:cubicBezTo>
                <a:cubicBezTo>
                  <a:pt x="6518" y="30151"/>
                  <a:pt x="3934" y="31940"/>
                  <a:pt x="1137" y="33054"/>
                </a:cubicBezTo>
                <a:cubicBezTo>
                  <a:pt x="788" y="33198"/>
                  <a:pt x="402" y="33304"/>
                  <a:pt x="0" y="33403"/>
                </a:cubicBezTo>
                <a:lnTo>
                  <a:pt x="30924" y="33403"/>
                </a:lnTo>
                <a:lnTo>
                  <a:pt x="30924" y="0"/>
                </a:lnTo>
                <a:close/>
              </a:path>
            </a:pathLst>
          </a:custGeom>
          <a:solidFill>
            <a:srgbClr val="F0A7B7">
              <a:alpha val="40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67" name="Google Shape;67;p10"/>
          <p:cNvSpPr/>
          <p:nvPr/>
        </p:nvSpPr>
        <p:spPr>
          <a:xfrm flipH="1">
            <a:off x="7" y="4385100"/>
            <a:ext cx="3193321" cy="758401"/>
          </a:xfrm>
          <a:custGeom>
            <a:avLst/>
            <a:gdLst/>
            <a:ahLst/>
            <a:cxnLst/>
            <a:rect l="l" t="t" r="r" b="b"/>
            <a:pathLst>
              <a:path w="36708" h="8718" extrusionOk="0">
                <a:moveTo>
                  <a:pt x="35842" y="0"/>
                </a:moveTo>
                <a:cubicBezTo>
                  <a:pt x="35815" y="0"/>
                  <a:pt x="35787" y="1"/>
                  <a:pt x="35760" y="1"/>
                </a:cubicBezTo>
                <a:cubicBezTo>
                  <a:pt x="34070" y="32"/>
                  <a:pt x="32630" y="1229"/>
                  <a:pt x="31554" y="2533"/>
                </a:cubicBezTo>
                <a:cubicBezTo>
                  <a:pt x="30477" y="3836"/>
                  <a:pt x="29591" y="5330"/>
                  <a:pt x="28257" y="6360"/>
                </a:cubicBezTo>
                <a:cubicBezTo>
                  <a:pt x="26738" y="7539"/>
                  <a:pt x="24866" y="7968"/>
                  <a:pt x="22929" y="7968"/>
                </a:cubicBezTo>
                <a:cubicBezTo>
                  <a:pt x="21367" y="7968"/>
                  <a:pt x="19763" y="7689"/>
                  <a:pt x="18267" y="7300"/>
                </a:cubicBezTo>
                <a:cubicBezTo>
                  <a:pt x="15362" y="6546"/>
                  <a:pt x="12441" y="5440"/>
                  <a:pt x="9477" y="5440"/>
                </a:cubicBezTo>
                <a:cubicBezTo>
                  <a:pt x="9015" y="5440"/>
                  <a:pt x="8552" y="5467"/>
                  <a:pt x="8088" y="5527"/>
                </a:cubicBezTo>
                <a:cubicBezTo>
                  <a:pt x="5193" y="5890"/>
                  <a:pt x="2654" y="7459"/>
                  <a:pt x="1" y="8718"/>
                </a:cubicBezTo>
                <a:lnTo>
                  <a:pt x="36708" y="8718"/>
                </a:lnTo>
                <a:lnTo>
                  <a:pt x="36708" y="115"/>
                </a:lnTo>
                <a:cubicBezTo>
                  <a:pt x="36430" y="39"/>
                  <a:pt x="36139" y="0"/>
                  <a:pt x="35842" y="0"/>
                </a:cubicBezTo>
                <a:close/>
              </a:path>
            </a:pathLst>
          </a:custGeom>
          <a:solidFill>
            <a:srgbClr val="EF3455">
              <a:alpha val="37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68" name="Google Shape;68;p10"/>
          <p:cNvSpPr/>
          <p:nvPr/>
        </p:nvSpPr>
        <p:spPr>
          <a:xfrm>
            <a:off x="168900" y="146250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2" name="Google Shape;72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11"/>
          <p:cNvSpPr/>
          <p:nvPr/>
        </p:nvSpPr>
        <p:spPr>
          <a:xfrm rot="10800000" flipH="1">
            <a:off x="7872278" y="10"/>
            <a:ext cx="1271713" cy="1373615"/>
          </a:xfrm>
          <a:custGeom>
            <a:avLst/>
            <a:gdLst/>
            <a:ahLst/>
            <a:cxnLst/>
            <a:rect l="l" t="t" r="r" b="b"/>
            <a:pathLst>
              <a:path w="30925" h="33403" extrusionOk="0">
                <a:moveTo>
                  <a:pt x="30924" y="0"/>
                </a:moveTo>
                <a:cubicBezTo>
                  <a:pt x="25876" y="1160"/>
                  <a:pt x="19752" y="3472"/>
                  <a:pt x="20040" y="9573"/>
                </a:cubicBezTo>
                <a:cubicBezTo>
                  <a:pt x="20116" y="11218"/>
                  <a:pt x="20737" y="12809"/>
                  <a:pt x="20737" y="14454"/>
                </a:cubicBezTo>
                <a:cubicBezTo>
                  <a:pt x="20730" y="18676"/>
                  <a:pt x="16281" y="18335"/>
                  <a:pt x="13552" y="19919"/>
                </a:cubicBezTo>
                <a:cubicBezTo>
                  <a:pt x="10808" y="21503"/>
                  <a:pt x="9944" y="24974"/>
                  <a:pt x="8194" y="27612"/>
                </a:cubicBezTo>
                <a:cubicBezTo>
                  <a:pt x="6518" y="30151"/>
                  <a:pt x="3934" y="31940"/>
                  <a:pt x="1137" y="33054"/>
                </a:cubicBezTo>
                <a:cubicBezTo>
                  <a:pt x="788" y="33198"/>
                  <a:pt x="402" y="33304"/>
                  <a:pt x="0" y="33403"/>
                </a:cubicBezTo>
                <a:lnTo>
                  <a:pt x="30924" y="33403"/>
                </a:lnTo>
                <a:lnTo>
                  <a:pt x="30924" y="0"/>
                </a:lnTo>
                <a:close/>
              </a:path>
            </a:pathLst>
          </a:custGeom>
          <a:solidFill>
            <a:srgbClr val="F0A7B7">
              <a:alpha val="40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74" name="Google Shape;74;p11"/>
          <p:cNvSpPr/>
          <p:nvPr/>
        </p:nvSpPr>
        <p:spPr>
          <a:xfrm flipH="1">
            <a:off x="7" y="4385100"/>
            <a:ext cx="3193321" cy="758401"/>
          </a:xfrm>
          <a:custGeom>
            <a:avLst/>
            <a:gdLst/>
            <a:ahLst/>
            <a:cxnLst/>
            <a:rect l="l" t="t" r="r" b="b"/>
            <a:pathLst>
              <a:path w="36708" h="8718" extrusionOk="0">
                <a:moveTo>
                  <a:pt x="35842" y="0"/>
                </a:moveTo>
                <a:cubicBezTo>
                  <a:pt x="35815" y="0"/>
                  <a:pt x="35787" y="1"/>
                  <a:pt x="35760" y="1"/>
                </a:cubicBezTo>
                <a:cubicBezTo>
                  <a:pt x="34070" y="32"/>
                  <a:pt x="32630" y="1229"/>
                  <a:pt x="31554" y="2533"/>
                </a:cubicBezTo>
                <a:cubicBezTo>
                  <a:pt x="30477" y="3836"/>
                  <a:pt x="29591" y="5330"/>
                  <a:pt x="28257" y="6360"/>
                </a:cubicBezTo>
                <a:cubicBezTo>
                  <a:pt x="26738" y="7539"/>
                  <a:pt x="24866" y="7968"/>
                  <a:pt x="22929" y="7968"/>
                </a:cubicBezTo>
                <a:cubicBezTo>
                  <a:pt x="21367" y="7968"/>
                  <a:pt x="19763" y="7689"/>
                  <a:pt x="18267" y="7300"/>
                </a:cubicBezTo>
                <a:cubicBezTo>
                  <a:pt x="15362" y="6546"/>
                  <a:pt x="12441" y="5440"/>
                  <a:pt x="9477" y="5440"/>
                </a:cubicBezTo>
                <a:cubicBezTo>
                  <a:pt x="9015" y="5440"/>
                  <a:pt x="8552" y="5467"/>
                  <a:pt x="8088" y="5527"/>
                </a:cubicBezTo>
                <a:cubicBezTo>
                  <a:pt x="5193" y="5890"/>
                  <a:pt x="2654" y="7459"/>
                  <a:pt x="1" y="8718"/>
                </a:cubicBezTo>
                <a:lnTo>
                  <a:pt x="36708" y="8718"/>
                </a:lnTo>
                <a:lnTo>
                  <a:pt x="36708" y="115"/>
                </a:lnTo>
                <a:cubicBezTo>
                  <a:pt x="36430" y="39"/>
                  <a:pt x="36139" y="0"/>
                  <a:pt x="35842" y="0"/>
                </a:cubicBezTo>
                <a:close/>
              </a:path>
            </a:pathLst>
          </a:custGeom>
          <a:solidFill>
            <a:srgbClr val="EF3455">
              <a:alpha val="37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75" name="Google Shape;75;p11"/>
          <p:cNvSpPr/>
          <p:nvPr/>
        </p:nvSpPr>
        <p:spPr>
          <a:xfrm>
            <a:off x="168900" y="146250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>
            <a:spLocks noGrp="1"/>
          </p:cNvSpPr>
          <p:nvPr>
            <p:ph type="title" hasCustomPrompt="1"/>
          </p:nvPr>
        </p:nvSpPr>
        <p:spPr>
          <a:xfrm>
            <a:off x="715100" y="543475"/>
            <a:ext cx="4307100" cy="801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174" name="Google Shape;174;p20"/>
          <p:cNvSpPr txBox="1">
            <a:spLocks noGrp="1"/>
          </p:cNvSpPr>
          <p:nvPr>
            <p:ph type="subTitle" idx="1"/>
          </p:nvPr>
        </p:nvSpPr>
        <p:spPr>
          <a:xfrm>
            <a:off x="715100" y="1388767"/>
            <a:ext cx="4307100" cy="367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1966700"/>
            <a:ext cx="4307100" cy="801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176" name="Google Shape;176;p20"/>
          <p:cNvSpPr txBox="1">
            <a:spLocks noGrp="1"/>
          </p:cNvSpPr>
          <p:nvPr>
            <p:ph type="subTitle" idx="3"/>
          </p:nvPr>
        </p:nvSpPr>
        <p:spPr>
          <a:xfrm>
            <a:off x="715100" y="2819080"/>
            <a:ext cx="43071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389925"/>
            <a:ext cx="4307100" cy="801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5"/>
          </p:nvPr>
        </p:nvSpPr>
        <p:spPr>
          <a:xfrm>
            <a:off x="715100" y="4247292"/>
            <a:ext cx="43071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0"/>
          <p:cNvSpPr/>
          <p:nvPr/>
        </p:nvSpPr>
        <p:spPr>
          <a:xfrm rot="-5400000" flipH="1">
            <a:off x="7426603" y="3426100"/>
            <a:ext cx="1651240" cy="1783553"/>
          </a:xfrm>
          <a:custGeom>
            <a:avLst/>
            <a:gdLst/>
            <a:ahLst/>
            <a:cxnLst/>
            <a:rect l="l" t="t" r="r" b="b"/>
            <a:pathLst>
              <a:path w="30925" h="33403" extrusionOk="0">
                <a:moveTo>
                  <a:pt x="30924" y="0"/>
                </a:moveTo>
                <a:cubicBezTo>
                  <a:pt x="25876" y="1160"/>
                  <a:pt x="19752" y="3472"/>
                  <a:pt x="20040" y="9573"/>
                </a:cubicBezTo>
                <a:cubicBezTo>
                  <a:pt x="20116" y="11218"/>
                  <a:pt x="20737" y="12809"/>
                  <a:pt x="20737" y="14454"/>
                </a:cubicBezTo>
                <a:cubicBezTo>
                  <a:pt x="20730" y="18676"/>
                  <a:pt x="16281" y="18335"/>
                  <a:pt x="13552" y="19919"/>
                </a:cubicBezTo>
                <a:cubicBezTo>
                  <a:pt x="10808" y="21503"/>
                  <a:pt x="9944" y="24974"/>
                  <a:pt x="8194" y="27612"/>
                </a:cubicBezTo>
                <a:cubicBezTo>
                  <a:pt x="6518" y="30151"/>
                  <a:pt x="3934" y="31940"/>
                  <a:pt x="1137" y="33054"/>
                </a:cubicBezTo>
                <a:cubicBezTo>
                  <a:pt x="788" y="33198"/>
                  <a:pt x="402" y="33304"/>
                  <a:pt x="0" y="33403"/>
                </a:cubicBezTo>
                <a:lnTo>
                  <a:pt x="30924" y="33403"/>
                </a:lnTo>
                <a:lnTo>
                  <a:pt x="30924" y="0"/>
                </a:lnTo>
                <a:close/>
              </a:path>
            </a:pathLst>
          </a:custGeom>
          <a:solidFill>
            <a:srgbClr val="DF4365">
              <a:alpha val="46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0"/>
          <p:cNvSpPr/>
          <p:nvPr/>
        </p:nvSpPr>
        <p:spPr>
          <a:xfrm rot="10800000">
            <a:off x="7588150" y="0"/>
            <a:ext cx="1555852" cy="2038836"/>
          </a:xfrm>
          <a:custGeom>
            <a:avLst/>
            <a:gdLst/>
            <a:ahLst/>
            <a:cxnLst/>
            <a:rect l="l" t="t" r="r" b="b"/>
            <a:pathLst>
              <a:path w="24755" h="32441" extrusionOk="0">
                <a:moveTo>
                  <a:pt x="1374" y="1"/>
                </a:moveTo>
                <a:cubicBezTo>
                  <a:pt x="961" y="1"/>
                  <a:pt x="505" y="98"/>
                  <a:pt x="0" y="304"/>
                </a:cubicBezTo>
                <a:lnTo>
                  <a:pt x="0" y="32441"/>
                </a:lnTo>
                <a:lnTo>
                  <a:pt x="24754" y="32441"/>
                </a:lnTo>
                <a:cubicBezTo>
                  <a:pt x="24694" y="32410"/>
                  <a:pt x="24641" y="32388"/>
                  <a:pt x="24580" y="32365"/>
                </a:cubicBezTo>
                <a:cubicBezTo>
                  <a:pt x="21146" y="30856"/>
                  <a:pt x="17470" y="29939"/>
                  <a:pt x="14067" y="28340"/>
                </a:cubicBezTo>
                <a:cubicBezTo>
                  <a:pt x="10672" y="26748"/>
                  <a:pt x="7443" y="24308"/>
                  <a:pt x="6064" y="20814"/>
                </a:cubicBezTo>
                <a:cubicBezTo>
                  <a:pt x="4653" y="17253"/>
                  <a:pt x="6890" y="1"/>
                  <a:pt x="1374" y="1"/>
                </a:cubicBezTo>
                <a:close/>
              </a:path>
            </a:pathLst>
          </a:custGeom>
          <a:solidFill>
            <a:srgbClr val="FABED2">
              <a:alpha val="49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"/>
          <p:cNvSpPr/>
          <p:nvPr/>
        </p:nvSpPr>
        <p:spPr>
          <a:xfrm rot="10800000" flipH="1">
            <a:off x="168900" y="146261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0"/>
          <p:cNvSpPr/>
          <p:nvPr/>
        </p:nvSpPr>
        <p:spPr>
          <a:xfrm rot="10800000" flipH="1">
            <a:off x="0" y="0"/>
            <a:ext cx="1555852" cy="2038836"/>
          </a:xfrm>
          <a:custGeom>
            <a:avLst/>
            <a:gdLst/>
            <a:ahLst/>
            <a:cxnLst/>
            <a:rect l="l" t="t" r="r" b="b"/>
            <a:pathLst>
              <a:path w="24755" h="32441" extrusionOk="0">
                <a:moveTo>
                  <a:pt x="1374" y="1"/>
                </a:moveTo>
                <a:cubicBezTo>
                  <a:pt x="961" y="1"/>
                  <a:pt x="505" y="98"/>
                  <a:pt x="0" y="304"/>
                </a:cubicBezTo>
                <a:lnTo>
                  <a:pt x="0" y="32441"/>
                </a:lnTo>
                <a:lnTo>
                  <a:pt x="24754" y="32441"/>
                </a:lnTo>
                <a:cubicBezTo>
                  <a:pt x="24694" y="32410"/>
                  <a:pt x="24641" y="32388"/>
                  <a:pt x="24580" y="32365"/>
                </a:cubicBezTo>
                <a:cubicBezTo>
                  <a:pt x="21146" y="30856"/>
                  <a:pt x="17470" y="29939"/>
                  <a:pt x="14067" y="28340"/>
                </a:cubicBezTo>
                <a:cubicBezTo>
                  <a:pt x="10672" y="26748"/>
                  <a:pt x="7443" y="24308"/>
                  <a:pt x="6064" y="20814"/>
                </a:cubicBezTo>
                <a:cubicBezTo>
                  <a:pt x="4653" y="17253"/>
                  <a:pt x="6890" y="1"/>
                  <a:pt x="1374" y="1"/>
                </a:cubicBezTo>
                <a:close/>
              </a:path>
            </a:pathLst>
          </a:custGeom>
          <a:solidFill>
            <a:srgbClr val="FABED2">
              <a:alpha val="49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1"/>
          <p:cNvSpPr/>
          <p:nvPr/>
        </p:nvSpPr>
        <p:spPr>
          <a:xfrm flipH="1">
            <a:off x="7588150" y="3104675"/>
            <a:ext cx="1555852" cy="2038836"/>
          </a:xfrm>
          <a:custGeom>
            <a:avLst/>
            <a:gdLst/>
            <a:ahLst/>
            <a:cxnLst/>
            <a:rect l="l" t="t" r="r" b="b"/>
            <a:pathLst>
              <a:path w="24755" h="32441" extrusionOk="0">
                <a:moveTo>
                  <a:pt x="1374" y="1"/>
                </a:moveTo>
                <a:cubicBezTo>
                  <a:pt x="961" y="1"/>
                  <a:pt x="505" y="98"/>
                  <a:pt x="0" y="304"/>
                </a:cubicBezTo>
                <a:lnTo>
                  <a:pt x="0" y="32441"/>
                </a:lnTo>
                <a:lnTo>
                  <a:pt x="24754" y="32441"/>
                </a:lnTo>
                <a:cubicBezTo>
                  <a:pt x="24694" y="32410"/>
                  <a:pt x="24641" y="32388"/>
                  <a:pt x="24580" y="32365"/>
                </a:cubicBezTo>
                <a:cubicBezTo>
                  <a:pt x="21146" y="30856"/>
                  <a:pt x="17470" y="29939"/>
                  <a:pt x="14067" y="28340"/>
                </a:cubicBezTo>
                <a:cubicBezTo>
                  <a:pt x="10672" y="26748"/>
                  <a:pt x="7443" y="24308"/>
                  <a:pt x="6064" y="20814"/>
                </a:cubicBezTo>
                <a:cubicBezTo>
                  <a:pt x="4653" y="17253"/>
                  <a:pt x="6890" y="1"/>
                  <a:pt x="1374" y="1"/>
                </a:cubicBezTo>
                <a:close/>
              </a:path>
            </a:pathLst>
          </a:custGeom>
          <a:solidFill>
            <a:srgbClr val="FABED2">
              <a:alpha val="49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1"/>
          <p:cNvSpPr/>
          <p:nvPr/>
        </p:nvSpPr>
        <p:spPr>
          <a:xfrm rot="10800000" flipH="1">
            <a:off x="0" y="0"/>
            <a:ext cx="1555852" cy="2038836"/>
          </a:xfrm>
          <a:custGeom>
            <a:avLst/>
            <a:gdLst/>
            <a:ahLst/>
            <a:cxnLst/>
            <a:rect l="l" t="t" r="r" b="b"/>
            <a:pathLst>
              <a:path w="24755" h="32441" extrusionOk="0">
                <a:moveTo>
                  <a:pt x="1374" y="1"/>
                </a:moveTo>
                <a:cubicBezTo>
                  <a:pt x="961" y="1"/>
                  <a:pt x="505" y="98"/>
                  <a:pt x="0" y="304"/>
                </a:cubicBezTo>
                <a:lnTo>
                  <a:pt x="0" y="32441"/>
                </a:lnTo>
                <a:lnTo>
                  <a:pt x="24754" y="32441"/>
                </a:lnTo>
                <a:cubicBezTo>
                  <a:pt x="24694" y="32410"/>
                  <a:pt x="24641" y="32388"/>
                  <a:pt x="24580" y="32365"/>
                </a:cubicBezTo>
                <a:cubicBezTo>
                  <a:pt x="21146" y="30856"/>
                  <a:pt x="17470" y="29939"/>
                  <a:pt x="14067" y="28340"/>
                </a:cubicBezTo>
                <a:cubicBezTo>
                  <a:pt x="10672" y="26748"/>
                  <a:pt x="7443" y="24308"/>
                  <a:pt x="6064" y="20814"/>
                </a:cubicBezTo>
                <a:cubicBezTo>
                  <a:pt x="4653" y="17253"/>
                  <a:pt x="6890" y="1"/>
                  <a:pt x="1374" y="1"/>
                </a:cubicBezTo>
                <a:close/>
              </a:path>
            </a:pathLst>
          </a:custGeom>
          <a:solidFill>
            <a:srgbClr val="FABED2">
              <a:alpha val="49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1"/>
          <p:cNvSpPr/>
          <p:nvPr/>
        </p:nvSpPr>
        <p:spPr>
          <a:xfrm rot="10800000" flipH="1">
            <a:off x="168900" y="146261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/>
          <p:nvPr/>
        </p:nvSpPr>
        <p:spPr>
          <a:xfrm rot="-5400000" flipH="1">
            <a:off x="7426603" y="3426100"/>
            <a:ext cx="1651240" cy="1783553"/>
          </a:xfrm>
          <a:custGeom>
            <a:avLst/>
            <a:gdLst/>
            <a:ahLst/>
            <a:cxnLst/>
            <a:rect l="l" t="t" r="r" b="b"/>
            <a:pathLst>
              <a:path w="30925" h="33403" extrusionOk="0">
                <a:moveTo>
                  <a:pt x="30924" y="0"/>
                </a:moveTo>
                <a:cubicBezTo>
                  <a:pt x="25876" y="1160"/>
                  <a:pt x="19752" y="3472"/>
                  <a:pt x="20040" y="9573"/>
                </a:cubicBezTo>
                <a:cubicBezTo>
                  <a:pt x="20116" y="11218"/>
                  <a:pt x="20737" y="12809"/>
                  <a:pt x="20737" y="14454"/>
                </a:cubicBezTo>
                <a:cubicBezTo>
                  <a:pt x="20730" y="18676"/>
                  <a:pt x="16281" y="18335"/>
                  <a:pt x="13552" y="19919"/>
                </a:cubicBezTo>
                <a:cubicBezTo>
                  <a:pt x="10808" y="21503"/>
                  <a:pt x="9944" y="24974"/>
                  <a:pt x="8194" y="27612"/>
                </a:cubicBezTo>
                <a:cubicBezTo>
                  <a:pt x="6518" y="30151"/>
                  <a:pt x="3934" y="31940"/>
                  <a:pt x="1137" y="33054"/>
                </a:cubicBezTo>
                <a:cubicBezTo>
                  <a:pt x="788" y="33198"/>
                  <a:pt x="402" y="33304"/>
                  <a:pt x="0" y="33403"/>
                </a:cubicBezTo>
                <a:lnTo>
                  <a:pt x="30924" y="33403"/>
                </a:lnTo>
                <a:lnTo>
                  <a:pt x="30924" y="0"/>
                </a:lnTo>
                <a:close/>
              </a:path>
            </a:pathLst>
          </a:custGeom>
          <a:solidFill>
            <a:srgbClr val="DF4365">
              <a:alpha val="46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5"/>
          <p:cNvSpPr/>
          <p:nvPr/>
        </p:nvSpPr>
        <p:spPr>
          <a:xfrm rot="10800000" flipH="1">
            <a:off x="7872278" y="10"/>
            <a:ext cx="1271713" cy="1373615"/>
          </a:xfrm>
          <a:custGeom>
            <a:avLst/>
            <a:gdLst/>
            <a:ahLst/>
            <a:cxnLst/>
            <a:rect l="l" t="t" r="r" b="b"/>
            <a:pathLst>
              <a:path w="30925" h="33403" extrusionOk="0">
                <a:moveTo>
                  <a:pt x="30924" y="0"/>
                </a:moveTo>
                <a:cubicBezTo>
                  <a:pt x="25876" y="1160"/>
                  <a:pt x="19752" y="3472"/>
                  <a:pt x="20040" y="9573"/>
                </a:cubicBezTo>
                <a:cubicBezTo>
                  <a:pt x="20116" y="11218"/>
                  <a:pt x="20737" y="12809"/>
                  <a:pt x="20737" y="14454"/>
                </a:cubicBezTo>
                <a:cubicBezTo>
                  <a:pt x="20730" y="18676"/>
                  <a:pt x="16281" y="18335"/>
                  <a:pt x="13552" y="19919"/>
                </a:cubicBezTo>
                <a:cubicBezTo>
                  <a:pt x="10808" y="21503"/>
                  <a:pt x="9944" y="24974"/>
                  <a:pt x="8194" y="27612"/>
                </a:cubicBezTo>
                <a:cubicBezTo>
                  <a:pt x="6518" y="30151"/>
                  <a:pt x="3934" y="31940"/>
                  <a:pt x="1137" y="33054"/>
                </a:cubicBezTo>
                <a:cubicBezTo>
                  <a:pt x="788" y="33198"/>
                  <a:pt x="402" y="33304"/>
                  <a:pt x="0" y="33403"/>
                </a:cubicBezTo>
                <a:lnTo>
                  <a:pt x="30924" y="33403"/>
                </a:lnTo>
                <a:lnTo>
                  <a:pt x="30924" y="0"/>
                </a:lnTo>
                <a:close/>
              </a:path>
            </a:pathLst>
          </a:custGeom>
          <a:solidFill>
            <a:srgbClr val="F0A7B7">
              <a:alpha val="40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16" name="Google Shape;216;p25"/>
          <p:cNvSpPr/>
          <p:nvPr/>
        </p:nvSpPr>
        <p:spPr>
          <a:xfrm rot="5400000" flipH="1">
            <a:off x="-1217468" y="1217450"/>
            <a:ext cx="3193321" cy="758401"/>
          </a:xfrm>
          <a:custGeom>
            <a:avLst/>
            <a:gdLst/>
            <a:ahLst/>
            <a:cxnLst/>
            <a:rect l="l" t="t" r="r" b="b"/>
            <a:pathLst>
              <a:path w="36708" h="8718" extrusionOk="0">
                <a:moveTo>
                  <a:pt x="35842" y="0"/>
                </a:moveTo>
                <a:cubicBezTo>
                  <a:pt x="35815" y="0"/>
                  <a:pt x="35787" y="1"/>
                  <a:pt x="35760" y="1"/>
                </a:cubicBezTo>
                <a:cubicBezTo>
                  <a:pt x="34070" y="32"/>
                  <a:pt x="32630" y="1229"/>
                  <a:pt x="31554" y="2533"/>
                </a:cubicBezTo>
                <a:cubicBezTo>
                  <a:pt x="30477" y="3836"/>
                  <a:pt x="29591" y="5330"/>
                  <a:pt x="28257" y="6360"/>
                </a:cubicBezTo>
                <a:cubicBezTo>
                  <a:pt x="26738" y="7539"/>
                  <a:pt x="24866" y="7968"/>
                  <a:pt x="22929" y="7968"/>
                </a:cubicBezTo>
                <a:cubicBezTo>
                  <a:pt x="21367" y="7968"/>
                  <a:pt x="19763" y="7689"/>
                  <a:pt x="18267" y="7300"/>
                </a:cubicBezTo>
                <a:cubicBezTo>
                  <a:pt x="15362" y="6546"/>
                  <a:pt x="12441" y="5440"/>
                  <a:pt x="9477" y="5440"/>
                </a:cubicBezTo>
                <a:cubicBezTo>
                  <a:pt x="9015" y="5440"/>
                  <a:pt x="8552" y="5467"/>
                  <a:pt x="8088" y="5527"/>
                </a:cubicBezTo>
                <a:cubicBezTo>
                  <a:pt x="5193" y="5890"/>
                  <a:pt x="2654" y="7459"/>
                  <a:pt x="1" y="8718"/>
                </a:cubicBezTo>
                <a:lnTo>
                  <a:pt x="36708" y="8718"/>
                </a:lnTo>
                <a:lnTo>
                  <a:pt x="36708" y="115"/>
                </a:lnTo>
                <a:cubicBezTo>
                  <a:pt x="36430" y="39"/>
                  <a:pt x="36139" y="0"/>
                  <a:pt x="35842" y="0"/>
                </a:cubicBezTo>
                <a:close/>
              </a:path>
            </a:pathLst>
          </a:custGeom>
          <a:solidFill>
            <a:srgbClr val="EF3455">
              <a:alpha val="37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168900" y="146250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 rot="5400000">
            <a:off x="-1217468" y="3167650"/>
            <a:ext cx="3193321" cy="758401"/>
          </a:xfrm>
          <a:custGeom>
            <a:avLst/>
            <a:gdLst/>
            <a:ahLst/>
            <a:cxnLst/>
            <a:rect l="l" t="t" r="r" b="b"/>
            <a:pathLst>
              <a:path w="36708" h="8718" extrusionOk="0">
                <a:moveTo>
                  <a:pt x="35842" y="0"/>
                </a:moveTo>
                <a:cubicBezTo>
                  <a:pt x="35815" y="0"/>
                  <a:pt x="35787" y="1"/>
                  <a:pt x="35760" y="1"/>
                </a:cubicBezTo>
                <a:cubicBezTo>
                  <a:pt x="34070" y="32"/>
                  <a:pt x="32630" y="1229"/>
                  <a:pt x="31554" y="2533"/>
                </a:cubicBezTo>
                <a:cubicBezTo>
                  <a:pt x="30477" y="3836"/>
                  <a:pt x="29591" y="5330"/>
                  <a:pt x="28257" y="6360"/>
                </a:cubicBezTo>
                <a:cubicBezTo>
                  <a:pt x="26738" y="7539"/>
                  <a:pt x="24866" y="7968"/>
                  <a:pt x="22929" y="7968"/>
                </a:cubicBezTo>
                <a:cubicBezTo>
                  <a:pt x="21367" y="7968"/>
                  <a:pt x="19763" y="7689"/>
                  <a:pt x="18267" y="7300"/>
                </a:cubicBezTo>
                <a:cubicBezTo>
                  <a:pt x="15362" y="6546"/>
                  <a:pt x="12441" y="5440"/>
                  <a:pt x="9477" y="5440"/>
                </a:cubicBezTo>
                <a:cubicBezTo>
                  <a:pt x="9015" y="5440"/>
                  <a:pt x="8552" y="5467"/>
                  <a:pt x="8088" y="5527"/>
                </a:cubicBezTo>
                <a:cubicBezTo>
                  <a:pt x="5193" y="5890"/>
                  <a:pt x="2654" y="7459"/>
                  <a:pt x="1" y="8718"/>
                </a:cubicBezTo>
                <a:lnTo>
                  <a:pt x="36708" y="8718"/>
                </a:lnTo>
                <a:lnTo>
                  <a:pt x="36708" y="115"/>
                </a:lnTo>
                <a:cubicBezTo>
                  <a:pt x="36430" y="39"/>
                  <a:pt x="36139" y="0"/>
                  <a:pt x="35842" y="0"/>
                </a:cubicBezTo>
                <a:close/>
              </a:path>
            </a:pathLst>
          </a:custGeom>
          <a:solidFill>
            <a:srgbClr val="EF3455">
              <a:alpha val="37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168900" y="146250"/>
            <a:ext cx="8806200" cy="4851000"/>
          </a:xfrm>
          <a:prstGeom prst="frame">
            <a:avLst>
              <a:gd name="adj1" fmla="val 28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21" name="Google Shape;221;p26"/>
          <p:cNvSpPr/>
          <p:nvPr/>
        </p:nvSpPr>
        <p:spPr>
          <a:xfrm rot="-5400000">
            <a:off x="5964969" y="1958831"/>
            <a:ext cx="5137835" cy="1220215"/>
          </a:xfrm>
          <a:custGeom>
            <a:avLst/>
            <a:gdLst/>
            <a:ahLst/>
            <a:cxnLst/>
            <a:rect l="l" t="t" r="r" b="b"/>
            <a:pathLst>
              <a:path w="36708" h="8718" extrusionOk="0">
                <a:moveTo>
                  <a:pt x="35842" y="0"/>
                </a:moveTo>
                <a:cubicBezTo>
                  <a:pt x="35815" y="0"/>
                  <a:pt x="35787" y="1"/>
                  <a:pt x="35760" y="1"/>
                </a:cubicBezTo>
                <a:cubicBezTo>
                  <a:pt x="34070" y="32"/>
                  <a:pt x="32630" y="1229"/>
                  <a:pt x="31554" y="2533"/>
                </a:cubicBezTo>
                <a:cubicBezTo>
                  <a:pt x="30477" y="3836"/>
                  <a:pt x="29591" y="5330"/>
                  <a:pt x="28257" y="6360"/>
                </a:cubicBezTo>
                <a:cubicBezTo>
                  <a:pt x="26738" y="7539"/>
                  <a:pt x="24866" y="7968"/>
                  <a:pt x="22929" y="7968"/>
                </a:cubicBezTo>
                <a:cubicBezTo>
                  <a:pt x="21367" y="7968"/>
                  <a:pt x="19763" y="7689"/>
                  <a:pt x="18267" y="7300"/>
                </a:cubicBezTo>
                <a:cubicBezTo>
                  <a:pt x="15362" y="6546"/>
                  <a:pt x="12441" y="5440"/>
                  <a:pt x="9477" y="5440"/>
                </a:cubicBezTo>
                <a:cubicBezTo>
                  <a:pt x="9015" y="5440"/>
                  <a:pt x="8552" y="5467"/>
                  <a:pt x="8088" y="5527"/>
                </a:cubicBezTo>
                <a:cubicBezTo>
                  <a:pt x="5193" y="5890"/>
                  <a:pt x="2654" y="7459"/>
                  <a:pt x="1" y="8718"/>
                </a:cubicBezTo>
                <a:lnTo>
                  <a:pt x="36708" y="8718"/>
                </a:lnTo>
                <a:lnTo>
                  <a:pt x="36708" y="115"/>
                </a:lnTo>
                <a:cubicBezTo>
                  <a:pt x="36430" y="39"/>
                  <a:pt x="36139" y="0"/>
                  <a:pt x="35842" y="0"/>
                </a:cubicBezTo>
                <a:close/>
              </a:path>
            </a:pathLst>
          </a:custGeom>
          <a:solidFill>
            <a:srgbClr val="EF3455">
              <a:alpha val="37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6" r:id="rId11"/>
    <p:sldLayoutId id="2147483667" r:id="rId12"/>
    <p:sldLayoutId id="2147483671" r:id="rId13"/>
    <p:sldLayoutId id="214748367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>
            <a:spLocks noGrp="1"/>
          </p:cNvSpPr>
          <p:nvPr>
            <p:ph type="ctrTitle"/>
          </p:nvPr>
        </p:nvSpPr>
        <p:spPr>
          <a:xfrm>
            <a:off x="114547" y="1183228"/>
            <a:ext cx="5525555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MY" sz="1800" dirty="0">
                <a:latin typeface="Times New Roman" panose="02020603050405020304" pitchFamily="18" charset="0"/>
              </a:rPr>
            </a:br>
            <a:r>
              <a:rPr lang="en-MY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 LEARNING-BASED THREE-YEAR PREDICTION OF CARDIOVASCULAR DISEASE AND MAJOR EVENTS IN PATIENTS WITH NO PRIOR HISTORY</a:t>
            </a:r>
            <a:r>
              <a:rPr lang="en-MY" sz="800" dirty="0">
                <a:effectLst/>
              </a:rPr>
              <a:t> </a:t>
            </a:r>
            <a:br>
              <a:rPr lang="en-MY" sz="1800" dirty="0">
                <a:latin typeface="Times New Roman" panose="02020603050405020304" pitchFamily="18" charset="0"/>
              </a:rPr>
            </a:br>
            <a:endParaRPr lang="en-MY" sz="1800" dirty="0">
              <a:latin typeface="Times New Roman" panose="02020603050405020304" pitchFamily="18" charset="0"/>
            </a:endParaRPr>
          </a:p>
        </p:txBody>
      </p:sp>
      <p:sp>
        <p:nvSpPr>
          <p:cNvPr id="233" name="Google Shape;233;p30"/>
          <p:cNvSpPr txBox="1">
            <a:spLocks noGrp="1"/>
          </p:cNvSpPr>
          <p:nvPr>
            <p:ph type="subTitle" idx="1"/>
          </p:nvPr>
        </p:nvSpPr>
        <p:spPr>
          <a:xfrm>
            <a:off x="499040" y="4481624"/>
            <a:ext cx="498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n-lt"/>
              </a:rPr>
              <a:t>SQF 7027 – </a:t>
            </a:r>
            <a:r>
              <a:rPr lang="en" b="1" dirty="0">
                <a:latin typeface="+mn-lt"/>
                <a:sym typeface="Doppio One"/>
              </a:rPr>
              <a:t>Project</a:t>
            </a:r>
            <a:r>
              <a:rPr lang="en" b="1" dirty="0">
                <a:latin typeface="+mn-lt"/>
              </a:rPr>
              <a:t> Presentation</a:t>
            </a:r>
          </a:p>
          <a:p>
            <a:pPr marL="0" indent="0">
              <a:lnSpc>
                <a:spcPct val="150000"/>
              </a:lnSpc>
            </a:pPr>
            <a:r>
              <a:rPr lang="en-MY" b="1" dirty="0">
                <a:latin typeface="+mn-lt"/>
              </a:rPr>
              <a:t>Supervisor - Dr. Sorayya Malek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</p:txBody>
      </p:sp>
      <p:grpSp>
        <p:nvGrpSpPr>
          <p:cNvPr id="234" name="Google Shape;234;p30"/>
          <p:cNvGrpSpPr/>
          <p:nvPr/>
        </p:nvGrpSpPr>
        <p:grpSpPr>
          <a:xfrm>
            <a:off x="1437091" y="3567988"/>
            <a:ext cx="2175824" cy="407875"/>
            <a:chOff x="828075" y="3493376"/>
            <a:chExt cx="2175824" cy="407875"/>
          </a:xfrm>
        </p:grpSpPr>
        <p:grpSp>
          <p:nvGrpSpPr>
            <p:cNvPr id="235" name="Google Shape;235;p30"/>
            <p:cNvGrpSpPr/>
            <p:nvPr/>
          </p:nvGrpSpPr>
          <p:grpSpPr>
            <a:xfrm>
              <a:off x="828075" y="3493376"/>
              <a:ext cx="2075273" cy="407875"/>
              <a:chOff x="3566000" y="3011976"/>
              <a:chExt cx="2075273" cy="407875"/>
            </a:xfrm>
          </p:grpSpPr>
          <p:sp>
            <p:nvSpPr>
              <p:cNvPr id="236" name="Google Shape;236;p30"/>
              <p:cNvSpPr/>
              <p:nvPr/>
            </p:nvSpPr>
            <p:spPr>
              <a:xfrm>
                <a:off x="3566000" y="3011976"/>
                <a:ext cx="1037645" cy="407875"/>
              </a:xfrm>
              <a:custGeom>
                <a:avLst/>
                <a:gdLst/>
                <a:ahLst/>
                <a:cxnLst/>
                <a:rect l="l" t="t" r="r" b="b"/>
                <a:pathLst>
                  <a:path w="24196" h="17303" fill="none" extrusionOk="0">
                    <a:moveTo>
                      <a:pt x="13376" y="17302"/>
                    </a:moveTo>
                    <a:cubicBezTo>
                      <a:pt x="12920" y="17302"/>
                      <a:pt x="12760" y="15248"/>
                      <a:pt x="12463" y="8651"/>
                    </a:cubicBezTo>
                    <a:cubicBezTo>
                      <a:pt x="12303" y="4999"/>
                      <a:pt x="12098" y="457"/>
                      <a:pt x="11778" y="183"/>
                    </a:cubicBezTo>
                    <a:cubicBezTo>
                      <a:pt x="11504" y="366"/>
                      <a:pt x="11253" y="3744"/>
                      <a:pt x="11048" y="6209"/>
                    </a:cubicBezTo>
                    <a:cubicBezTo>
                      <a:pt x="10683" y="10934"/>
                      <a:pt x="10500" y="12395"/>
                      <a:pt x="10089" y="12395"/>
                    </a:cubicBezTo>
                    <a:cubicBezTo>
                      <a:pt x="9701" y="12395"/>
                      <a:pt x="9541" y="11687"/>
                      <a:pt x="9382" y="10843"/>
                    </a:cubicBezTo>
                    <a:cubicBezTo>
                      <a:pt x="9245" y="10249"/>
                      <a:pt x="9085" y="9450"/>
                      <a:pt x="8879" y="9450"/>
                    </a:cubicBezTo>
                    <a:cubicBezTo>
                      <a:pt x="8651" y="9450"/>
                      <a:pt x="8514" y="10044"/>
                      <a:pt x="8377" y="10523"/>
                    </a:cubicBezTo>
                    <a:cubicBezTo>
                      <a:pt x="8218" y="11139"/>
                      <a:pt x="8058" y="11733"/>
                      <a:pt x="7693" y="11733"/>
                    </a:cubicBezTo>
                    <a:lnTo>
                      <a:pt x="0" y="11733"/>
                    </a:lnTo>
                    <a:lnTo>
                      <a:pt x="0" y="11527"/>
                    </a:lnTo>
                    <a:lnTo>
                      <a:pt x="7693" y="11527"/>
                    </a:lnTo>
                    <a:cubicBezTo>
                      <a:pt x="7898" y="11527"/>
                      <a:pt x="8058" y="10934"/>
                      <a:pt x="8172" y="10455"/>
                    </a:cubicBezTo>
                    <a:cubicBezTo>
                      <a:pt x="8354" y="9838"/>
                      <a:pt x="8491" y="9245"/>
                      <a:pt x="8879" y="9245"/>
                    </a:cubicBezTo>
                    <a:cubicBezTo>
                      <a:pt x="9245" y="9245"/>
                      <a:pt x="9404" y="9975"/>
                      <a:pt x="9564" y="10797"/>
                    </a:cubicBezTo>
                    <a:cubicBezTo>
                      <a:pt x="9701" y="11390"/>
                      <a:pt x="9861" y="12189"/>
                      <a:pt x="10066" y="12189"/>
                    </a:cubicBezTo>
                    <a:cubicBezTo>
                      <a:pt x="10386" y="12030"/>
                      <a:pt x="10660" y="8651"/>
                      <a:pt x="10842" y="6186"/>
                    </a:cubicBezTo>
                    <a:cubicBezTo>
                      <a:pt x="11208" y="1461"/>
                      <a:pt x="11390" y="1"/>
                      <a:pt x="11801" y="1"/>
                    </a:cubicBezTo>
                    <a:cubicBezTo>
                      <a:pt x="12212" y="1"/>
                      <a:pt x="12372" y="2055"/>
                      <a:pt x="12668" y="8651"/>
                    </a:cubicBezTo>
                    <a:cubicBezTo>
                      <a:pt x="12828" y="12303"/>
                      <a:pt x="13034" y="16846"/>
                      <a:pt x="13353" y="17120"/>
                    </a:cubicBezTo>
                    <a:cubicBezTo>
                      <a:pt x="13513" y="16960"/>
                      <a:pt x="13627" y="15248"/>
                      <a:pt x="13718" y="13993"/>
                    </a:cubicBezTo>
                    <a:cubicBezTo>
                      <a:pt x="13901" y="11413"/>
                      <a:pt x="13992" y="10706"/>
                      <a:pt x="14266" y="10706"/>
                    </a:cubicBezTo>
                    <a:cubicBezTo>
                      <a:pt x="14563" y="10706"/>
                      <a:pt x="14700" y="11025"/>
                      <a:pt x="14814" y="11322"/>
                    </a:cubicBezTo>
                    <a:cubicBezTo>
                      <a:pt x="14905" y="11550"/>
                      <a:pt x="15019" y="11778"/>
                      <a:pt x="15156" y="11778"/>
                    </a:cubicBezTo>
                    <a:lnTo>
                      <a:pt x="15156" y="11778"/>
                    </a:lnTo>
                    <a:cubicBezTo>
                      <a:pt x="15430" y="11778"/>
                      <a:pt x="15613" y="10660"/>
                      <a:pt x="15727" y="9930"/>
                    </a:cubicBezTo>
                    <a:cubicBezTo>
                      <a:pt x="15932" y="8674"/>
                      <a:pt x="16092" y="7898"/>
                      <a:pt x="16480" y="7898"/>
                    </a:cubicBezTo>
                    <a:cubicBezTo>
                      <a:pt x="16868" y="7898"/>
                      <a:pt x="17005" y="8857"/>
                      <a:pt x="17234" y="10569"/>
                    </a:cubicBezTo>
                    <a:cubicBezTo>
                      <a:pt x="17348" y="11482"/>
                      <a:pt x="17553" y="13034"/>
                      <a:pt x="17781" y="13034"/>
                    </a:cubicBezTo>
                    <a:cubicBezTo>
                      <a:pt x="17941" y="13034"/>
                      <a:pt x="18078" y="12258"/>
                      <a:pt x="18147" y="11847"/>
                    </a:cubicBezTo>
                    <a:cubicBezTo>
                      <a:pt x="18306" y="11025"/>
                      <a:pt x="18420" y="10500"/>
                      <a:pt x="18717" y="10500"/>
                    </a:cubicBezTo>
                    <a:cubicBezTo>
                      <a:pt x="19037" y="10500"/>
                      <a:pt x="19151" y="10980"/>
                      <a:pt x="19288" y="11459"/>
                    </a:cubicBezTo>
                    <a:cubicBezTo>
                      <a:pt x="19356" y="11801"/>
                      <a:pt x="19493" y="12258"/>
                      <a:pt x="19630" y="12258"/>
                    </a:cubicBezTo>
                    <a:cubicBezTo>
                      <a:pt x="19721" y="12258"/>
                      <a:pt x="19790" y="12075"/>
                      <a:pt x="19836" y="11938"/>
                    </a:cubicBezTo>
                    <a:cubicBezTo>
                      <a:pt x="19904" y="11733"/>
                      <a:pt x="19973" y="11527"/>
                      <a:pt x="20155" y="11527"/>
                    </a:cubicBezTo>
                    <a:lnTo>
                      <a:pt x="24195" y="11527"/>
                    </a:lnTo>
                    <a:lnTo>
                      <a:pt x="24195" y="11733"/>
                    </a:lnTo>
                    <a:lnTo>
                      <a:pt x="20155" y="11733"/>
                    </a:lnTo>
                    <a:cubicBezTo>
                      <a:pt x="20110" y="11733"/>
                      <a:pt x="20064" y="11915"/>
                      <a:pt x="20018" y="11984"/>
                    </a:cubicBezTo>
                    <a:cubicBezTo>
                      <a:pt x="19950" y="12189"/>
                      <a:pt x="19881" y="12463"/>
                      <a:pt x="19630" y="12463"/>
                    </a:cubicBezTo>
                    <a:cubicBezTo>
                      <a:pt x="19333" y="12463"/>
                      <a:pt x="19197" y="12007"/>
                      <a:pt x="19082" y="11505"/>
                    </a:cubicBezTo>
                    <a:cubicBezTo>
                      <a:pt x="18991" y="11162"/>
                      <a:pt x="18877" y="10706"/>
                      <a:pt x="18717" y="10706"/>
                    </a:cubicBezTo>
                    <a:cubicBezTo>
                      <a:pt x="18580" y="10706"/>
                      <a:pt x="18443" y="11482"/>
                      <a:pt x="18352" y="11893"/>
                    </a:cubicBezTo>
                    <a:cubicBezTo>
                      <a:pt x="18215" y="12737"/>
                      <a:pt x="18101" y="13239"/>
                      <a:pt x="17804" y="13239"/>
                    </a:cubicBezTo>
                    <a:cubicBezTo>
                      <a:pt x="17393" y="13239"/>
                      <a:pt x="17256" y="12281"/>
                      <a:pt x="17028" y="10592"/>
                    </a:cubicBezTo>
                    <a:cubicBezTo>
                      <a:pt x="16914" y="9656"/>
                      <a:pt x="16709" y="8104"/>
                      <a:pt x="16480" y="8104"/>
                    </a:cubicBezTo>
                    <a:cubicBezTo>
                      <a:pt x="16229" y="8104"/>
                      <a:pt x="16047" y="9222"/>
                      <a:pt x="15932" y="9975"/>
                    </a:cubicBezTo>
                    <a:cubicBezTo>
                      <a:pt x="15727" y="11231"/>
                      <a:pt x="15567" y="11984"/>
                      <a:pt x="15179" y="11984"/>
                    </a:cubicBezTo>
                    <a:cubicBezTo>
                      <a:pt x="14883" y="11984"/>
                      <a:pt x="14746" y="11664"/>
                      <a:pt x="14631" y="11390"/>
                    </a:cubicBezTo>
                    <a:cubicBezTo>
                      <a:pt x="14517" y="11162"/>
                      <a:pt x="14426" y="10911"/>
                      <a:pt x="14266" y="10911"/>
                    </a:cubicBezTo>
                    <a:cubicBezTo>
                      <a:pt x="14129" y="11048"/>
                      <a:pt x="14015" y="12760"/>
                      <a:pt x="13924" y="14015"/>
                    </a:cubicBezTo>
                    <a:cubicBezTo>
                      <a:pt x="13741" y="16595"/>
                      <a:pt x="13650" y="17302"/>
                      <a:pt x="13376" y="17302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rgbClr val="EF3455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37" name="Google Shape;237;p30"/>
              <p:cNvSpPr/>
              <p:nvPr/>
            </p:nvSpPr>
            <p:spPr>
              <a:xfrm>
                <a:off x="4603627" y="3011976"/>
                <a:ext cx="1037645" cy="407875"/>
              </a:xfrm>
              <a:custGeom>
                <a:avLst/>
                <a:gdLst/>
                <a:ahLst/>
                <a:cxnLst/>
                <a:rect l="l" t="t" r="r" b="b"/>
                <a:pathLst>
                  <a:path w="24196" h="17303" fill="none" extrusionOk="0">
                    <a:moveTo>
                      <a:pt x="13376" y="17302"/>
                    </a:moveTo>
                    <a:cubicBezTo>
                      <a:pt x="12920" y="17302"/>
                      <a:pt x="12760" y="15248"/>
                      <a:pt x="12463" y="8651"/>
                    </a:cubicBezTo>
                    <a:cubicBezTo>
                      <a:pt x="12303" y="4999"/>
                      <a:pt x="12098" y="457"/>
                      <a:pt x="11778" y="183"/>
                    </a:cubicBezTo>
                    <a:cubicBezTo>
                      <a:pt x="11504" y="366"/>
                      <a:pt x="11253" y="3744"/>
                      <a:pt x="11048" y="6209"/>
                    </a:cubicBezTo>
                    <a:cubicBezTo>
                      <a:pt x="10683" y="10934"/>
                      <a:pt x="10500" y="12395"/>
                      <a:pt x="10089" y="12395"/>
                    </a:cubicBezTo>
                    <a:cubicBezTo>
                      <a:pt x="9701" y="12395"/>
                      <a:pt x="9541" y="11687"/>
                      <a:pt x="9382" y="10843"/>
                    </a:cubicBezTo>
                    <a:cubicBezTo>
                      <a:pt x="9245" y="10249"/>
                      <a:pt x="9085" y="9450"/>
                      <a:pt x="8879" y="9450"/>
                    </a:cubicBezTo>
                    <a:cubicBezTo>
                      <a:pt x="8651" y="9450"/>
                      <a:pt x="8514" y="10044"/>
                      <a:pt x="8377" y="10523"/>
                    </a:cubicBezTo>
                    <a:cubicBezTo>
                      <a:pt x="8218" y="11139"/>
                      <a:pt x="8058" y="11733"/>
                      <a:pt x="7693" y="11733"/>
                    </a:cubicBezTo>
                    <a:lnTo>
                      <a:pt x="0" y="11733"/>
                    </a:lnTo>
                    <a:lnTo>
                      <a:pt x="0" y="11527"/>
                    </a:lnTo>
                    <a:lnTo>
                      <a:pt x="7693" y="11527"/>
                    </a:lnTo>
                    <a:cubicBezTo>
                      <a:pt x="7898" y="11527"/>
                      <a:pt x="8058" y="10934"/>
                      <a:pt x="8172" y="10455"/>
                    </a:cubicBezTo>
                    <a:cubicBezTo>
                      <a:pt x="8354" y="9838"/>
                      <a:pt x="8491" y="9245"/>
                      <a:pt x="8879" y="9245"/>
                    </a:cubicBezTo>
                    <a:cubicBezTo>
                      <a:pt x="9245" y="9245"/>
                      <a:pt x="9404" y="9975"/>
                      <a:pt x="9564" y="10797"/>
                    </a:cubicBezTo>
                    <a:cubicBezTo>
                      <a:pt x="9701" y="11390"/>
                      <a:pt x="9861" y="12189"/>
                      <a:pt x="10066" y="12189"/>
                    </a:cubicBezTo>
                    <a:cubicBezTo>
                      <a:pt x="10386" y="12030"/>
                      <a:pt x="10660" y="8651"/>
                      <a:pt x="10842" y="6186"/>
                    </a:cubicBezTo>
                    <a:cubicBezTo>
                      <a:pt x="11208" y="1461"/>
                      <a:pt x="11390" y="1"/>
                      <a:pt x="11801" y="1"/>
                    </a:cubicBezTo>
                    <a:cubicBezTo>
                      <a:pt x="12212" y="1"/>
                      <a:pt x="12372" y="2055"/>
                      <a:pt x="12668" y="8651"/>
                    </a:cubicBezTo>
                    <a:cubicBezTo>
                      <a:pt x="12828" y="12303"/>
                      <a:pt x="13034" y="16846"/>
                      <a:pt x="13353" y="17120"/>
                    </a:cubicBezTo>
                    <a:cubicBezTo>
                      <a:pt x="13513" y="16960"/>
                      <a:pt x="13627" y="15248"/>
                      <a:pt x="13718" y="13993"/>
                    </a:cubicBezTo>
                    <a:cubicBezTo>
                      <a:pt x="13901" y="11413"/>
                      <a:pt x="13992" y="10706"/>
                      <a:pt x="14266" y="10706"/>
                    </a:cubicBezTo>
                    <a:cubicBezTo>
                      <a:pt x="14563" y="10706"/>
                      <a:pt x="14700" y="11025"/>
                      <a:pt x="14814" y="11322"/>
                    </a:cubicBezTo>
                    <a:cubicBezTo>
                      <a:pt x="14905" y="11550"/>
                      <a:pt x="15019" y="11778"/>
                      <a:pt x="15156" y="11778"/>
                    </a:cubicBezTo>
                    <a:lnTo>
                      <a:pt x="15156" y="11778"/>
                    </a:lnTo>
                    <a:cubicBezTo>
                      <a:pt x="15430" y="11778"/>
                      <a:pt x="15613" y="10660"/>
                      <a:pt x="15727" y="9930"/>
                    </a:cubicBezTo>
                    <a:cubicBezTo>
                      <a:pt x="15932" y="8674"/>
                      <a:pt x="16092" y="7898"/>
                      <a:pt x="16480" y="7898"/>
                    </a:cubicBezTo>
                    <a:cubicBezTo>
                      <a:pt x="16868" y="7898"/>
                      <a:pt x="17005" y="8857"/>
                      <a:pt x="17234" y="10569"/>
                    </a:cubicBezTo>
                    <a:cubicBezTo>
                      <a:pt x="17348" y="11482"/>
                      <a:pt x="17553" y="13034"/>
                      <a:pt x="17781" y="13034"/>
                    </a:cubicBezTo>
                    <a:cubicBezTo>
                      <a:pt x="17941" y="13034"/>
                      <a:pt x="18078" y="12258"/>
                      <a:pt x="18147" y="11847"/>
                    </a:cubicBezTo>
                    <a:cubicBezTo>
                      <a:pt x="18306" y="11025"/>
                      <a:pt x="18420" y="10500"/>
                      <a:pt x="18717" y="10500"/>
                    </a:cubicBezTo>
                    <a:cubicBezTo>
                      <a:pt x="19037" y="10500"/>
                      <a:pt x="19151" y="10980"/>
                      <a:pt x="19288" y="11459"/>
                    </a:cubicBezTo>
                    <a:cubicBezTo>
                      <a:pt x="19356" y="11801"/>
                      <a:pt x="19493" y="12258"/>
                      <a:pt x="19630" y="12258"/>
                    </a:cubicBezTo>
                    <a:cubicBezTo>
                      <a:pt x="19721" y="12258"/>
                      <a:pt x="19790" y="12075"/>
                      <a:pt x="19836" y="11938"/>
                    </a:cubicBezTo>
                    <a:cubicBezTo>
                      <a:pt x="19904" y="11733"/>
                      <a:pt x="19973" y="11527"/>
                      <a:pt x="20155" y="11527"/>
                    </a:cubicBezTo>
                    <a:lnTo>
                      <a:pt x="24195" y="11527"/>
                    </a:lnTo>
                    <a:lnTo>
                      <a:pt x="24195" y="11733"/>
                    </a:lnTo>
                    <a:lnTo>
                      <a:pt x="20155" y="11733"/>
                    </a:lnTo>
                    <a:cubicBezTo>
                      <a:pt x="20110" y="11733"/>
                      <a:pt x="20064" y="11915"/>
                      <a:pt x="20018" y="11984"/>
                    </a:cubicBezTo>
                    <a:cubicBezTo>
                      <a:pt x="19950" y="12189"/>
                      <a:pt x="19881" y="12463"/>
                      <a:pt x="19630" y="12463"/>
                    </a:cubicBezTo>
                    <a:cubicBezTo>
                      <a:pt x="19333" y="12463"/>
                      <a:pt x="19197" y="12007"/>
                      <a:pt x="19082" y="11505"/>
                    </a:cubicBezTo>
                    <a:cubicBezTo>
                      <a:pt x="18991" y="11162"/>
                      <a:pt x="18877" y="10706"/>
                      <a:pt x="18717" y="10706"/>
                    </a:cubicBezTo>
                    <a:cubicBezTo>
                      <a:pt x="18580" y="10706"/>
                      <a:pt x="18443" y="11482"/>
                      <a:pt x="18352" y="11893"/>
                    </a:cubicBezTo>
                    <a:cubicBezTo>
                      <a:pt x="18215" y="12737"/>
                      <a:pt x="18101" y="13239"/>
                      <a:pt x="17804" y="13239"/>
                    </a:cubicBezTo>
                    <a:cubicBezTo>
                      <a:pt x="17393" y="13239"/>
                      <a:pt x="17256" y="12281"/>
                      <a:pt x="17028" y="10592"/>
                    </a:cubicBezTo>
                    <a:cubicBezTo>
                      <a:pt x="16914" y="9656"/>
                      <a:pt x="16709" y="8104"/>
                      <a:pt x="16480" y="8104"/>
                    </a:cubicBezTo>
                    <a:cubicBezTo>
                      <a:pt x="16229" y="8104"/>
                      <a:pt x="16047" y="9222"/>
                      <a:pt x="15932" y="9975"/>
                    </a:cubicBezTo>
                    <a:cubicBezTo>
                      <a:pt x="15727" y="11231"/>
                      <a:pt x="15567" y="11984"/>
                      <a:pt x="15179" y="11984"/>
                    </a:cubicBezTo>
                    <a:cubicBezTo>
                      <a:pt x="14883" y="11984"/>
                      <a:pt x="14746" y="11664"/>
                      <a:pt x="14631" y="11390"/>
                    </a:cubicBezTo>
                    <a:cubicBezTo>
                      <a:pt x="14517" y="11162"/>
                      <a:pt x="14426" y="10911"/>
                      <a:pt x="14266" y="10911"/>
                    </a:cubicBezTo>
                    <a:cubicBezTo>
                      <a:pt x="14129" y="11048"/>
                      <a:pt x="14015" y="12760"/>
                      <a:pt x="13924" y="14015"/>
                    </a:cubicBezTo>
                    <a:cubicBezTo>
                      <a:pt x="13741" y="16595"/>
                      <a:pt x="13650" y="17302"/>
                      <a:pt x="13376" y="17302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rgbClr val="EF3455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</p:grpSp>
        <p:sp>
          <p:nvSpPr>
            <p:cNvPr id="238" name="Google Shape;238;p30"/>
            <p:cNvSpPr/>
            <p:nvPr/>
          </p:nvSpPr>
          <p:spPr>
            <a:xfrm>
              <a:off x="2827799" y="3683926"/>
              <a:ext cx="176100" cy="1719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  <a:ea typeface="PT Sans"/>
                <a:cs typeface="PT Sans"/>
                <a:sym typeface="PT Sans"/>
              </a:endParaRPr>
            </a:p>
          </p:txBody>
        </p:sp>
      </p:grpSp>
      <p:grpSp>
        <p:nvGrpSpPr>
          <p:cNvPr id="239" name="Google Shape;239;p30"/>
          <p:cNvGrpSpPr/>
          <p:nvPr/>
        </p:nvGrpSpPr>
        <p:grpSpPr>
          <a:xfrm>
            <a:off x="5651637" y="1426029"/>
            <a:ext cx="2943207" cy="2778148"/>
            <a:chOff x="4730185" y="390131"/>
            <a:chExt cx="4259870" cy="4057399"/>
          </a:xfrm>
        </p:grpSpPr>
        <p:grpSp>
          <p:nvGrpSpPr>
            <p:cNvPr id="240" name="Google Shape;240;p30"/>
            <p:cNvGrpSpPr/>
            <p:nvPr/>
          </p:nvGrpSpPr>
          <p:grpSpPr>
            <a:xfrm rot="141843">
              <a:off x="4951535" y="1206955"/>
              <a:ext cx="3975040" cy="3159937"/>
              <a:chOff x="5430907" y="1107214"/>
              <a:chExt cx="3684625" cy="2929073"/>
            </a:xfrm>
          </p:grpSpPr>
          <p:grpSp>
            <p:nvGrpSpPr>
              <p:cNvPr id="241" name="Google Shape;241;p30"/>
              <p:cNvGrpSpPr/>
              <p:nvPr/>
            </p:nvGrpSpPr>
            <p:grpSpPr>
              <a:xfrm rot="622480">
                <a:off x="5617378" y="1386018"/>
                <a:ext cx="3311683" cy="2371465"/>
                <a:chOff x="6974350" y="3183675"/>
                <a:chExt cx="1583175" cy="1133750"/>
              </a:xfrm>
            </p:grpSpPr>
            <p:sp>
              <p:nvSpPr>
                <p:cNvPr id="242" name="Google Shape;242;p30"/>
                <p:cNvSpPr/>
                <p:nvPr/>
              </p:nvSpPr>
              <p:spPr>
                <a:xfrm>
                  <a:off x="6974350" y="3183675"/>
                  <a:ext cx="1583175" cy="113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27" h="45350" extrusionOk="0">
                      <a:moveTo>
                        <a:pt x="44870" y="1"/>
                      </a:moveTo>
                      <a:cubicBezTo>
                        <a:pt x="37479" y="1"/>
                        <a:pt x="31478" y="5225"/>
                        <a:pt x="31478" y="5225"/>
                      </a:cubicBezTo>
                      <a:cubicBezTo>
                        <a:pt x="31478" y="5225"/>
                        <a:pt x="25531" y="188"/>
                        <a:pt x="18239" y="188"/>
                      </a:cubicBezTo>
                      <a:cubicBezTo>
                        <a:pt x="15826" y="188"/>
                        <a:pt x="13266" y="740"/>
                        <a:pt x="10726" y="2208"/>
                      </a:cubicBezTo>
                      <a:cubicBezTo>
                        <a:pt x="509" y="8120"/>
                        <a:pt x="1" y="31707"/>
                        <a:pt x="31759" y="45350"/>
                      </a:cubicBezTo>
                      <a:cubicBezTo>
                        <a:pt x="63327" y="31267"/>
                        <a:pt x="62493" y="7680"/>
                        <a:pt x="52193" y="1920"/>
                      </a:cubicBezTo>
                      <a:cubicBezTo>
                        <a:pt x="49710" y="529"/>
                        <a:pt x="47220" y="1"/>
                        <a:pt x="448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+mn-lt"/>
                    <a:ea typeface="PT Sans"/>
                    <a:cs typeface="PT Sans"/>
                    <a:sym typeface="PT Sans"/>
                  </a:endParaRPr>
                </a:p>
              </p:txBody>
            </p:sp>
            <p:sp>
              <p:nvSpPr>
                <p:cNvPr id="243" name="Google Shape;243;p30"/>
                <p:cNvSpPr/>
                <p:nvPr/>
              </p:nvSpPr>
              <p:spPr>
                <a:xfrm>
                  <a:off x="8080950" y="3257050"/>
                  <a:ext cx="277250" cy="41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90" h="16523" extrusionOk="0">
                      <a:moveTo>
                        <a:pt x="107" y="1"/>
                      </a:moveTo>
                      <a:cubicBezTo>
                        <a:pt x="1" y="1"/>
                        <a:pt x="8" y="145"/>
                        <a:pt x="107" y="160"/>
                      </a:cubicBezTo>
                      <a:cubicBezTo>
                        <a:pt x="3222" y="569"/>
                        <a:pt x="6246" y="3525"/>
                        <a:pt x="7534" y="6254"/>
                      </a:cubicBezTo>
                      <a:cubicBezTo>
                        <a:pt x="8262" y="7792"/>
                        <a:pt x="8861" y="9157"/>
                        <a:pt x="8808" y="10877"/>
                      </a:cubicBezTo>
                      <a:cubicBezTo>
                        <a:pt x="8755" y="12802"/>
                        <a:pt x="8254" y="14591"/>
                        <a:pt x="7777" y="16440"/>
                      </a:cubicBezTo>
                      <a:cubicBezTo>
                        <a:pt x="7762" y="16485"/>
                        <a:pt x="7802" y="16523"/>
                        <a:pt x="7842" y="16523"/>
                      </a:cubicBezTo>
                      <a:cubicBezTo>
                        <a:pt x="7864" y="16523"/>
                        <a:pt x="7885" y="16512"/>
                        <a:pt x="7898" y="16486"/>
                      </a:cubicBezTo>
                      <a:cubicBezTo>
                        <a:pt x="9573" y="13037"/>
                        <a:pt x="11089" y="8740"/>
                        <a:pt x="9308" y="5041"/>
                      </a:cubicBezTo>
                      <a:cubicBezTo>
                        <a:pt x="8535" y="3419"/>
                        <a:pt x="7208" y="1812"/>
                        <a:pt x="5571" y="1032"/>
                      </a:cubicBezTo>
                      <a:cubicBezTo>
                        <a:pt x="3783" y="167"/>
                        <a:pt x="2047" y="31"/>
                        <a:pt x="10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+mn-lt"/>
                    <a:ea typeface="PT Sans"/>
                    <a:cs typeface="PT Sans"/>
                    <a:sym typeface="PT Sans"/>
                  </a:endParaRPr>
                </a:p>
              </p:txBody>
            </p:sp>
            <p:sp>
              <p:nvSpPr>
                <p:cNvPr id="244" name="Google Shape;244;p30"/>
                <p:cNvSpPr/>
                <p:nvPr/>
              </p:nvSpPr>
              <p:spPr>
                <a:xfrm>
                  <a:off x="7138075" y="3286900"/>
                  <a:ext cx="154975" cy="56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9" h="22656" extrusionOk="0">
                      <a:moveTo>
                        <a:pt x="6166" y="1"/>
                      </a:moveTo>
                      <a:cubicBezTo>
                        <a:pt x="6162" y="1"/>
                        <a:pt x="6159" y="2"/>
                        <a:pt x="6155" y="4"/>
                      </a:cubicBezTo>
                      <a:cubicBezTo>
                        <a:pt x="2691" y="2642"/>
                        <a:pt x="296" y="6348"/>
                        <a:pt x="145" y="10790"/>
                      </a:cubicBezTo>
                      <a:cubicBezTo>
                        <a:pt x="1" y="15133"/>
                        <a:pt x="2221" y="19559"/>
                        <a:pt x="5170" y="22629"/>
                      </a:cubicBezTo>
                      <a:cubicBezTo>
                        <a:pt x="5189" y="22648"/>
                        <a:pt x="5209" y="22656"/>
                        <a:pt x="5229" y="22656"/>
                      </a:cubicBezTo>
                      <a:cubicBezTo>
                        <a:pt x="5298" y="22656"/>
                        <a:pt x="5357" y="22563"/>
                        <a:pt x="5299" y="22492"/>
                      </a:cubicBezTo>
                      <a:cubicBezTo>
                        <a:pt x="2532" y="19218"/>
                        <a:pt x="1539" y="15148"/>
                        <a:pt x="1933" y="10941"/>
                      </a:cubicBezTo>
                      <a:cubicBezTo>
                        <a:pt x="2290" y="7068"/>
                        <a:pt x="3608" y="3013"/>
                        <a:pt x="6185" y="42"/>
                      </a:cubicBezTo>
                      <a:cubicBezTo>
                        <a:pt x="6198" y="29"/>
                        <a:pt x="6184" y="1"/>
                        <a:pt x="616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+mn-lt"/>
                    <a:ea typeface="PT Sans"/>
                    <a:cs typeface="PT Sans"/>
                    <a:sym typeface="PT Sans"/>
                  </a:endParaRPr>
                </a:p>
              </p:txBody>
            </p:sp>
          </p:grpSp>
          <p:sp>
            <p:nvSpPr>
              <p:cNvPr id="245" name="Google Shape;245;p30"/>
              <p:cNvSpPr/>
              <p:nvPr/>
            </p:nvSpPr>
            <p:spPr>
              <a:xfrm rot="871214">
                <a:off x="6303213" y="2006670"/>
                <a:ext cx="1939998" cy="762590"/>
              </a:xfrm>
              <a:custGeom>
                <a:avLst/>
                <a:gdLst/>
                <a:ahLst/>
                <a:cxnLst/>
                <a:rect l="l" t="t" r="r" b="b"/>
                <a:pathLst>
                  <a:path w="24196" h="17303" fill="none" extrusionOk="0">
                    <a:moveTo>
                      <a:pt x="13376" y="17302"/>
                    </a:moveTo>
                    <a:cubicBezTo>
                      <a:pt x="12920" y="17302"/>
                      <a:pt x="12760" y="15248"/>
                      <a:pt x="12463" y="8651"/>
                    </a:cubicBezTo>
                    <a:cubicBezTo>
                      <a:pt x="12303" y="4999"/>
                      <a:pt x="12098" y="457"/>
                      <a:pt x="11778" y="183"/>
                    </a:cubicBezTo>
                    <a:cubicBezTo>
                      <a:pt x="11504" y="366"/>
                      <a:pt x="11253" y="3744"/>
                      <a:pt x="11048" y="6209"/>
                    </a:cubicBezTo>
                    <a:cubicBezTo>
                      <a:pt x="10683" y="10934"/>
                      <a:pt x="10500" y="12395"/>
                      <a:pt x="10089" y="12395"/>
                    </a:cubicBezTo>
                    <a:cubicBezTo>
                      <a:pt x="9701" y="12395"/>
                      <a:pt x="9541" y="11687"/>
                      <a:pt x="9382" y="10843"/>
                    </a:cubicBezTo>
                    <a:cubicBezTo>
                      <a:pt x="9245" y="10249"/>
                      <a:pt x="9085" y="9450"/>
                      <a:pt x="8879" y="9450"/>
                    </a:cubicBezTo>
                    <a:cubicBezTo>
                      <a:pt x="8651" y="9450"/>
                      <a:pt x="8514" y="10044"/>
                      <a:pt x="8377" y="10523"/>
                    </a:cubicBezTo>
                    <a:cubicBezTo>
                      <a:pt x="8218" y="11139"/>
                      <a:pt x="8058" y="11733"/>
                      <a:pt x="7693" y="11733"/>
                    </a:cubicBezTo>
                    <a:lnTo>
                      <a:pt x="0" y="11733"/>
                    </a:lnTo>
                    <a:lnTo>
                      <a:pt x="0" y="11527"/>
                    </a:lnTo>
                    <a:lnTo>
                      <a:pt x="7693" y="11527"/>
                    </a:lnTo>
                    <a:cubicBezTo>
                      <a:pt x="7898" y="11527"/>
                      <a:pt x="8058" y="10934"/>
                      <a:pt x="8172" y="10455"/>
                    </a:cubicBezTo>
                    <a:cubicBezTo>
                      <a:pt x="8354" y="9838"/>
                      <a:pt x="8491" y="9245"/>
                      <a:pt x="8879" y="9245"/>
                    </a:cubicBezTo>
                    <a:cubicBezTo>
                      <a:pt x="9245" y="9245"/>
                      <a:pt x="9404" y="9975"/>
                      <a:pt x="9564" y="10797"/>
                    </a:cubicBezTo>
                    <a:cubicBezTo>
                      <a:pt x="9701" y="11390"/>
                      <a:pt x="9861" y="12189"/>
                      <a:pt x="10066" y="12189"/>
                    </a:cubicBezTo>
                    <a:cubicBezTo>
                      <a:pt x="10386" y="12030"/>
                      <a:pt x="10660" y="8651"/>
                      <a:pt x="10842" y="6186"/>
                    </a:cubicBezTo>
                    <a:cubicBezTo>
                      <a:pt x="11208" y="1461"/>
                      <a:pt x="11390" y="1"/>
                      <a:pt x="11801" y="1"/>
                    </a:cubicBezTo>
                    <a:cubicBezTo>
                      <a:pt x="12212" y="1"/>
                      <a:pt x="12372" y="2055"/>
                      <a:pt x="12668" y="8651"/>
                    </a:cubicBezTo>
                    <a:cubicBezTo>
                      <a:pt x="12828" y="12303"/>
                      <a:pt x="13034" y="16846"/>
                      <a:pt x="13353" y="17120"/>
                    </a:cubicBezTo>
                    <a:cubicBezTo>
                      <a:pt x="13513" y="16960"/>
                      <a:pt x="13627" y="15248"/>
                      <a:pt x="13718" y="13993"/>
                    </a:cubicBezTo>
                    <a:cubicBezTo>
                      <a:pt x="13901" y="11413"/>
                      <a:pt x="13992" y="10706"/>
                      <a:pt x="14266" y="10706"/>
                    </a:cubicBezTo>
                    <a:cubicBezTo>
                      <a:pt x="14563" y="10706"/>
                      <a:pt x="14700" y="11025"/>
                      <a:pt x="14814" y="11322"/>
                    </a:cubicBezTo>
                    <a:cubicBezTo>
                      <a:pt x="14905" y="11550"/>
                      <a:pt x="15019" y="11778"/>
                      <a:pt x="15156" y="11778"/>
                    </a:cubicBezTo>
                    <a:lnTo>
                      <a:pt x="15156" y="11778"/>
                    </a:lnTo>
                    <a:cubicBezTo>
                      <a:pt x="15430" y="11778"/>
                      <a:pt x="15613" y="10660"/>
                      <a:pt x="15727" y="9930"/>
                    </a:cubicBezTo>
                    <a:cubicBezTo>
                      <a:pt x="15932" y="8674"/>
                      <a:pt x="16092" y="7898"/>
                      <a:pt x="16480" y="7898"/>
                    </a:cubicBezTo>
                    <a:cubicBezTo>
                      <a:pt x="16868" y="7898"/>
                      <a:pt x="17005" y="8857"/>
                      <a:pt x="17234" y="10569"/>
                    </a:cubicBezTo>
                    <a:cubicBezTo>
                      <a:pt x="17348" y="11482"/>
                      <a:pt x="17553" y="13034"/>
                      <a:pt x="17781" y="13034"/>
                    </a:cubicBezTo>
                    <a:cubicBezTo>
                      <a:pt x="17941" y="13034"/>
                      <a:pt x="18078" y="12258"/>
                      <a:pt x="18147" y="11847"/>
                    </a:cubicBezTo>
                    <a:cubicBezTo>
                      <a:pt x="18306" y="11025"/>
                      <a:pt x="18420" y="10500"/>
                      <a:pt x="18717" y="10500"/>
                    </a:cubicBezTo>
                    <a:cubicBezTo>
                      <a:pt x="19037" y="10500"/>
                      <a:pt x="19151" y="10980"/>
                      <a:pt x="19288" y="11459"/>
                    </a:cubicBezTo>
                    <a:cubicBezTo>
                      <a:pt x="19356" y="11801"/>
                      <a:pt x="19493" y="12258"/>
                      <a:pt x="19630" y="12258"/>
                    </a:cubicBezTo>
                    <a:cubicBezTo>
                      <a:pt x="19721" y="12258"/>
                      <a:pt x="19790" y="12075"/>
                      <a:pt x="19836" y="11938"/>
                    </a:cubicBezTo>
                    <a:cubicBezTo>
                      <a:pt x="19904" y="11733"/>
                      <a:pt x="19973" y="11527"/>
                      <a:pt x="20155" y="11527"/>
                    </a:cubicBezTo>
                    <a:lnTo>
                      <a:pt x="24195" y="11527"/>
                    </a:lnTo>
                    <a:lnTo>
                      <a:pt x="24195" y="11733"/>
                    </a:lnTo>
                    <a:lnTo>
                      <a:pt x="20155" y="11733"/>
                    </a:lnTo>
                    <a:cubicBezTo>
                      <a:pt x="20110" y="11733"/>
                      <a:pt x="20064" y="11915"/>
                      <a:pt x="20018" y="11984"/>
                    </a:cubicBezTo>
                    <a:cubicBezTo>
                      <a:pt x="19950" y="12189"/>
                      <a:pt x="19881" y="12463"/>
                      <a:pt x="19630" y="12463"/>
                    </a:cubicBezTo>
                    <a:cubicBezTo>
                      <a:pt x="19333" y="12463"/>
                      <a:pt x="19197" y="12007"/>
                      <a:pt x="19082" y="11505"/>
                    </a:cubicBezTo>
                    <a:cubicBezTo>
                      <a:pt x="18991" y="11162"/>
                      <a:pt x="18877" y="10706"/>
                      <a:pt x="18717" y="10706"/>
                    </a:cubicBezTo>
                    <a:cubicBezTo>
                      <a:pt x="18580" y="10706"/>
                      <a:pt x="18443" y="11482"/>
                      <a:pt x="18352" y="11893"/>
                    </a:cubicBezTo>
                    <a:cubicBezTo>
                      <a:pt x="18215" y="12737"/>
                      <a:pt x="18101" y="13239"/>
                      <a:pt x="17804" y="13239"/>
                    </a:cubicBezTo>
                    <a:cubicBezTo>
                      <a:pt x="17393" y="13239"/>
                      <a:pt x="17256" y="12281"/>
                      <a:pt x="17028" y="10592"/>
                    </a:cubicBezTo>
                    <a:cubicBezTo>
                      <a:pt x="16914" y="9656"/>
                      <a:pt x="16709" y="8104"/>
                      <a:pt x="16480" y="8104"/>
                    </a:cubicBezTo>
                    <a:cubicBezTo>
                      <a:pt x="16229" y="8104"/>
                      <a:pt x="16047" y="9222"/>
                      <a:pt x="15932" y="9975"/>
                    </a:cubicBezTo>
                    <a:cubicBezTo>
                      <a:pt x="15727" y="11231"/>
                      <a:pt x="15567" y="11984"/>
                      <a:pt x="15179" y="11984"/>
                    </a:cubicBezTo>
                    <a:cubicBezTo>
                      <a:pt x="14883" y="11984"/>
                      <a:pt x="14746" y="11664"/>
                      <a:pt x="14631" y="11390"/>
                    </a:cubicBezTo>
                    <a:cubicBezTo>
                      <a:pt x="14517" y="11162"/>
                      <a:pt x="14426" y="10911"/>
                      <a:pt x="14266" y="10911"/>
                    </a:cubicBezTo>
                    <a:cubicBezTo>
                      <a:pt x="14129" y="11048"/>
                      <a:pt x="14015" y="12760"/>
                      <a:pt x="13924" y="14015"/>
                    </a:cubicBezTo>
                    <a:cubicBezTo>
                      <a:pt x="13741" y="16595"/>
                      <a:pt x="13650" y="17302"/>
                      <a:pt x="13376" y="17302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rgbClr val="FFFFFF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246" name="Google Shape;246;p30"/>
            <p:cNvGrpSpPr/>
            <p:nvPr/>
          </p:nvGrpSpPr>
          <p:grpSpPr>
            <a:xfrm rot="-3704356" flipH="1">
              <a:off x="5273607" y="495344"/>
              <a:ext cx="1519440" cy="2142197"/>
              <a:chOff x="6102044" y="1191352"/>
              <a:chExt cx="1031147" cy="1453773"/>
            </a:xfrm>
          </p:grpSpPr>
          <p:sp>
            <p:nvSpPr>
              <p:cNvPr id="247" name="Google Shape;247;p30"/>
              <p:cNvSpPr/>
              <p:nvPr/>
            </p:nvSpPr>
            <p:spPr>
              <a:xfrm flipH="1">
                <a:off x="6102044" y="1933845"/>
                <a:ext cx="315061" cy="711281"/>
              </a:xfrm>
              <a:custGeom>
                <a:avLst/>
                <a:gdLst/>
                <a:ahLst/>
                <a:cxnLst/>
                <a:rect l="l" t="t" r="r" b="b"/>
                <a:pathLst>
                  <a:path w="25963" h="58614" extrusionOk="0">
                    <a:moveTo>
                      <a:pt x="3643" y="0"/>
                    </a:moveTo>
                    <a:lnTo>
                      <a:pt x="0" y="3908"/>
                    </a:lnTo>
                    <a:cubicBezTo>
                      <a:pt x="199" y="4040"/>
                      <a:pt x="15432" y="18147"/>
                      <a:pt x="18743" y="33181"/>
                    </a:cubicBezTo>
                    <a:cubicBezTo>
                      <a:pt x="20333" y="40466"/>
                      <a:pt x="19604" y="46096"/>
                      <a:pt x="16624" y="49407"/>
                    </a:cubicBezTo>
                    <a:cubicBezTo>
                      <a:pt x="13837" y="52452"/>
                      <a:pt x="9562" y="53285"/>
                      <a:pt x="5617" y="53285"/>
                    </a:cubicBezTo>
                    <a:cubicBezTo>
                      <a:pt x="4499" y="53285"/>
                      <a:pt x="3408" y="53218"/>
                      <a:pt x="2385" y="53116"/>
                    </a:cubicBezTo>
                    <a:lnTo>
                      <a:pt x="1192" y="58348"/>
                    </a:lnTo>
                    <a:cubicBezTo>
                      <a:pt x="2650" y="58547"/>
                      <a:pt x="4305" y="58613"/>
                      <a:pt x="5630" y="58613"/>
                    </a:cubicBezTo>
                    <a:cubicBezTo>
                      <a:pt x="13710" y="58613"/>
                      <a:pt x="18147" y="55633"/>
                      <a:pt x="20598" y="52984"/>
                    </a:cubicBezTo>
                    <a:cubicBezTo>
                      <a:pt x="24770" y="48281"/>
                      <a:pt x="25962" y="41062"/>
                      <a:pt x="23975" y="32055"/>
                    </a:cubicBezTo>
                    <a:cubicBezTo>
                      <a:pt x="20266" y="15365"/>
                      <a:pt x="4305" y="596"/>
                      <a:pt x="36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48" name="Google Shape;248;p30"/>
              <p:cNvSpPr/>
              <p:nvPr/>
            </p:nvSpPr>
            <p:spPr>
              <a:xfrm flipH="1">
                <a:off x="6394594" y="1191352"/>
                <a:ext cx="305414" cy="253852"/>
              </a:xfrm>
              <a:custGeom>
                <a:avLst/>
                <a:gdLst/>
                <a:ahLst/>
                <a:cxnLst/>
                <a:rect l="l" t="t" r="r" b="b"/>
                <a:pathLst>
                  <a:path w="25168" h="20919" extrusionOk="0">
                    <a:moveTo>
                      <a:pt x="5484" y="0"/>
                    </a:moveTo>
                    <a:cubicBezTo>
                      <a:pt x="3558" y="0"/>
                      <a:pt x="1623" y="670"/>
                      <a:pt x="67" y="2043"/>
                    </a:cubicBezTo>
                    <a:lnTo>
                      <a:pt x="1" y="2176"/>
                    </a:lnTo>
                    <a:lnTo>
                      <a:pt x="2915" y="5487"/>
                    </a:lnTo>
                    <a:lnTo>
                      <a:pt x="3047" y="5421"/>
                    </a:lnTo>
                    <a:cubicBezTo>
                      <a:pt x="3757" y="4773"/>
                      <a:pt x="4639" y="4455"/>
                      <a:pt x="5520" y="4455"/>
                    </a:cubicBezTo>
                    <a:cubicBezTo>
                      <a:pt x="6529" y="4455"/>
                      <a:pt x="7537" y="4872"/>
                      <a:pt x="8279" y="5686"/>
                    </a:cubicBezTo>
                    <a:lnTo>
                      <a:pt x="21790" y="20919"/>
                    </a:lnTo>
                    <a:lnTo>
                      <a:pt x="25168" y="17938"/>
                    </a:lnTo>
                    <a:lnTo>
                      <a:pt x="11591" y="2705"/>
                    </a:lnTo>
                    <a:cubicBezTo>
                      <a:pt x="9983" y="919"/>
                      <a:pt x="7740" y="0"/>
                      <a:pt x="5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49" name="Google Shape;249;p30"/>
              <p:cNvSpPr/>
              <p:nvPr/>
            </p:nvSpPr>
            <p:spPr>
              <a:xfrm flipH="1">
                <a:off x="6892081" y="1560924"/>
                <a:ext cx="241110" cy="326310"/>
              </a:xfrm>
              <a:custGeom>
                <a:avLst/>
                <a:gdLst/>
                <a:ahLst/>
                <a:cxnLst/>
                <a:rect l="l" t="t" r="r" b="b"/>
                <a:pathLst>
                  <a:path w="19869" h="26890" extrusionOk="0">
                    <a:moveTo>
                      <a:pt x="3775" y="1"/>
                    </a:moveTo>
                    <a:lnTo>
                      <a:pt x="3709" y="133"/>
                    </a:lnTo>
                    <a:cubicBezTo>
                      <a:pt x="331" y="3113"/>
                      <a:pt x="0" y="8279"/>
                      <a:pt x="2981" y="11657"/>
                    </a:cubicBezTo>
                    <a:lnTo>
                      <a:pt x="16558" y="26890"/>
                    </a:lnTo>
                    <a:lnTo>
                      <a:pt x="19869" y="23909"/>
                    </a:lnTo>
                    <a:lnTo>
                      <a:pt x="6358" y="8677"/>
                    </a:lnTo>
                    <a:cubicBezTo>
                      <a:pt x="4967" y="7153"/>
                      <a:pt x="5100" y="4769"/>
                      <a:pt x="6623" y="3444"/>
                    </a:cubicBezTo>
                    <a:lnTo>
                      <a:pt x="6756" y="3312"/>
                    </a:lnTo>
                    <a:lnTo>
                      <a:pt x="37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50" name="Google Shape;250;p30"/>
              <p:cNvSpPr/>
              <p:nvPr/>
            </p:nvSpPr>
            <p:spPr>
              <a:xfrm flipH="1">
                <a:off x="6177596" y="1398873"/>
                <a:ext cx="270052" cy="499841"/>
              </a:xfrm>
              <a:custGeom>
                <a:avLst/>
                <a:gdLst/>
                <a:ahLst/>
                <a:cxnLst/>
                <a:rect l="l" t="t" r="r" b="b"/>
                <a:pathLst>
                  <a:path w="22254" h="41190" extrusionOk="0">
                    <a:moveTo>
                      <a:pt x="4373" y="0"/>
                    </a:moveTo>
                    <a:cubicBezTo>
                      <a:pt x="4152" y="0"/>
                      <a:pt x="3934" y="83"/>
                      <a:pt x="3776" y="241"/>
                    </a:cubicBezTo>
                    <a:lnTo>
                      <a:pt x="3776" y="175"/>
                    </a:lnTo>
                    <a:lnTo>
                      <a:pt x="398" y="3155"/>
                    </a:lnTo>
                    <a:cubicBezTo>
                      <a:pt x="67" y="3486"/>
                      <a:pt x="1" y="4082"/>
                      <a:pt x="332" y="4414"/>
                    </a:cubicBezTo>
                    <a:lnTo>
                      <a:pt x="11723" y="17196"/>
                    </a:lnTo>
                    <a:cubicBezTo>
                      <a:pt x="15300" y="21236"/>
                      <a:pt x="14902" y="27461"/>
                      <a:pt x="10862" y="31038"/>
                    </a:cubicBezTo>
                    <a:lnTo>
                      <a:pt x="4968" y="36336"/>
                    </a:lnTo>
                    <a:cubicBezTo>
                      <a:pt x="4570" y="36667"/>
                      <a:pt x="4570" y="37197"/>
                      <a:pt x="4902" y="37528"/>
                    </a:cubicBezTo>
                    <a:lnTo>
                      <a:pt x="7816" y="40906"/>
                    </a:lnTo>
                    <a:cubicBezTo>
                      <a:pt x="7998" y="41088"/>
                      <a:pt x="8260" y="41190"/>
                      <a:pt x="8514" y="41190"/>
                    </a:cubicBezTo>
                    <a:cubicBezTo>
                      <a:pt x="8722" y="41190"/>
                      <a:pt x="8925" y="41121"/>
                      <a:pt x="9074" y="40972"/>
                    </a:cubicBezTo>
                    <a:lnTo>
                      <a:pt x="15035" y="35674"/>
                    </a:lnTo>
                    <a:cubicBezTo>
                      <a:pt x="21658" y="29846"/>
                      <a:pt x="22254" y="19646"/>
                      <a:pt x="16359" y="13090"/>
                    </a:cubicBezTo>
                    <a:lnTo>
                      <a:pt x="5034" y="307"/>
                    </a:lnTo>
                    <a:cubicBezTo>
                      <a:pt x="4861" y="100"/>
                      <a:pt x="4615" y="0"/>
                      <a:pt x="4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51" name="Google Shape;251;p30"/>
              <p:cNvSpPr/>
              <p:nvPr/>
            </p:nvSpPr>
            <p:spPr>
              <a:xfrm flipH="1">
                <a:off x="6451653" y="1840381"/>
                <a:ext cx="492669" cy="274530"/>
              </a:xfrm>
              <a:custGeom>
                <a:avLst/>
                <a:gdLst/>
                <a:ahLst/>
                <a:cxnLst/>
                <a:rect l="l" t="t" r="r" b="b"/>
                <a:pathLst>
                  <a:path w="40599" h="22623" extrusionOk="0">
                    <a:moveTo>
                      <a:pt x="4296" y="0"/>
                    </a:moveTo>
                    <a:cubicBezTo>
                      <a:pt x="4094" y="0"/>
                      <a:pt x="3888" y="69"/>
                      <a:pt x="3709" y="218"/>
                    </a:cubicBezTo>
                    <a:lnTo>
                      <a:pt x="397" y="3198"/>
                    </a:lnTo>
                    <a:cubicBezTo>
                      <a:pt x="0" y="3530"/>
                      <a:pt x="0" y="4059"/>
                      <a:pt x="331" y="4457"/>
                    </a:cubicBezTo>
                    <a:lnTo>
                      <a:pt x="11656" y="17239"/>
                    </a:lnTo>
                    <a:cubicBezTo>
                      <a:pt x="14829" y="20804"/>
                      <a:pt x="19231" y="22623"/>
                      <a:pt x="23651" y="22623"/>
                    </a:cubicBezTo>
                    <a:cubicBezTo>
                      <a:pt x="27443" y="22623"/>
                      <a:pt x="31249" y="21285"/>
                      <a:pt x="34307" y="18564"/>
                    </a:cubicBezTo>
                    <a:lnTo>
                      <a:pt x="40201" y="13265"/>
                    </a:lnTo>
                    <a:cubicBezTo>
                      <a:pt x="40599" y="12934"/>
                      <a:pt x="40599" y="12404"/>
                      <a:pt x="40334" y="12007"/>
                    </a:cubicBezTo>
                    <a:lnTo>
                      <a:pt x="37353" y="8695"/>
                    </a:lnTo>
                    <a:cubicBezTo>
                      <a:pt x="37180" y="8488"/>
                      <a:pt x="36935" y="8389"/>
                      <a:pt x="36692" y="8389"/>
                    </a:cubicBezTo>
                    <a:cubicBezTo>
                      <a:pt x="36471" y="8389"/>
                      <a:pt x="36253" y="8471"/>
                      <a:pt x="36095" y="8629"/>
                    </a:cubicBezTo>
                    <a:lnTo>
                      <a:pt x="30134" y="13861"/>
                    </a:lnTo>
                    <a:cubicBezTo>
                      <a:pt x="28271" y="15542"/>
                      <a:pt x="25956" y="16362"/>
                      <a:pt x="23652" y="16362"/>
                    </a:cubicBezTo>
                    <a:cubicBezTo>
                      <a:pt x="20962" y="16362"/>
                      <a:pt x="18285" y="15243"/>
                      <a:pt x="16359" y="13067"/>
                    </a:cubicBezTo>
                    <a:lnTo>
                      <a:pt x="4967" y="284"/>
                    </a:lnTo>
                    <a:cubicBezTo>
                      <a:pt x="4785" y="102"/>
                      <a:pt x="4543" y="0"/>
                      <a:pt x="42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52" name="Google Shape;252;p30"/>
              <p:cNvSpPr/>
              <p:nvPr/>
            </p:nvSpPr>
            <p:spPr>
              <a:xfrm flipH="1">
                <a:off x="6644539" y="1199616"/>
                <a:ext cx="128607" cy="122673"/>
              </a:xfrm>
              <a:custGeom>
                <a:avLst/>
                <a:gdLst/>
                <a:ahLst/>
                <a:cxnLst/>
                <a:rect l="l" t="t" r="r" b="b"/>
                <a:pathLst>
                  <a:path w="10598" h="10109" extrusionOk="0">
                    <a:moveTo>
                      <a:pt x="5481" y="0"/>
                    </a:moveTo>
                    <a:cubicBezTo>
                      <a:pt x="4994" y="0"/>
                      <a:pt x="4502" y="167"/>
                      <a:pt x="4107" y="501"/>
                    </a:cubicBezTo>
                    <a:lnTo>
                      <a:pt x="928" y="3349"/>
                    </a:lnTo>
                    <a:cubicBezTo>
                      <a:pt x="67" y="4078"/>
                      <a:pt x="1" y="5402"/>
                      <a:pt x="796" y="6197"/>
                    </a:cubicBezTo>
                    <a:lnTo>
                      <a:pt x="3577" y="9442"/>
                    </a:lnTo>
                    <a:cubicBezTo>
                      <a:pt x="4008" y="9872"/>
                      <a:pt x="4574" y="10109"/>
                      <a:pt x="5139" y="10109"/>
                    </a:cubicBezTo>
                    <a:cubicBezTo>
                      <a:pt x="5618" y="10109"/>
                      <a:pt x="6096" y="9939"/>
                      <a:pt x="6491" y="9575"/>
                    </a:cubicBezTo>
                    <a:lnTo>
                      <a:pt x="9670" y="6727"/>
                    </a:lnTo>
                    <a:cubicBezTo>
                      <a:pt x="10531" y="5998"/>
                      <a:pt x="10598" y="4740"/>
                      <a:pt x="9869" y="3879"/>
                    </a:cubicBezTo>
                    <a:lnTo>
                      <a:pt x="7021" y="700"/>
                    </a:lnTo>
                    <a:cubicBezTo>
                      <a:pt x="6627" y="233"/>
                      <a:pt x="6057" y="0"/>
                      <a:pt x="54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53" name="Google Shape;253;p30"/>
              <p:cNvSpPr/>
              <p:nvPr/>
            </p:nvSpPr>
            <p:spPr>
              <a:xfrm flipH="1">
                <a:off x="6978870" y="1496584"/>
                <a:ext cx="127806" cy="122673"/>
              </a:xfrm>
              <a:custGeom>
                <a:avLst/>
                <a:gdLst/>
                <a:ahLst/>
                <a:cxnLst/>
                <a:rect l="l" t="t" r="r" b="b"/>
                <a:pathLst>
                  <a:path w="10532" h="10109" extrusionOk="0">
                    <a:moveTo>
                      <a:pt x="5426" y="0"/>
                    </a:moveTo>
                    <a:cubicBezTo>
                      <a:pt x="4947" y="0"/>
                      <a:pt x="4472" y="170"/>
                      <a:pt x="4107" y="534"/>
                    </a:cubicBezTo>
                    <a:lnTo>
                      <a:pt x="862" y="3382"/>
                    </a:lnTo>
                    <a:cubicBezTo>
                      <a:pt x="67" y="4110"/>
                      <a:pt x="1" y="5369"/>
                      <a:pt x="729" y="6230"/>
                    </a:cubicBezTo>
                    <a:lnTo>
                      <a:pt x="3577" y="9409"/>
                    </a:lnTo>
                    <a:cubicBezTo>
                      <a:pt x="3972" y="9875"/>
                      <a:pt x="4522" y="10108"/>
                      <a:pt x="5080" y="10108"/>
                    </a:cubicBezTo>
                    <a:cubicBezTo>
                      <a:pt x="5552" y="10108"/>
                      <a:pt x="6030" y="9941"/>
                      <a:pt x="6425" y="9607"/>
                    </a:cubicBezTo>
                    <a:lnTo>
                      <a:pt x="9604" y="6760"/>
                    </a:lnTo>
                    <a:cubicBezTo>
                      <a:pt x="10465" y="6031"/>
                      <a:pt x="10531" y="4706"/>
                      <a:pt x="9803" y="3912"/>
                    </a:cubicBezTo>
                    <a:lnTo>
                      <a:pt x="6955" y="666"/>
                    </a:lnTo>
                    <a:cubicBezTo>
                      <a:pt x="6560" y="236"/>
                      <a:pt x="5991" y="0"/>
                      <a:pt x="54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54" name="Google Shape;254;p30"/>
              <p:cNvSpPr/>
              <p:nvPr/>
            </p:nvSpPr>
            <p:spPr>
              <a:xfrm flipH="1">
                <a:off x="6319042" y="1828549"/>
                <a:ext cx="204147" cy="205761"/>
              </a:xfrm>
              <a:custGeom>
                <a:avLst/>
                <a:gdLst/>
                <a:ahLst/>
                <a:cxnLst/>
                <a:rect l="l" t="t" r="r" b="b"/>
                <a:pathLst>
                  <a:path w="16823" h="16956" extrusionOk="0">
                    <a:moveTo>
                      <a:pt x="11325" y="1"/>
                    </a:moveTo>
                    <a:lnTo>
                      <a:pt x="0" y="10068"/>
                    </a:lnTo>
                    <a:lnTo>
                      <a:pt x="4901" y="15565"/>
                    </a:lnTo>
                    <a:lnTo>
                      <a:pt x="7749" y="13048"/>
                    </a:lnTo>
                    <a:lnTo>
                      <a:pt x="11259" y="16956"/>
                    </a:lnTo>
                    <a:lnTo>
                      <a:pt x="16822" y="11988"/>
                    </a:lnTo>
                    <a:lnTo>
                      <a:pt x="13378" y="8081"/>
                    </a:lnTo>
                    <a:lnTo>
                      <a:pt x="16226" y="5564"/>
                    </a:lnTo>
                    <a:lnTo>
                      <a:pt x="1132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255" name="Google Shape;255;p30"/>
            <p:cNvGrpSpPr/>
            <p:nvPr/>
          </p:nvGrpSpPr>
          <p:grpSpPr>
            <a:xfrm rot="631191">
              <a:off x="6097017" y="3204634"/>
              <a:ext cx="1561277" cy="985346"/>
              <a:chOff x="6877604" y="3012962"/>
              <a:chExt cx="1123580" cy="709109"/>
            </a:xfrm>
          </p:grpSpPr>
          <p:sp>
            <p:nvSpPr>
              <p:cNvPr id="256" name="Google Shape;256;p30"/>
              <p:cNvSpPr/>
              <p:nvPr/>
            </p:nvSpPr>
            <p:spPr>
              <a:xfrm flipH="1">
                <a:off x="7412867" y="3012962"/>
                <a:ext cx="588317" cy="518189"/>
              </a:xfrm>
              <a:custGeom>
                <a:avLst/>
                <a:gdLst/>
                <a:ahLst/>
                <a:cxnLst/>
                <a:rect l="l" t="t" r="r" b="b"/>
                <a:pathLst>
                  <a:path w="48481" h="42702" extrusionOk="0">
                    <a:moveTo>
                      <a:pt x="24229" y="0"/>
                    </a:moveTo>
                    <a:cubicBezTo>
                      <a:pt x="21470" y="0"/>
                      <a:pt x="18665" y="539"/>
                      <a:pt x="15962" y="1676"/>
                    </a:cubicBezTo>
                    <a:cubicBezTo>
                      <a:pt x="5101" y="6312"/>
                      <a:pt x="1" y="18829"/>
                      <a:pt x="4637" y="29691"/>
                    </a:cubicBezTo>
                    <a:cubicBezTo>
                      <a:pt x="8063" y="37835"/>
                      <a:pt x="15957" y="42702"/>
                      <a:pt x="24271" y="42702"/>
                    </a:cubicBezTo>
                    <a:cubicBezTo>
                      <a:pt x="27046" y="42702"/>
                      <a:pt x="29868" y="42160"/>
                      <a:pt x="32586" y="41016"/>
                    </a:cubicBezTo>
                    <a:cubicBezTo>
                      <a:pt x="43447" y="36446"/>
                      <a:pt x="48481" y="23929"/>
                      <a:pt x="43911" y="13067"/>
                    </a:cubicBezTo>
                    <a:cubicBezTo>
                      <a:pt x="40478" y="4908"/>
                      <a:pt x="32561" y="0"/>
                      <a:pt x="242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57" name="Google Shape;257;p30"/>
              <p:cNvSpPr/>
              <p:nvPr/>
            </p:nvSpPr>
            <p:spPr>
              <a:xfrm flipH="1">
                <a:off x="7567976" y="3133753"/>
                <a:ext cx="277285" cy="277285"/>
              </a:xfrm>
              <a:custGeom>
                <a:avLst/>
                <a:gdLst/>
                <a:ahLst/>
                <a:cxnLst/>
                <a:rect l="l" t="t" r="r" b="b"/>
                <a:pathLst>
                  <a:path w="22850" h="22850" extrusionOk="0">
                    <a:moveTo>
                      <a:pt x="11392" y="1"/>
                    </a:moveTo>
                    <a:cubicBezTo>
                      <a:pt x="5100" y="1"/>
                      <a:pt x="0" y="5100"/>
                      <a:pt x="0" y="11392"/>
                    </a:cubicBezTo>
                    <a:cubicBezTo>
                      <a:pt x="0" y="17750"/>
                      <a:pt x="5100" y="22850"/>
                      <a:pt x="11392" y="22850"/>
                    </a:cubicBezTo>
                    <a:cubicBezTo>
                      <a:pt x="17684" y="22850"/>
                      <a:pt x="22849" y="17750"/>
                      <a:pt x="22849" y="11392"/>
                    </a:cubicBezTo>
                    <a:cubicBezTo>
                      <a:pt x="22849" y="5100"/>
                      <a:pt x="17684" y="1"/>
                      <a:pt x="113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58" name="Google Shape;258;p30"/>
              <p:cNvSpPr/>
              <p:nvPr/>
            </p:nvSpPr>
            <p:spPr>
              <a:xfrm flipH="1">
                <a:off x="7549494" y="3115272"/>
                <a:ext cx="314248" cy="314260"/>
              </a:xfrm>
              <a:custGeom>
                <a:avLst/>
                <a:gdLst/>
                <a:ahLst/>
                <a:cxnLst/>
                <a:rect l="l" t="t" r="r" b="b"/>
                <a:pathLst>
                  <a:path w="25896" h="25897" extrusionOk="0">
                    <a:moveTo>
                      <a:pt x="12915" y="3047"/>
                    </a:moveTo>
                    <a:cubicBezTo>
                      <a:pt x="18412" y="3047"/>
                      <a:pt x="22849" y="7484"/>
                      <a:pt x="22849" y="12915"/>
                    </a:cubicBezTo>
                    <a:cubicBezTo>
                      <a:pt x="22849" y="18412"/>
                      <a:pt x="18412" y="22849"/>
                      <a:pt x="12915" y="22849"/>
                    </a:cubicBezTo>
                    <a:cubicBezTo>
                      <a:pt x="7484" y="22849"/>
                      <a:pt x="3047" y="18412"/>
                      <a:pt x="3047" y="12915"/>
                    </a:cubicBezTo>
                    <a:cubicBezTo>
                      <a:pt x="3047" y="7484"/>
                      <a:pt x="7484" y="3047"/>
                      <a:pt x="12915" y="3047"/>
                    </a:cubicBezTo>
                    <a:close/>
                    <a:moveTo>
                      <a:pt x="12915" y="0"/>
                    </a:moveTo>
                    <a:cubicBezTo>
                      <a:pt x="5828" y="0"/>
                      <a:pt x="0" y="5829"/>
                      <a:pt x="0" y="12915"/>
                    </a:cubicBezTo>
                    <a:cubicBezTo>
                      <a:pt x="0" y="20068"/>
                      <a:pt x="5828" y="25896"/>
                      <a:pt x="12915" y="25896"/>
                    </a:cubicBezTo>
                    <a:cubicBezTo>
                      <a:pt x="20067" y="25896"/>
                      <a:pt x="25896" y="20068"/>
                      <a:pt x="25896" y="12915"/>
                    </a:cubicBezTo>
                    <a:cubicBezTo>
                      <a:pt x="25896" y="5829"/>
                      <a:pt x="20067" y="0"/>
                      <a:pt x="12915" y="0"/>
                    </a:cubicBezTo>
                    <a:close/>
                  </a:path>
                </a:pathLst>
              </a:custGeom>
              <a:solidFill>
                <a:srgbClr val="EF34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59" name="Google Shape;259;p30"/>
              <p:cNvSpPr/>
              <p:nvPr/>
            </p:nvSpPr>
            <p:spPr>
              <a:xfrm flipH="1">
                <a:off x="6877604" y="3377278"/>
                <a:ext cx="794867" cy="344792"/>
              </a:xfrm>
              <a:custGeom>
                <a:avLst/>
                <a:gdLst/>
                <a:ahLst/>
                <a:cxnLst/>
                <a:rect l="l" t="t" r="r" b="b"/>
                <a:pathLst>
                  <a:path w="65502" h="28413" extrusionOk="0">
                    <a:moveTo>
                      <a:pt x="5696" y="0"/>
                    </a:moveTo>
                    <a:lnTo>
                      <a:pt x="1" y="2451"/>
                    </a:lnTo>
                    <a:cubicBezTo>
                      <a:pt x="464" y="3510"/>
                      <a:pt x="11524" y="28413"/>
                      <a:pt x="42718" y="28413"/>
                    </a:cubicBezTo>
                    <a:cubicBezTo>
                      <a:pt x="51659" y="28413"/>
                      <a:pt x="57752" y="25896"/>
                      <a:pt x="60865" y="20995"/>
                    </a:cubicBezTo>
                    <a:cubicBezTo>
                      <a:pt x="65501" y="13577"/>
                      <a:pt x="60600" y="3179"/>
                      <a:pt x="60401" y="2782"/>
                    </a:cubicBezTo>
                    <a:lnTo>
                      <a:pt x="55434" y="6756"/>
                    </a:lnTo>
                    <a:cubicBezTo>
                      <a:pt x="56362" y="8676"/>
                      <a:pt x="57951" y="13975"/>
                      <a:pt x="55567" y="17683"/>
                    </a:cubicBezTo>
                    <a:cubicBezTo>
                      <a:pt x="53183" y="21392"/>
                      <a:pt x="47288" y="22121"/>
                      <a:pt x="42718" y="22121"/>
                    </a:cubicBezTo>
                    <a:cubicBezTo>
                      <a:pt x="15697" y="22121"/>
                      <a:pt x="6094" y="927"/>
                      <a:pt x="56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F394ECA-D6D2-08E4-A02F-747CB040B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498" y="252376"/>
            <a:ext cx="3434385" cy="1061310"/>
          </a:xfrm>
          <a:prstGeom prst="rect">
            <a:avLst/>
          </a:prstGeom>
        </p:spPr>
      </p:pic>
      <p:sp>
        <p:nvSpPr>
          <p:cNvPr id="3" name="Google Shape;233;p30">
            <a:extLst>
              <a:ext uri="{FF2B5EF4-FFF2-40B4-BE49-F238E27FC236}">
                <a16:creationId xmlns:a16="http://schemas.microsoft.com/office/drawing/2014/main" id="{612372B4-D261-8DB9-1535-C99EA23D20AF}"/>
              </a:ext>
            </a:extLst>
          </p:cNvPr>
          <p:cNvSpPr txBox="1">
            <a:spLocks/>
          </p:cNvSpPr>
          <p:nvPr/>
        </p:nvSpPr>
        <p:spPr>
          <a:xfrm>
            <a:off x="6111310" y="4385495"/>
            <a:ext cx="1810401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6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 algn="ctr">
              <a:lnSpc>
                <a:spcPct val="150000"/>
              </a:lnSpc>
            </a:pPr>
            <a:r>
              <a:rPr lang="en-MY" b="1" dirty="0">
                <a:latin typeface="+mn-lt"/>
                <a:cs typeface="Times New Roman" panose="02020603050405020304" pitchFamily="18" charset="0"/>
              </a:rPr>
              <a:t>Malithi De Silva</a:t>
            </a:r>
          </a:p>
          <a:p>
            <a:pPr marL="0" indent="0" algn="ctr">
              <a:lnSpc>
                <a:spcPct val="150000"/>
              </a:lnSpc>
            </a:pPr>
            <a:r>
              <a:rPr lang="en-MY" b="1" dirty="0">
                <a:latin typeface="+mn-lt"/>
                <a:cs typeface="Times New Roman" panose="02020603050405020304" pitchFamily="18" charset="0"/>
              </a:rPr>
              <a:t>22058205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lt2"/>
                </a:solidFill>
                <a:latin typeface="+mj-lt"/>
                <a:cs typeface="Calibri" panose="020F0502020204030204" pitchFamily="34" charset="0"/>
              </a:rPr>
              <a:t>Contents</a:t>
            </a:r>
            <a:endParaRPr sz="4400" dirty="0">
              <a:solidFill>
                <a:schemeClr val="lt2"/>
              </a:solidFill>
              <a:latin typeface="+mj-lt"/>
              <a:cs typeface="Calibri" panose="020F0502020204030204" pitchFamily="34" charset="0"/>
            </a:endParaRPr>
          </a:p>
        </p:txBody>
      </p:sp>
      <p:graphicFrame>
        <p:nvGraphicFramePr>
          <p:cNvPr id="266" name="Google Shape;266;p31"/>
          <p:cNvGraphicFramePr/>
          <p:nvPr>
            <p:extLst>
              <p:ext uri="{D42A27DB-BD31-4B8C-83A1-F6EECF244321}">
                <p14:modId xmlns:p14="http://schemas.microsoft.com/office/powerpoint/2010/main" val="1889195063"/>
              </p:ext>
            </p:extLst>
          </p:nvPr>
        </p:nvGraphicFramePr>
        <p:xfrm>
          <a:off x="1716925" y="1464490"/>
          <a:ext cx="5710150" cy="2471404"/>
        </p:xfrm>
        <a:graphic>
          <a:graphicData uri="http://schemas.openxmlformats.org/drawingml/2006/table">
            <a:tbl>
              <a:tblPr>
                <a:noFill/>
                <a:tableStyleId>{F56950C4-1E84-488A-8373-B8880B70C4BE}</a:tableStyleId>
              </a:tblPr>
              <a:tblGrid>
                <a:gridCol w="571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78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0" u="none" dirty="0">
                          <a:solidFill>
                            <a:schemeClr val="lt1"/>
                          </a:solidFill>
                          <a:latin typeface="+mn-lt"/>
                          <a:ea typeface="PT Sans"/>
                          <a:cs typeface="PT Sans"/>
                          <a:sym typeface="PT Sans"/>
                        </a:rPr>
                        <a:t>BACKGROUND OF STUDY</a:t>
                      </a:r>
                      <a:endParaRPr sz="2000" b="0" u="none" dirty="0">
                        <a:solidFill>
                          <a:schemeClr val="lt1"/>
                        </a:solidFill>
                        <a:latin typeface="+mn-lt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8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0" u="none" dirty="0">
                          <a:solidFill>
                            <a:schemeClr val="lt1"/>
                          </a:solidFill>
                          <a:latin typeface="+mn-lt"/>
                          <a:ea typeface="PT Sans"/>
                          <a:cs typeface="PT Sans"/>
                          <a:sym typeface="PT Sans"/>
                        </a:rPr>
                        <a:t>METHODOLOGY</a:t>
                      </a:r>
                      <a:endParaRPr sz="2000" b="0" u="none" dirty="0">
                        <a:solidFill>
                          <a:schemeClr val="lt1"/>
                        </a:solidFill>
                        <a:latin typeface="+mn-lt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8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0" u="none" dirty="0">
                          <a:solidFill>
                            <a:schemeClr val="lt1"/>
                          </a:solidFill>
                          <a:latin typeface="+mn-lt"/>
                          <a:ea typeface="PT Sans"/>
                          <a:cs typeface="PT Sans"/>
                          <a:sym typeface="PT Sans"/>
                        </a:rPr>
                        <a:t>RESULTS &amp; DISCUSSION</a:t>
                      </a:r>
                      <a:endParaRPr sz="2000" b="0" u="none" dirty="0">
                        <a:solidFill>
                          <a:schemeClr val="lt1"/>
                        </a:solidFill>
                        <a:latin typeface="+mn-lt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8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0" u="none" dirty="0">
                          <a:solidFill>
                            <a:schemeClr val="lt1"/>
                          </a:solidFill>
                          <a:latin typeface="+mn-lt"/>
                          <a:ea typeface="PT Sans"/>
                          <a:cs typeface="PT Sans"/>
                          <a:sym typeface="PT Sans"/>
                        </a:rPr>
                        <a:t>CONCLUSION</a:t>
                      </a:r>
                      <a:endParaRPr sz="2000" b="0" u="none" dirty="0">
                        <a:solidFill>
                          <a:schemeClr val="lt1"/>
                        </a:solidFill>
                        <a:latin typeface="+mn-lt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oogle Shape;344;p35">
            <a:extLst>
              <a:ext uri="{FF2B5EF4-FFF2-40B4-BE49-F238E27FC236}">
                <a16:creationId xmlns:a16="http://schemas.microsoft.com/office/drawing/2014/main" id="{54C3C727-C714-E9FC-FFE9-A29C8AD0B3FB}"/>
              </a:ext>
            </a:extLst>
          </p:cNvPr>
          <p:cNvGrpSpPr/>
          <p:nvPr/>
        </p:nvGrpSpPr>
        <p:grpSpPr>
          <a:xfrm>
            <a:off x="5840148" y="4338152"/>
            <a:ext cx="2226149" cy="407875"/>
            <a:chOff x="1291500" y="3868551"/>
            <a:chExt cx="2226149" cy="407875"/>
          </a:xfrm>
        </p:grpSpPr>
        <p:grpSp>
          <p:nvGrpSpPr>
            <p:cNvPr id="3" name="Google Shape;345;p35">
              <a:extLst>
                <a:ext uri="{FF2B5EF4-FFF2-40B4-BE49-F238E27FC236}">
                  <a16:creationId xmlns:a16="http://schemas.microsoft.com/office/drawing/2014/main" id="{88EF8B67-8B5D-5BEB-5059-98B184B0894D}"/>
                </a:ext>
              </a:extLst>
            </p:cNvPr>
            <p:cNvGrpSpPr/>
            <p:nvPr/>
          </p:nvGrpSpPr>
          <p:grpSpPr>
            <a:xfrm>
              <a:off x="1291500" y="3868551"/>
              <a:ext cx="2075273" cy="407875"/>
              <a:chOff x="3566000" y="3011976"/>
              <a:chExt cx="2075273" cy="407875"/>
            </a:xfrm>
          </p:grpSpPr>
          <p:sp>
            <p:nvSpPr>
              <p:cNvPr id="5" name="Google Shape;346;p35">
                <a:extLst>
                  <a:ext uri="{FF2B5EF4-FFF2-40B4-BE49-F238E27FC236}">
                    <a16:creationId xmlns:a16="http://schemas.microsoft.com/office/drawing/2014/main" id="{C7A17A7D-C495-1516-1E80-45B26FC9B767}"/>
                  </a:ext>
                </a:extLst>
              </p:cNvPr>
              <p:cNvSpPr/>
              <p:nvPr/>
            </p:nvSpPr>
            <p:spPr>
              <a:xfrm>
                <a:off x="3566000" y="3011976"/>
                <a:ext cx="1037645" cy="407875"/>
              </a:xfrm>
              <a:custGeom>
                <a:avLst/>
                <a:gdLst/>
                <a:ahLst/>
                <a:cxnLst/>
                <a:rect l="l" t="t" r="r" b="b"/>
                <a:pathLst>
                  <a:path w="24196" h="17303" fill="none" extrusionOk="0">
                    <a:moveTo>
                      <a:pt x="13376" y="17302"/>
                    </a:moveTo>
                    <a:cubicBezTo>
                      <a:pt x="12920" y="17302"/>
                      <a:pt x="12760" y="15248"/>
                      <a:pt x="12463" y="8651"/>
                    </a:cubicBezTo>
                    <a:cubicBezTo>
                      <a:pt x="12303" y="4999"/>
                      <a:pt x="12098" y="457"/>
                      <a:pt x="11778" y="183"/>
                    </a:cubicBezTo>
                    <a:cubicBezTo>
                      <a:pt x="11504" y="366"/>
                      <a:pt x="11253" y="3744"/>
                      <a:pt x="11048" y="6209"/>
                    </a:cubicBezTo>
                    <a:cubicBezTo>
                      <a:pt x="10683" y="10934"/>
                      <a:pt x="10500" y="12395"/>
                      <a:pt x="10089" y="12395"/>
                    </a:cubicBezTo>
                    <a:cubicBezTo>
                      <a:pt x="9701" y="12395"/>
                      <a:pt x="9541" y="11687"/>
                      <a:pt x="9382" y="10843"/>
                    </a:cubicBezTo>
                    <a:cubicBezTo>
                      <a:pt x="9245" y="10249"/>
                      <a:pt x="9085" y="9450"/>
                      <a:pt x="8879" y="9450"/>
                    </a:cubicBezTo>
                    <a:cubicBezTo>
                      <a:pt x="8651" y="9450"/>
                      <a:pt x="8514" y="10044"/>
                      <a:pt x="8377" y="10523"/>
                    </a:cubicBezTo>
                    <a:cubicBezTo>
                      <a:pt x="8218" y="11139"/>
                      <a:pt x="8058" y="11733"/>
                      <a:pt x="7693" y="11733"/>
                    </a:cubicBezTo>
                    <a:lnTo>
                      <a:pt x="0" y="11733"/>
                    </a:lnTo>
                    <a:lnTo>
                      <a:pt x="0" y="11527"/>
                    </a:lnTo>
                    <a:lnTo>
                      <a:pt x="7693" y="11527"/>
                    </a:lnTo>
                    <a:cubicBezTo>
                      <a:pt x="7898" y="11527"/>
                      <a:pt x="8058" y="10934"/>
                      <a:pt x="8172" y="10455"/>
                    </a:cubicBezTo>
                    <a:cubicBezTo>
                      <a:pt x="8354" y="9838"/>
                      <a:pt x="8491" y="9245"/>
                      <a:pt x="8879" y="9245"/>
                    </a:cubicBezTo>
                    <a:cubicBezTo>
                      <a:pt x="9245" y="9245"/>
                      <a:pt x="9404" y="9975"/>
                      <a:pt x="9564" y="10797"/>
                    </a:cubicBezTo>
                    <a:cubicBezTo>
                      <a:pt x="9701" y="11390"/>
                      <a:pt x="9861" y="12189"/>
                      <a:pt x="10066" y="12189"/>
                    </a:cubicBezTo>
                    <a:cubicBezTo>
                      <a:pt x="10386" y="12030"/>
                      <a:pt x="10660" y="8651"/>
                      <a:pt x="10842" y="6186"/>
                    </a:cubicBezTo>
                    <a:cubicBezTo>
                      <a:pt x="11208" y="1461"/>
                      <a:pt x="11390" y="1"/>
                      <a:pt x="11801" y="1"/>
                    </a:cubicBezTo>
                    <a:cubicBezTo>
                      <a:pt x="12212" y="1"/>
                      <a:pt x="12372" y="2055"/>
                      <a:pt x="12668" y="8651"/>
                    </a:cubicBezTo>
                    <a:cubicBezTo>
                      <a:pt x="12828" y="12303"/>
                      <a:pt x="13034" y="16846"/>
                      <a:pt x="13353" y="17120"/>
                    </a:cubicBezTo>
                    <a:cubicBezTo>
                      <a:pt x="13513" y="16960"/>
                      <a:pt x="13627" y="15248"/>
                      <a:pt x="13718" y="13993"/>
                    </a:cubicBezTo>
                    <a:cubicBezTo>
                      <a:pt x="13901" y="11413"/>
                      <a:pt x="13992" y="10706"/>
                      <a:pt x="14266" y="10706"/>
                    </a:cubicBezTo>
                    <a:cubicBezTo>
                      <a:pt x="14563" y="10706"/>
                      <a:pt x="14700" y="11025"/>
                      <a:pt x="14814" y="11322"/>
                    </a:cubicBezTo>
                    <a:cubicBezTo>
                      <a:pt x="14905" y="11550"/>
                      <a:pt x="15019" y="11778"/>
                      <a:pt x="15156" y="11778"/>
                    </a:cubicBezTo>
                    <a:lnTo>
                      <a:pt x="15156" y="11778"/>
                    </a:lnTo>
                    <a:cubicBezTo>
                      <a:pt x="15430" y="11778"/>
                      <a:pt x="15613" y="10660"/>
                      <a:pt x="15727" y="9930"/>
                    </a:cubicBezTo>
                    <a:cubicBezTo>
                      <a:pt x="15932" y="8674"/>
                      <a:pt x="16092" y="7898"/>
                      <a:pt x="16480" y="7898"/>
                    </a:cubicBezTo>
                    <a:cubicBezTo>
                      <a:pt x="16868" y="7898"/>
                      <a:pt x="17005" y="8857"/>
                      <a:pt x="17234" y="10569"/>
                    </a:cubicBezTo>
                    <a:cubicBezTo>
                      <a:pt x="17348" y="11482"/>
                      <a:pt x="17553" y="13034"/>
                      <a:pt x="17781" y="13034"/>
                    </a:cubicBezTo>
                    <a:cubicBezTo>
                      <a:pt x="17941" y="13034"/>
                      <a:pt x="18078" y="12258"/>
                      <a:pt x="18147" y="11847"/>
                    </a:cubicBezTo>
                    <a:cubicBezTo>
                      <a:pt x="18306" y="11025"/>
                      <a:pt x="18420" y="10500"/>
                      <a:pt x="18717" y="10500"/>
                    </a:cubicBezTo>
                    <a:cubicBezTo>
                      <a:pt x="19037" y="10500"/>
                      <a:pt x="19151" y="10980"/>
                      <a:pt x="19288" y="11459"/>
                    </a:cubicBezTo>
                    <a:cubicBezTo>
                      <a:pt x="19356" y="11801"/>
                      <a:pt x="19493" y="12258"/>
                      <a:pt x="19630" y="12258"/>
                    </a:cubicBezTo>
                    <a:cubicBezTo>
                      <a:pt x="19721" y="12258"/>
                      <a:pt x="19790" y="12075"/>
                      <a:pt x="19836" y="11938"/>
                    </a:cubicBezTo>
                    <a:cubicBezTo>
                      <a:pt x="19904" y="11733"/>
                      <a:pt x="19973" y="11527"/>
                      <a:pt x="20155" y="11527"/>
                    </a:cubicBezTo>
                    <a:lnTo>
                      <a:pt x="24195" y="11527"/>
                    </a:lnTo>
                    <a:lnTo>
                      <a:pt x="24195" y="11733"/>
                    </a:lnTo>
                    <a:lnTo>
                      <a:pt x="20155" y="11733"/>
                    </a:lnTo>
                    <a:cubicBezTo>
                      <a:pt x="20110" y="11733"/>
                      <a:pt x="20064" y="11915"/>
                      <a:pt x="20018" y="11984"/>
                    </a:cubicBezTo>
                    <a:cubicBezTo>
                      <a:pt x="19950" y="12189"/>
                      <a:pt x="19881" y="12463"/>
                      <a:pt x="19630" y="12463"/>
                    </a:cubicBezTo>
                    <a:cubicBezTo>
                      <a:pt x="19333" y="12463"/>
                      <a:pt x="19197" y="12007"/>
                      <a:pt x="19082" y="11505"/>
                    </a:cubicBezTo>
                    <a:cubicBezTo>
                      <a:pt x="18991" y="11162"/>
                      <a:pt x="18877" y="10706"/>
                      <a:pt x="18717" y="10706"/>
                    </a:cubicBezTo>
                    <a:cubicBezTo>
                      <a:pt x="18580" y="10706"/>
                      <a:pt x="18443" y="11482"/>
                      <a:pt x="18352" y="11893"/>
                    </a:cubicBezTo>
                    <a:cubicBezTo>
                      <a:pt x="18215" y="12737"/>
                      <a:pt x="18101" y="13239"/>
                      <a:pt x="17804" y="13239"/>
                    </a:cubicBezTo>
                    <a:cubicBezTo>
                      <a:pt x="17393" y="13239"/>
                      <a:pt x="17256" y="12281"/>
                      <a:pt x="17028" y="10592"/>
                    </a:cubicBezTo>
                    <a:cubicBezTo>
                      <a:pt x="16914" y="9656"/>
                      <a:pt x="16709" y="8104"/>
                      <a:pt x="16480" y="8104"/>
                    </a:cubicBezTo>
                    <a:cubicBezTo>
                      <a:pt x="16229" y="8104"/>
                      <a:pt x="16047" y="9222"/>
                      <a:pt x="15932" y="9975"/>
                    </a:cubicBezTo>
                    <a:cubicBezTo>
                      <a:pt x="15727" y="11231"/>
                      <a:pt x="15567" y="11984"/>
                      <a:pt x="15179" y="11984"/>
                    </a:cubicBezTo>
                    <a:cubicBezTo>
                      <a:pt x="14883" y="11984"/>
                      <a:pt x="14746" y="11664"/>
                      <a:pt x="14631" y="11390"/>
                    </a:cubicBezTo>
                    <a:cubicBezTo>
                      <a:pt x="14517" y="11162"/>
                      <a:pt x="14426" y="10911"/>
                      <a:pt x="14266" y="10911"/>
                    </a:cubicBezTo>
                    <a:cubicBezTo>
                      <a:pt x="14129" y="11048"/>
                      <a:pt x="14015" y="12760"/>
                      <a:pt x="13924" y="14015"/>
                    </a:cubicBezTo>
                    <a:cubicBezTo>
                      <a:pt x="13741" y="16595"/>
                      <a:pt x="13650" y="17302"/>
                      <a:pt x="13376" y="17302"/>
                    </a:cubicBezTo>
                    <a:close/>
                  </a:path>
                </a:pathLst>
              </a:custGeom>
              <a:solidFill>
                <a:srgbClr val="EF3455"/>
              </a:solidFill>
              <a:ln w="19050" cap="flat" cmpd="sng">
                <a:solidFill>
                  <a:srgbClr val="EF3455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6" name="Google Shape;347;p35">
                <a:extLst>
                  <a:ext uri="{FF2B5EF4-FFF2-40B4-BE49-F238E27FC236}">
                    <a16:creationId xmlns:a16="http://schemas.microsoft.com/office/drawing/2014/main" id="{E7DC03F3-C775-2F96-2C8E-CEA6CC636304}"/>
                  </a:ext>
                </a:extLst>
              </p:cNvPr>
              <p:cNvSpPr/>
              <p:nvPr/>
            </p:nvSpPr>
            <p:spPr>
              <a:xfrm>
                <a:off x="4603627" y="3011976"/>
                <a:ext cx="1037645" cy="407875"/>
              </a:xfrm>
              <a:custGeom>
                <a:avLst/>
                <a:gdLst/>
                <a:ahLst/>
                <a:cxnLst/>
                <a:rect l="l" t="t" r="r" b="b"/>
                <a:pathLst>
                  <a:path w="24196" h="17303" fill="none" extrusionOk="0">
                    <a:moveTo>
                      <a:pt x="13376" y="17302"/>
                    </a:moveTo>
                    <a:cubicBezTo>
                      <a:pt x="12920" y="17302"/>
                      <a:pt x="12760" y="15248"/>
                      <a:pt x="12463" y="8651"/>
                    </a:cubicBezTo>
                    <a:cubicBezTo>
                      <a:pt x="12303" y="4999"/>
                      <a:pt x="12098" y="457"/>
                      <a:pt x="11778" y="183"/>
                    </a:cubicBezTo>
                    <a:cubicBezTo>
                      <a:pt x="11504" y="366"/>
                      <a:pt x="11253" y="3744"/>
                      <a:pt x="11048" y="6209"/>
                    </a:cubicBezTo>
                    <a:cubicBezTo>
                      <a:pt x="10683" y="10934"/>
                      <a:pt x="10500" y="12395"/>
                      <a:pt x="10089" y="12395"/>
                    </a:cubicBezTo>
                    <a:cubicBezTo>
                      <a:pt x="9701" y="12395"/>
                      <a:pt x="9541" y="11687"/>
                      <a:pt x="9382" y="10843"/>
                    </a:cubicBezTo>
                    <a:cubicBezTo>
                      <a:pt x="9245" y="10249"/>
                      <a:pt x="9085" y="9450"/>
                      <a:pt x="8879" y="9450"/>
                    </a:cubicBezTo>
                    <a:cubicBezTo>
                      <a:pt x="8651" y="9450"/>
                      <a:pt x="8514" y="10044"/>
                      <a:pt x="8377" y="10523"/>
                    </a:cubicBezTo>
                    <a:cubicBezTo>
                      <a:pt x="8218" y="11139"/>
                      <a:pt x="8058" y="11733"/>
                      <a:pt x="7693" y="11733"/>
                    </a:cubicBezTo>
                    <a:lnTo>
                      <a:pt x="0" y="11733"/>
                    </a:lnTo>
                    <a:lnTo>
                      <a:pt x="0" y="11527"/>
                    </a:lnTo>
                    <a:lnTo>
                      <a:pt x="7693" y="11527"/>
                    </a:lnTo>
                    <a:cubicBezTo>
                      <a:pt x="7898" y="11527"/>
                      <a:pt x="8058" y="10934"/>
                      <a:pt x="8172" y="10455"/>
                    </a:cubicBezTo>
                    <a:cubicBezTo>
                      <a:pt x="8354" y="9838"/>
                      <a:pt x="8491" y="9245"/>
                      <a:pt x="8879" y="9245"/>
                    </a:cubicBezTo>
                    <a:cubicBezTo>
                      <a:pt x="9245" y="9245"/>
                      <a:pt x="9404" y="9975"/>
                      <a:pt x="9564" y="10797"/>
                    </a:cubicBezTo>
                    <a:cubicBezTo>
                      <a:pt x="9701" y="11390"/>
                      <a:pt x="9861" y="12189"/>
                      <a:pt x="10066" y="12189"/>
                    </a:cubicBezTo>
                    <a:cubicBezTo>
                      <a:pt x="10386" y="12030"/>
                      <a:pt x="10660" y="8651"/>
                      <a:pt x="10842" y="6186"/>
                    </a:cubicBezTo>
                    <a:cubicBezTo>
                      <a:pt x="11208" y="1461"/>
                      <a:pt x="11390" y="1"/>
                      <a:pt x="11801" y="1"/>
                    </a:cubicBezTo>
                    <a:cubicBezTo>
                      <a:pt x="12212" y="1"/>
                      <a:pt x="12372" y="2055"/>
                      <a:pt x="12668" y="8651"/>
                    </a:cubicBezTo>
                    <a:cubicBezTo>
                      <a:pt x="12828" y="12303"/>
                      <a:pt x="13034" y="16846"/>
                      <a:pt x="13353" y="17120"/>
                    </a:cubicBezTo>
                    <a:cubicBezTo>
                      <a:pt x="13513" y="16960"/>
                      <a:pt x="13627" y="15248"/>
                      <a:pt x="13718" y="13993"/>
                    </a:cubicBezTo>
                    <a:cubicBezTo>
                      <a:pt x="13901" y="11413"/>
                      <a:pt x="13992" y="10706"/>
                      <a:pt x="14266" y="10706"/>
                    </a:cubicBezTo>
                    <a:cubicBezTo>
                      <a:pt x="14563" y="10706"/>
                      <a:pt x="14700" y="11025"/>
                      <a:pt x="14814" y="11322"/>
                    </a:cubicBezTo>
                    <a:cubicBezTo>
                      <a:pt x="14905" y="11550"/>
                      <a:pt x="15019" y="11778"/>
                      <a:pt x="15156" y="11778"/>
                    </a:cubicBezTo>
                    <a:lnTo>
                      <a:pt x="15156" y="11778"/>
                    </a:lnTo>
                    <a:cubicBezTo>
                      <a:pt x="15430" y="11778"/>
                      <a:pt x="15613" y="10660"/>
                      <a:pt x="15727" y="9930"/>
                    </a:cubicBezTo>
                    <a:cubicBezTo>
                      <a:pt x="15932" y="8674"/>
                      <a:pt x="16092" y="7898"/>
                      <a:pt x="16480" y="7898"/>
                    </a:cubicBezTo>
                    <a:cubicBezTo>
                      <a:pt x="16868" y="7898"/>
                      <a:pt x="17005" y="8857"/>
                      <a:pt x="17234" y="10569"/>
                    </a:cubicBezTo>
                    <a:cubicBezTo>
                      <a:pt x="17348" y="11482"/>
                      <a:pt x="17553" y="13034"/>
                      <a:pt x="17781" y="13034"/>
                    </a:cubicBezTo>
                    <a:cubicBezTo>
                      <a:pt x="17941" y="13034"/>
                      <a:pt x="18078" y="12258"/>
                      <a:pt x="18147" y="11847"/>
                    </a:cubicBezTo>
                    <a:cubicBezTo>
                      <a:pt x="18306" y="11025"/>
                      <a:pt x="18420" y="10500"/>
                      <a:pt x="18717" y="10500"/>
                    </a:cubicBezTo>
                    <a:cubicBezTo>
                      <a:pt x="19037" y="10500"/>
                      <a:pt x="19151" y="10980"/>
                      <a:pt x="19288" y="11459"/>
                    </a:cubicBezTo>
                    <a:cubicBezTo>
                      <a:pt x="19356" y="11801"/>
                      <a:pt x="19493" y="12258"/>
                      <a:pt x="19630" y="12258"/>
                    </a:cubicBezTo>
                    <a:cubicBezTo>
                      <a:pt x="19721" y="12258"/>
                      <a:pt x="19790" y="12075"/>
                      <a:pt x="19836" y="11938"/>
                    </a:cubicBezTo>
                    <a:cubicBezTo>
                      <a:pt x="19904" y="11733"/>
                      <a:pt x="19973" y="11527"/>
                      <a:pt x="20155" y="11527"/>
                    </a:cubicBezTo>
                    <a:lnTo>
                      <a:pt x="24195" y="11527"/>
                    </a:lnTo>
                    <a:lnTo>
                      <a:pt x="24195" y="11733"/>
                    </a:lnTo>
                    <a:lnTo>
                      <a:pt x="20155" y="11733"/>
                    </a:lnTo>
                    <a:cubicBezTo>
                      <a:pt x="20110" y="11733"/>
                      <a:pt x="20064" y="11915"/>
                      <a:pt x="20018" y="11984"/>
                    </a:cubicBezTo>
                    <a:cubicBezTo>
                      <a:pt x="19950" y="12189"/>
                      <a:pt x="19881" y="12463"/>
                      <a:pt x="19630" y="12463"/>
                    </a:cubicBezTo>
                    <a:cubicBezTo>
                      <a:pt x="19333" y="12463"/>
                      <a:pt x="19197" y="12007"/>
                      <a:pt x="19082" y="11505"/>
                    </a:cubicBezTo>
                    <a:cubicBezTo>
                      <a:pt x="18991" y="11162"/>
                      <a:pt x="18877" y="10706"/>
                      <a:pt x="18717" y="10706"/>
                    </a:cubicBezTo>
                    <a:cubicBezTo>
                      <a:pt x="18580" y="10706"/>
                      <a:pt x="18443" y="11482"/>
                      <a:pt x="18352" y="11893"/>
                    </a:cubicBezTo>
                    <a:cubicBezTo>
                      <a:pt x="18215" y="12737"/>
                      <a:pt x="18101" y="13239"/>
                      <a:pt x="17804" y="13239"/>
                    </a:cubicBezTo>
                    <a:cubicBezTo>
                      <a:pt x="17393" y="13239"/>
                      <a:pt x="17256" y="12281"/>
                      <a:pt x="17028" y="10592"/>
                    </a:cubicBezTo>
                    <a:cubicBezTo>
                      <a:pt x="16914" y="9656"/>
                      <a:pt x="16709" y="8104"/>
                      <a:pt x="16480" y="8104"/>
                    </a:cubicBezTo>
                    <a:cubicBezTo>
                      <a:pt x="16229" y="8104"/>
                      <a:pt x="16047" y="9222"/>
                      <a:pt x="15932" y="9975"/>
                    </a:cubicBezTo>
                    <a:cubicBezTo>
                      <a:pt x="15727" y="11231"/>
                      <a:pt x="15567" y="11984"/>
                      <a:pt x="15179" y="11984"/>
                    </a:cubicBezTo>
                    <a:cubicBezTo>
                      <a:pt x="14883" y="11984"/>
                      <a:pt x="14746" y="11664"/>
                      <a:pt x="14631" y="11390"/>
                    </a:cubicBezTo>
                    <a:cubicBezTo>
                      <a:pt x="14517" y="11162"/>
                      <a:pt x="14426" y="10911"/>
                      <a:pt x="14266" y="10911"/>
                    </a:cubicBezTo>
                    <a:cubicBezTo>
                      <a:pt x="14129" y="11048"/>
                      <a:pt x="14015" y="12760"/>
                      <a:pt x="13924" y="14015"/>
                    </a:cubicBezTo>
                    <a:cubicBezTo>
                      <a:pt x="13741" y="16595"/>
                      <a:pt x="13650" y="17302"/>
                      <a:pt x="13376" y="17302"/>
                    </a:cubicBezTo>
                    <a:close/>
                  </a:path>
                </a:pathLst>
              </a:custGeom>
              <a:solidFill>
                <a:srgbClr val="EF3455"/>
              </a:solidFill>
              <a:ln w="19050" cap="flat" cmpd="sng">
                <a:solidFill>
                  <a:srgbClr val="EF3455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</p:grpSp>
        <p:sp>
          <p:nvSpPr>
            <p:cNvPr id="4" name="Google Shape;348;p35">
              <a:extLst>
                <a:ext uri="{FF2B5EF4-FFF2-40B4-BE49-F238E27FC236}">
                  <a16:creationId xmlns:a16="http://schemas.microsoft.com/office/drawing/2014/main" id="{1BEC0AF9-305F-8174-CF74-6082C9453417}"/>
                </a:ext>
              </a:extLst>
            </p:cNvPr>
            <p:cNvSpPr/>
            <p:nvPr/>
          </p:nvSpPr>
          <p:spPr>
            <a:xfrm>
              <a:off x="3341549" y="4070726"/>
              <a:ext cx="176100" cy="171900"/>
            </a:xfrm>
            <a:prstGeom prst="heart">
              <a:avLst/>
            </a:prstGeom>
            <a:solidFill>
              <a:srgbClr val="EF34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  <a:ea typeface="PT Sans"/>
                <a:cs typeface="PT Sans"/>
                <a:sym typeface="PT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tethoscope and a heart&#10;&#10;Description automatically generated">
            <a:extLst>
              <a:ext uri="{FF2B5EF4-FFF2-40B4-BE49-F238E27FC236}">
                <a16:creationId xmlns:a16="http://schemas.microsoft.com/office/drawing/2014/main" id="{6AE3664B-2955-6AB5-FB8D-A07936625A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blurRad="683420" dist="50800" dir="6060000" sx="108019" sy="108019" algn="ctr" rotWithShape="0">
              <a:srgbClr val="000000"/>
            </a:outerShdw>
          </a:effectLst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7CAF5A06-3778-AF68-B35D-B0817F2D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66" y="273048"/>
            <a:ext cx="7886700" cy="990601"/>
          </a:xfrm>
          <a:effectLst>
            <a:outerShdw blurRad="50800" dist="50800" dir="5400000" algn="ctr" rotWithShape="0">
              <a:srgbClr val="000000">
                <a:alpha val="5623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B1D9F54-C429-C878-94EB-D3E9F3FFBBA7}"/>
              </a:ext>
            </a:extLst>
          </p:cNvPr>
          <p:cNvSpPr txBox="1">
            <a:spLocks/>
          </p:cNvSpPr>
          <p:nvPr/>
        </p:nvSpPr>
        <p:spPr>
          <a:xfrm>
            <a:off x="332055" y="1263649"/>
            <a:ext cx="4233862" cy="189388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b="1" dirty="0">
                <a:solidFill>
                  <a:srgbClr val="F3F3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 </a:t>
            </a:r>
            <a:br>
              <a:rPr lang="en-US" sz="4400" b="1" dirty="0">
                <a:solidFill>
                  <a:srgbClr val="F3F3F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b="1" dirty="0">
                <a:solidFill>
                  <a:srgbClr val="F3F3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Study</a:t>
            </a:r>
          </a:p>
        </p:txBody>
      </p:sp>
    </p:spTree>
    <p:extLst>
      <p:ext uri="{BB962C8B-B14F-4D97-AF65-F5344CB8AC3E}">
        <p14:creationId xmlns:p14="http://schemas.microsoft.com/office/powerpoint/2010/main" val="3815127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503AC17-F774-2528-198E-1B5A82AF376C}"/>
              </a:ext>
            </a:extLst>
          </p:cNvPr>
          <p:cNvSpPr txBox="1"/>
          <p:nvPr/>
        </p:nvSpPr>
        <p:spPr>
          <a:xfrm>
            <a:off x="98580" y="4927888"/>
            <a:ext cx="3635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</a:rPr>
              <a:t>Sourced from: </a:t>
            </a:r>
            <a:r>
              <a:rPr lang="en-MY" sz="1200" dirty="0">
                <a:latin typeface="Times New Roman" panose="02020603050405020304" pitchFamily="18" charset="0"/>
              </a:rPr>
              <a:t>WHO (2021); World Heart Federation.</a:t>
            </a:r>
            <a:r>
              <a:rPr lang="en-US" sz="12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F4467D-C013-0C38-B657-A0EB0FA21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59" y="289114"/>
            <a:ext cx="7704000" cy="572700"/>
          </a:xfrm>
        </p:spPr>
        <p:txBody>
          <a:bodyPr/>
          <a:lstStyle/>
          <a:p>
            <a:r>
              <a:rPr lang="en-US" sz="3200" dirty="0">
                <a:solidFill>
                  <a:srgbClr val="D71D26"/>
                </a:solidFill>
                <a:latin typeface="+mn-lt"/>
              </a:rPr>
              <a:t>CARDIOVASCULAR DISEASE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9AC84A-A588-F36D-3B0D-AEA324CC9E75}"/>
              </a:ext>
            </a:extLst>
          </p:cNvPr>
          <p:cNvGrpSpPr/>
          <p:nvPr/>
        </p:nvGrpSpPr>
        <p:grpSpPr>
          <a:xfrm>
            <a:off x="183118" y="1248740"/>
            <a:ext cx="4481809" cy="3679148"/>
            <a:chOff x="183118" y="1248740"/>
            <a:chExt cx="4481809" cy="367914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28C28F-954E-51C3-CD8B-DDE097E553BE}"/>
                </a:ext>
              </a:extLst>
            </p:cNvPr>
            <p:cNvSpPr txBox="1"/>
            <p:nvPr/>
          </p:nvSpPr>
          <p:spPr>
            <a:xfrm>
              <a:off x="205275" y="1248740"/>
              <a:ext cx="4366726" cy="3679148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8" name="Picture 7" descr="A close-up of a white and red poster&#10;&#10;Description automatically generated">
              <a:extLst>
                <a:ext uri="{FF2B5EF4-FFF2-40B4-BE49-F238E27FC236}">
                  <a16:creationId xmlns:a16="http://schemas.microsoft.com/office/drawing/2014/main" id="{7710518C-2BF6-63E7-457E-E0D7D87AB6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40232" b="43264"/>
            <a:stretch/>
          </p:blipFill>
          <p:spPr>
            <a:xfrm>
              <a:off x="205274" y="2314371"/>
              <a:ext cx="4437496" cy="449989"/>
            </a:xfrm>
            <a:prstGeom prst="rect">
              <a:avLst/>
            </a:prstGeom>
          </p:spPr>
        </p:pic>
        <p:pic>
          <p:nvPicPr>
            <p:cNvPr id="9" name="Picture 8" descr="A close-up of a white and red poster&#10;&#10;Description automatically generated">
              <a:extLst>
                <a:ext uri="{FF2B5EF4-FFF2-40B4-BE49-F238E27FC236}">
                  <a16:creationId xmlns:a16="http://schemas.microsoft.com/office/drawing/2014/main" id="{01DF39FA-5A89-9313-1C26-E67AD4205E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798" t="24452" r="27565" b="57347"/>
            <a:stretch/>
          </p:blipFill>
          <p:spPr>
            <a:xfrm>
              <a:off x="275217" y="1669895"/>
              <a:ext cx="3742742" cy="394849"/>
            </a:xfrm>
            <a:prstGeom prst="rect">
              <a:avLst/>
            </a:prstGeom>
          </p:spPr>
        </p:pic>
        <p:pic>
          <p:nvPicPr>
            <p:cNvPr id="15" name="Picture 14" descr="A close-up of a white and red poster&#10;&#10;Description automatically generated">
              <a:extLst>
                <a:ext uri="{FF2B5EF4-FFF2-40B4-BE49-F238E27FC236}">
                  <a16:creationId xmlns:a16="http://schemas.microsoft.com/office/drawing/2014/main" id="{27C39DC9-428E-30F4-5A78-BD45B3057D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7929"/>
            <a:stretch/>
          </p:blipFill>
          <p:spPr>
            <a:xfrm>
              <a:off x="183118" y="2926292"/>
              <a:ext cx="4481809" cy="1369083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110922F-4FEF-E83F-577C-943CD0E29D66}"/>
              </a:ext>
            </a:extLst>
          </p:cNvPr>
          <p:cNvSpPr txBox="1"/>
          <p:nvPr/>
        </p:nvSpPr>
        <p:spPr>
          <a:xfrm>
            <a:off x="5370963" y="4927888"/>
            <a:ext cx="30364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</a:rPr>
              <a:t>Sourced from: </a:t>
            </a:r>
            <a:r>
              <a:rPr lang="en-MY" sz="1200" dirty="0">
                <a:latin typeface="Times New Roman" panose="02020603050405020304" pitchFamily="18" charset="0"/>
              </a:rPr>
              <a:t>IHME, IQVIA analysis, (2023)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4453F9-DEAF-415C-A587-E98508ED2FF8}"/>
              </a:ext>
            </a:extLst>
          </p:cNvPr>
          <p:cNvGrpSpPr/>
          <p:nvPr/>
        </p:nvGrpSpPr>
        <p:grpSpPr>
          <a:xfrm>
            <a:off x="4641943" y="1248740"/>
            <a:ext cx="4366953" cy="3679148"/>
            <a:chOff x="4641943" y="1248740"/>
            <a:chExt cx="4366953" cy="367914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A87A6-2E04-6A14-D5C4-1256C1FC6D8E}"/>
                </a:ext>
              </a:extLst>
            </p:cNvPr>
            <p:cNvSpPr txBox="1"/>
            <p:nvPr/>
          </p:nvSpPr>
          <p:spPr>
            <a:xfrm>
              <a:off x="4641943" y="1248740"/>
              <a:ext cx="4278429" cy="3679148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5" name="Picture 4" descr="A graph with a line and a red line&#10;&#10;Description automatically generated">
              <a:extLst>
                <a:ext uri="{FF2B5EF4-FFF2-40B4-BE49-F238E27FC236}">
                  <a16:creationId xmlns:a16="http://schemas.microsoft.com/office/drawing/2014/main" id="{DFA525E7-51F5-3469-B425-985A683035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68" t="3820" r="426"/>
            <a:stretch/>
          </p:blipFill>
          <p:spPr>
            <a:xfrm>
              <a:off x="4738670" y="2500403"/>
              <a:ext cx="4103045" cy="224067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BAABC4-B0D4-D4BC-6DA8-72E0F59F1E8C}"/>
                </a:ext>
              </a:extLst>
            </p:cNvPr>
            <p:cNvSpPr txBox="1"/>
            <p:nvPr/>
          </p:nvSpPr>
          <p:spPr>
            <a:xfrm>
              <a:off x="4817327" y="1590257"/>
              <a:ext cx="419156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>
                  <a:latin typeface="Arial" panose="020B0604020202020204" pitchFamily="34" charset="0"/>
                  <a:cs typeface="Arial" panose="020B0604020202020204" pitchFamily="34" charset="0"/>
                </a:rPr>
                <a:t>CVD has been the leading cause of death in </a:t>
              </a:r>
              <a:r>
                <a:rPr lang="en-MY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Malaysia</a:t>
              </a:r>
              <a:r>
                <a:rPr lang="en-MY" dirty="0">
                  <a:latin typeface="Arial" panose="020B0604020202020204" pitchFamily="34" charset="0"/>
                  <a:cs typeface="Arial" panose="020B0604020202020204" pitchFamily="34" charset="0"/>
                </a:rPr>
                <a:t> since the </a:t>
              </a:r>
              <a:r>
                <a:rPr lang="en-MY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1980s</a:t>
              </a:r>
              <a:r>
                <a:rPr lang="en-MY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59B84CF-B755-D144-6D94-A61D04355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817327" y="2279313"/>
              <a:ext cx="3976131" cy="1748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3420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7" name="TextBox 5156">
            <a:extLst>
              <a:ext uri="{FF2B5EF4-FFF2-40B4-BE49-F238E27FC236}">
                <a16:creationId xmlns:a16="http://schemas.microsoft.com/office/drawing/2014/main" id="{4B0BD56E-72B5-62D4-3425-E92556E14900}"/>
              </a:ext>
            </a:extLst>
          </p:cNvPr>
          <p:cNvSpPr txBox="1"/>
          <p:nvPr/>
        </p:nvSpPr>
        <p:spPr>
          <a:xfrm>
            <a:off x="5700611" y="4930578"/>
            <a:ext cx="3392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Sourced from</a:t>
            </a:r>
            <a:r>
              <a:rPr lang="en-US" sz="1200" dirty="0">
                <a:latin typeface="Times New Roman" panose="02020603050405020304" pitchFamily="18" charset="0"/>
              </a:rPr>
              <a:t>: Hwang et al. (2022); </a:t>
            </a:r>
            <a:r>
              <a:rPr lang="en-MY" sz="1200" dirty="0">
                <a:latin typeface="Times New Roman" panose="02020603050405020304" pitchFamily="18" charset="0"/>
              </a:rPr>
              <a:t>DOSM, (2022)</a:t>
            </a:r>
            <a:r>
              <a:rPr lang="en-US" sz="12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3D8534-D3BB-ABC0-39EA-A020126CE708}"/>
              </a:ext>
            </a:extLst>
          </p:cNvPr>
          <p:cNvSpPr txBox="1"/>
          <p:nvPr/>
        </p:nvSpPr>
        <p:spPr>
          <a:xfrm>
            <a:off x="6055844" y="3199545"/>
            <a:ext cx="2765123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1600" b="1" dirty="0">
                <a:solidFill>
                  <a:schemeClr val="tx2"/>
                </a:solidFill>
              </a:rPr>
              <a:t>MI</a:t>
            </a:r>
            <a:r>
              <a:rPr lang="en-MY" sz="1600" b="1" dirty="0">
                <a:solidFill>
                  <a:schemeClr val="tx1"/>
                </a:solidFill>
              </a:rPr>
              <a:t>, &amp; </a:t>
            </a:r>
            <a:r>
              <a:rPr lang="en-MY" sz="1600" b="1" dirty="0">
                <a:solidFill>
                  <a:schemeClr val="tx2"/>
                </a:solidFill>
              </a:rPr>
              <a:t>Stroke</a:t>
            </a:r>
            <a:r>
              <a:rPr lang="en-MY" sz="1600" b="1" dirty="0">
                <a:solidFill>
                  <a:schemeClr val="tx1"/>
                </a:solidFill>
              </a:rPr>
              <a:t> are major contributors to the overall CVD burden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BCA2055-E7E8-C302-5863-AF6586840447}"/>
              </a:ext>
            </a:extLst>
          </p:cNvPr>
          <p:cNvGrpSpPr/>
          <p:nvPr/>
        </p:nvGrpSpPr>
        <p:grpSpPr>
          <a:xfrm>
            <a:off x="6014186" y="520755"/>
            <a:ext cx="2765123" cy="2285217"/>
            <a:chOff x="1853265" y="1630717"/>
            <a:chExt cx="2765123" cy="22655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885CCD-2321-0A04-E481-67F3CB495CE2}"/>
                </a:ext>
              </a:extLst>
            </p:cNvPr>
            <p:cNvSpPr/>
            <p:nvPr/>
          </p:nvSpPr>
          <p:spPr>
            <a:xfrm>
              <a:off x="1853265" y="1769217"/>
              <a:ext cx="2765123" cy="212703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612C6F7-9E63-454D-7588-DB186895BB2D}"/>
                </a:ext>
              </a:extLst>
            </p:cNvPr>
            <p:cNvSpPr txBox="1"/>
            <p:nvPr/>
          </p:nvSpPr>
          <p:spPr>
            <a:xfrm>
              <a:off x="2127873" y="1630717"/>
              <a:ext cx="2140142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just"/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03EFAFF-81E5-033B-AAB7-912C537DF069}"/>
                </a:ext>
              </a:extLst>
            </p:cNvPr>
            <p:cNvSpPr txBox="1"/>
            <p:nvPr/>
          </p:nvSpPr>
          <p:spPr>
            <a:xfrm>
              <a:off x="1924918" y="1806539"/>
              <a:ext cx="2664553" cy="19798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MY" sz="1200" dirty="0">
                  <a:solidFill>
                    <a:schemeClr val="bg1"/>
                  </a:solidFill>
                </a:rPr>
                <a:t>In Malaysia, IHD, which includes </a:t>
              </a:r>
              <a:r>
                <a:rPr lang="en-MY" sz="1200" dirty="0">
                  <a:solidFill>
                    <a:srgbClr val="FFFF00"/>
                  </a:solidFill>
                </a:rPr>
                <a:t>MyocardiaI Infarction</a:t>
              </a:r>
              <a:r>
                <a:rPr lang="en-MY" sz="1200" dirty="0">
                  <a:solidFill>
                    <a:schemeClr val="bg1"/>
                  </a:solidFill>
                </a:rPr>
                <a:t>, remains the leading cause of death.</a:t>
              </a:r>
              <a:br>
                <a:rPr lang="en-MY" sz="1200" dirty="0">
                  <a:solidFill>
                    <a:schemeClr val="bg1"/>
                  </a:solidFill>
                </a:rPr>
              </a:br>
              <a:endParaRPr lang="en-MY" sz="1200" dirty="0">
                <a:solidFill>
                  <a:schemeClr val="bg1"/>
                </a:solidFill>
              </a:endParaRPr>
            </a:p>
            <a:p>
              <a:pPr algn="just">
                <a:lnSpc>
                  <a:spcPct val="150000"/>
                </a:lnSpc>
              </a:pPr>
              <a:r>
                <a:rPr lang="en-MY" sz="1200" dirty="0">
                  <a:solidFill>
                    <a:schemeClr val="bg1"/>
                  </a:solidFill>
                </a:rPr>
                <a:t>Cerebrovascular diseases including </a:t>
              </a:r>
              <a:r>
                <a:rPr lang="en-MY" sz="1200" dirty="0">
                  <a:solidFill>
                    <a:srgbClr val="FFFF00"/>
                  </a:solidFill>
                </a:rPr>
                <a:t>strokes</a:t>
              </a:r>
              <a:r>
                <a:rPr lang="en-MY" sz="1200" dirty="0">
                  <a:solidFill>
                    <a:schemeClr val="bg1"/>
                  </a:solidFill>
                </a:rPr>
                <a:t> are the 3</a:t>
              </a:r>
              <a:r>
                <a:rPr lang="en-MY" sz="1200" baseline="30000" dirty="0">
                  <a:solidFill>
                    <a:schemeClr val="bg1"/>
                  </a:solidFill>
                </a:rPr>
                <a:t>rd </a:t>
              </a:r>
              <a:r>
                <a:rPr lang="en-MY" sz="1200" dirty="0">
                  <a:solidFill>
                    <a:schemeClr val="bg1"/>
                  </a:solidFill>
                </a:rPr>
                <a:t>leading cause of death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F40E61-4D0D-DC04-851F-BF23D6F7CCA0}"/>
              </a:ext>
            </a:extLst>
          </p:cNvPr>
          <p:cNvGrpSpPr/>
          <p:nvPr/>
        </p:nvGrpSpPr>
        <p:grpSpPr>
          <a:xfrm>
            <a:off x="301782" y="3700289"/>
            <a:ext cx="5385533" cy="1150349"/>
            <a:chOff x="348124" y="1654716"/>
            <a:chExt cx="2776076" cy="218160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8476EB3-C88D-A370-6EF1-D7DF0875CDF9}"/>
                </a:ext>
              </a:extLst>
            </p:cNvPr>
            <p:cNvSpPr/>
            <p:nvPr/>
          </p:nvSpPr>
          <p:spPr>
            <a:xfrm>
              <a:off x="348124" y="1654716"/>
              <a:ext cx="2765122" cy="212551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9E1B72-514D-B055-B78A-98DDCCA47B44}"/>
                </a:ext>
              </a:extLst>
            </p:cNvPr>
            <p:cNvSpPr txBox="1"/>
            <p:nvPr/>
          </p:nvSpPr>
          <p:spPr>
            <a:xfrm>
              <a:off x="359078" y="1799974"/>
              <a:ext cx="2765122" cy="20363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just">
                <a:lnSpc>
                  <a:spcPct val="200000"/>
                </a:lnSpc>
              </a:pPr>
              <a:r>
                <a:rPr lang="en-MY" sz="1200" dirty="0">
                  <a:solidFill>
                    <a:schemeClr val="bg1"/>
                  </a:solidFill>
                </a:rPr>
                <a:t>In 2017, CVDs caused </a:t>
              </a:r>
              <a:r>
                <a:rPr lang="en-MY" sz="1200" dirty="0">
                  <a:solidFill>
                    <a:srgbClr val="FFFF00"/>
                  </a:solidFill>
                </a:rPr>
                <a:t>1,397,311 Disability-Adjusted Life Years (DALYs)</a:t>
              </a:r>
              <a:r>
                <a:rPr lang="en-MY" sz="1200" dirty="0">
                  <a:solidFill>
                    <a:schemeClr val="bg1"/>
                  </a:solidFill>
                </a:rPr>
                <a:t> in Malaysia, resulting in an economic loss of around </a:t>
              </a:r>
              <a:r>
                <a:rPr lang="en-MY" sz="1200" dirty="0">
                  <a:solidFill>
                    <a:srgbClr val="FF0000"/>
                  </a:solidFill>
                </a:rPr>
                <a:t>RM 59.85 billion.</a:t>
              </a:r>
            </a:p>
            <a:p>
              <a:pPr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MY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121" name="Group 5120">
            <a:extLst>
              <a:ext uri="{FF2B5EF4-FFF2-40B4-BE49-F238E27FC236}">
                <a16:creationId xmlns:a16="http://schemas.microsoft.com/office/drawing/2014/main" id="{13A29697-9EA3-A657-CEE7-FDA5A5FC948C}"/>
              </a:ext>
            </a:extLst>
          </p:cNvPr>
          <p:cNvGrpSpPr/>
          <p:nvPr/>
        </p:nvGrpSpPr>
        <p:grpSpPr>
          <a:xfrm>
            <a:off x="235890" y="278091"/>
            <a:ext cx="5418212" cy="3039482"/>
            <a:chOff x="255880" y="667974"/>
            <a:chExt cx="5512239" cy="2817762"/>
          </a:xfrm>
        </p:grpSpPr>
        <p:pic>
          <p:nvPicPr>
            <p:cNvPr id="30" name="Picture 29" descr="A screenshot of a medical information&#10;&#10;Description automatically generated">
              <a:extLst>
                <a:ext uri="{FF2B5EF4-FFF2-40B4-BE49-F238E27FC236}">
                  <a16:creationId xmlns:a16="http://schemas.microsoft.com/office/drawing/2014/main" id="{362A6CD9-F8B7-A886-E417-FEAB5388C4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49" t="15079"/>
            <a:stretch/>
          </p:blipFill>
          <p:spPr>
            <a:xfrm>
              <a:off x="255880" y="667974"/>
              <a:ext cx="5512239" cy="2817762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1F542E0-7654-2197-959A-2850B6739D54}"/>
                </a:ext>
              </a:extLst>
            </p:cNvPr>
            <p:cNvSpPr txBox="1"/>
            <p:nvPr/>
          </p:nvSpPr>
          <p:spPr>
            <a:xfrm>
              <a:off x="416334" y="1114185"/>
              <a:ext cx="1481622" cy="105271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6636EFF-2EA8-F0A5-AB9F-B830A57A3779}"/>
                </a:ext>
              </a:extLst>
            </p:cNvPr>
            <p:cNvSpPr txBox="1"/>
            <p:nvPr/>
          </p:nvSpPr>
          <p:spPr>
            <a:xfrm>
              <a:off x="3242661" y="1114185"/>
              <a:ext cx="1160289" cy="105271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6B97804-1D13-B725-EE43-F2115975216C}"/>
              </a:ext>
            </a:extLst>
          </p:cNvPr>
          <p:cNvSpPr txBox="1"/>
          <p:nvPr/>
        </p:nvSpPr>
        <p:spPr>
          <a:xfrm>
            <a:off x="113038" y="4930577"/>
            <a:ext cx="2077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Sourced from</a:t>
            </a:r>
            <a:r>
              <a:rPr lang="en-US" sz="1200" dirty="0">
                <a:latin typeface="Times New Roman" panose="02020603050405020304" pitchFamily="18" charset="0"/>
              </a:rPr>
              <a:t>: </a:t>
            </a:r>
            <a:r>
              <a:rPr lang="en-MY" sz="1200" dirty="0">
                <a:latin typeface="Times New Roman" panose="02020603050405020304" pitchFamily="18" charset="0"/>
              </a:rPr>
              <a:t>DOSM, (2023)</a:t>
            </a:r>
            <a:r>
              <a:rPr lang="en-US" sz="12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792EB0-BC1B-359D-05D1-EC0F872906A5}"/>
              </a:ext>
            </a:extLst>
          </p:cNvPr>
          <p:cNvSpPr txBox="1"/>
          <p:nvPr/>
        </p:nvSpPr>
        <p:spPr>
          <a:xfrm>
            <a:off x="2655472" y="4930576"/>
            <a:ext cx="2808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</a:rPr>
              <a:t>Sourced from: </a:t>
            </a:r>
            <a:r>
              <a:rPr lang="en-MY" sz="1200" dirty="0">
                <a:latin typeface="Times New Roman" panose="02020603050405020304" pitchFamily="18" charset="0"/>
              </a:rPr>
              <a:t>MOH, (2020); IPH, (2020)</a:t>
            </a:r>
            <a:r>
              <a:rPr lang="en-US" sz="12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" name="Left Arrow 1">
            <a:extLst>
              <a:ext uri="{FF2B5EF4-FFF2-40B4-BE49-F238E27FC236}">
                <a16:creationId xmlns:a16="http://schemas.microsoft.com/office/drawing/2014/main" id="{371D7092-F6F0-F4E8-3EFC-039EAD89C6B6}"/>
              </a:ext>
            </a:extLst>
          </p:cNvPr>
          <p:cNvSpPr/>
          <p:nvPr/>
        </p:nvSpPr>
        <p:spPr>
          <a:xfrm>
            <a:off x="5633782" y="1584472"/>
            <a:ext cx="360084" cy="234168"/>
          </a:xfrm>
          <a:prstGeom prst="leftArrow">
            <a:avLst/>
          </a:prstGeom>
          <a:noFill/>
          <a:ln>
            <a:solidFill>
              <a:srgbClr val="18C1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06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C972-EB37-3ECE-1F4D-7B326122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58425"/>
            <a:ext cx="7704000" cy="572700"/>
          </a:xfrm>
        </p:spPr>
        <p:txBody>
          <a:bodyPr/>
          <a:lstStyle/>
          <a:p>
            <a:r>
              <a:rPr lang="en-US" sz="3200" dirty="0">
                <a:solidFill>
                  <a:srgbClr val="D71D26"/>
                </a:solidFill>
                <a:latin typeface="+mn-lt"/>
              </a:rPr>
              <a:t>CVD RISK SCORES</a:t>
            </a:r>
            <a:endParaRPr lang="en-US" sz="3200" dirty="0"/>
          </a:p>
        </p:txBody>
      </p:sp>
      <p:pic>
        <p:nvPicPr>
          <p:cNvPr id="5" name="Picture 4" descr="A speedometer with a needle and text&#10;&#10;Description automatically generated">
            <a:extLst>
              <a:ext uri="{FF2B5EF4-FFF2-40B4-BE49-F238E27FC236}">
                <a16:creationId xmlns:a16="http://schemas.microsoft.com/office/drawing/2014/main" id="{9A38CD87-27E3-93A3-74FA-32710131CB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111" y="3986488"/>
            <a:ext cx="1307892" cy="85666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0C95019-0FAC-2189-D68D-5D4B3EDED0BF}"/>
              </a:ext>
            </a:extLst>
          </p:cNvPr>
          <p:cNvGrpSpPr/>
          <p:nvPr/>
        </p:nvGrpSpPr>
        <p:grpSpPr>
          <a:xfrm>
            <a:off x="828479" y="1972355"/>
            <a:ext cx="2416174" cy="2929124"/>
            <a:chOff x="1052268" y="2007050"/>
            <a:chExt cx="2416174" cy="292912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1E91C6-DDEC-7026-39A3-3A4E1724FA58}"/>
                </a:ext>
              </a:extLst>
            </p:cNvPr>
            <p:cNvSpPr txBox="1"/>
            <p:nvPr/>
          </p:nvSpPr>
          <p:spPr>
            <a:xfrm>
              <a:off x="1052268" y="2007050"/>
              <a:ext cx="2416174" cy="29291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8BBCB9-B9D9-7A07-1B64-99789DC1C288}"/>
                </a:ext>
              </a:extLst>
            </p:cNvPr>
            <p:cNvSpPr txBox="1"/>
            <p:nvPr/>
          </p:nvSpPr>
          <p:spPr>
            <a:xfrm>
              <a:off x="1052268" y="2118038"/>
              <a:ext cx="2416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Existing CVD Risk Scores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C654D41-F604-741A-52A9-42038273E7B4}"/>
                </a:ext>
              </a:extLst>
            </p:cNvPr>
            <p:cNvSpPr/>
            <p:nvPr/>
          </p:nvSpPr>
          <p:spPr>
            <a:xfrm>
              <a:off x="1606410" y="3263872"/>
              <a:ext cx="1307891" cy="73424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Framingham Risk Score (FRS)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DF55D8F-DD35-5383-0FF2-9EFCB4386E49}"/>
                </a:ext>
              </a:extLst>
            </p:cNvPr>
            <p:cNvSpPr/>
            <p:nvPr/>
          </p:nvSpPr>
          <p:spPr>
            <a:xfrm>
              <a:off x="1606409" y="4167232"/>
              <a:ext cx="1285551" cy="734247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100" dirty="0">
                  <a:latin typeface="Arial" panose="020B0604020202020204" pitchFamily="34" charset="0"/>
                  <a:cs typeface="Arial" panose="020B0604020202020204" pitchFamily="34" charset="0"/>
                </a:rPr>
                <a:t>Systematic Coronary Risk Evaluation 2 (SCORE2) 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65EC2A9-FA69-43DE-F855-863E685D9262}"/>
                </a:ext>
              </a:extLst>
            </p:cNvPr>
            <p:cNvSpPr/>
            <p:nvPr/>
          </p:nvSpPr>
          <p:spPr>
            <a:xfrm>
              <a:off x="1563322" y="2510372"/>
              <a:ext cx="1328639" cy="646331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Revised Pooled Cohort Equation (RPCE)</a:t>
              </a:r>
            </a:p>
          </p:txBody>
        </p:sp>
      </p:grpSp>
      <p:sp>
        <p:nvSpPr>
          <p:cNvPr id="12" name="Right Arrow 11">
            <a:extLst>
              <a:ext uri="{FF2B5EF4-FFF2-40B4-BE49-F238E27FC236}">
                <a16:creationId xmlns:a16="http://schemas.microsoft.com/office/drawing/2014/main" id="{4CF1AA63-EC31-4D69-EB4A-897CA87F089E}"/>
              </a:ext>
            </a:extLst>
          </p:cNvPr>
          <p:cNvSpPr/>
          <p:nvPr/>
        </p:nvSpPr>
        <p:spPr>
          <a:xfrm>
            <a:off x="3708400" y="3355364"/>
            <a:ext cx="810135" cy="39209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39E460-69F2-8029-E452-579CFA73628B}"/>
              </a:ext>
            </a:extLst>
          </p:cNvPr>
          <p:cNvGrpSpPr/>
          <p:nvPr/>
        </p:nvGrpSpPr>
        <p:grpSpPr>
          <a:xfrm>
            <a:off x="4764003" y="1937661"/>
            <a:ext cx="3659997" cy="2929124"/>
            <a:chOff x="5095016" y="1972356"/>
            <a:chExt cx="3856287" cy="292912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D228FC-AAF9-3D66-3474-8BB528203001}"/>
                </a:ext>
              </a:extLst>
            </p:cNvPr>
            <p:cNvSpPr txBox="1"/>
            <p:nvPr/>
          </p:nvSpPr>
          <p:spPr>
            <a:xfrm>
              <a:off x="5340485" y="1972356"/>
              <a:ext cx="3610818" cy="29291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B3B5BA-D78A-DFFF-2232-2195026AAB60}"/>
                </a:ext>
              </a:extLst>
            </p:cNvPr>
            <p:cNvSpPr txBox="1"/>
            <p:nvPr/>
          </p:nvSpPr>
          <p:spPr>
            <a:xfrm>
              <a:off x="5095016" y="2359660"/>
              <a:ext cx="3793787" cy="11660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Clr>
                  <a:schemeClr val="bg1"/>
                </a:buClr>
                <a:buFontTx/>
                <a:buChar char="-"/>
              </a:pPr>
              <a:r>
                <a:rPr lang="en-MY" sz="1200" dirty="0">
                  <a:solidFill>
                    <a:schemeClr val="tx1"/>
                  </a:solidFill>
                  <a:latin typeface="+mn-lt"/>
                </a:rPr>
                <a:t>Developed based on </a:t>
              </a:r>
              <a:r>
                <a:rPr lang="en-MY" sz="1200" dirty="0">
                  <a:solidFill>
                    <a:schemeClr val="tx2"/>
                  </a:solidFill>
                  <a:latin typeface="+mn-lt"/>
                </a:rPr>
                <a:t>non-Malaysian</a:t>
              </a:r>
              <a:r>
                <a:rPr lang="en-MY" sz="1200" dirty="0">
                  <a:solidFill>
                    <a:schemeClr val="tx1"/>
                  </a:solidFill>
                  <a:latin typeface="+mn-lt"/>
                </a:rPr>
                <a:t> populations, often resulting in </a:t>
              </a:r>
              <a:r>
                <a:rPr lang="en-MY" sz="1200" dirty="0">
                  <a:solidFill>
                    <a:schemeClr val="tx2"/>
                  </a:solidFill>
                  <a:latin typeface="+mn-lt"/>
                </a:rPr>
                <a:t>poor calibration for Malaysian demographics. </a:t>
              </a:r>
            </a:p>
            <a:p>
              <a:pPr marL="285750" indent="-285750" algn="just">
                <a:lnSpc>
                  <a:spcPct val="150000"/>
                </a:lnSpc>
                <a:buClr>
                  <a:schemeClr val="bg1"/>
                </a:buClr>
                <a:buFontTx/>
                <a:buChar char="-"/>
              </a:pPr>
              <a:r>
                <a:rPr lang="en-MY" sz="1200" dirty="0">
                  <a:solidFill>
                    <a:schemeClr val="tx1"/>
                  </a:solidFill>
                  <a:latin typeface="+mn-lt"/>
                </a:rPr>
                <a:t>(Chia et al., 2015; </a:t>
              </a:r>
              <a:r>
                <a:rPr lang="en-MY" sz="1200" dirty="0" err="1">
                  <a:solidFill>
                    <a:schemeClr val="tx1"/>
                  </a:solidFill>
                  <a:latin typeface="+mn-lt"/>
                </a:rPr>
                <a:t>Selvarajah</a:t>
              </a:r>
              <a:r>
                <a:rPr lang="en-MY" sz="1200" dirty="0">
                  <a:solidFill>
                    <a:schemeClr val="tx1"/>
                  </a:solidFill>
                  <a:latin typeface="+mn-lt"/>
                </a:rPr>
                <a:t> et al., 2014)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328B1FF-134F-E994-1197-8D2AED18344F}"/>
                </a:ext>
              </a:extLst>
            </p:cNvPr>
            <p:cNvSpPr txBox="1"/>
            <p:nvPr/>
          </p:nvSpPr>
          <p:spPr>
            <a:xfrm>
              <a:off x="5937806" y="2073157"/>
              <a:ext cx="2416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Issues?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C6BE0A-3DA4-0FB8-676E-40FB6F392087}"/>
                </a:ext>
              </a:extLst>
            </p:cNvPr>
            <p:cNvSpPr txBox="1"/>
            <p:nvPr/>
          </p:nvSpPr>
          <p:spPr>
            <a:xfrm>
              <a:off x="5095016" y="3683877"/>
              <a:ext cx="3610819" cy="11660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Clr>
                  <a:schemeClr val="bg1"/>
                </a:buClr>
                <a:buFontTx/>
                <a:buChar char="-"/>
              </a:pPr>
              <a:r>
                <a:rPr lang="en-MY" sz="1200" dirty="0">
                  <a:solidFill>
                    <a:schemeClr val="tx1"/>
                  </a:solidFill>
                  <a:latin typeface="+mn-lt"/>
                </a:rPr>
                <a:t>Existing models typically provide 10-year risk predictions, which may not effectively capture </a:t>
              </a:r>
              <a:r>
                <a:rPr lang="en-MY" sz="1200" dirty="0">
                  <a:solidFill>
                    <a:schemeClr val="tx2"/>
                  </a:solidFill>
                  <a:latin typeface="+mn-lt"/>
                </a:rPr>
                <a:t>short/ medium-term </a:t>
              </a:r>
              <a:r>
                <a:rPr lang="en-MY" sz="1200" dirty="0">
                  <a:solidFill>
                    <a:schemeClr val="tx1"/>
                  </a:solidFill>
                  <a:latin typeface="+mn-lt"/>
                </a:rPr>
                <a:t>risks. </a:t>
              </a:r>
              <a:br>
                <a:rPr lang="en-MY" sz="1200" dirty="0">
                  <a:solidFill>
                    <a:schemeClr val="tx1"/>
                  </a:solidFill>
                  <a:latin typeface="+mn-lt"/>
                </a:rPr>
              </a:br>
              <a:r>
                <a:rPr lang="en-MY" sz="1200" dirty="0">
                  <a:solidFill>
                    <a:schemeClr val="tx1"/>
                  </a:solidFill>
                  <a:latin typeface="+mn-lt"/>
                </a:rPr>
                <a:t>(Gore et al., 2020; </a:t>
              </a:r>
              <a:r>
                <a:rPr lang="en-MY" sz="1200" dirty="0" err="1">
                  <a:solidFill>
                    <a:schemeClr val="tx1"/>
                  </a:solidFill>
                  <a:latin typeface="+mn-lt"/>
                </a:rPr>
                <a:t>Quispe</a:t>
              </a:r>
              <a:r>
                <a:rPr lang="en-MY" sz="1200" dirty="0">
                  <a:solidFill>
                    <a:schemeClr val="tx1"/>
                  </a:solidFill>
                  <a:latin typeface="+mn-lt"/>
                </a:rPr>
                <a:t> et al., 2015) 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6418B7A-32A6-37C3-EC7B-9067F193A107}"/>
              </a:ext>
            </a:extLst>
          </p:cNvPr>
          <p:cNvSpPr txBox="1"/>
          <p:nvPr/>
        </p:nvSpPr>
        <p:spPr>
          <a:xfrm>
            <a:off x="720000" y="1021362"/>
            <a:ext cx="79002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>
                <a:solidFill>
                  <a:schemeClr val="tx1"/>
                </a:solidFill>
              </a:rPr>
              <a:t>CVD risk scores are tools used to estimate an individual's </a:t>
            </a:r>
            <a:r>
              <a:rPr lang="en-MY" sz="1200" dirty="0">
                <a:solidFill>
                  <a:schemeClr val="tx2"/>
                </a:solidFill>
              </a:rPr>
              <a:t>likelihood of experiencing a cardiovascular event</a:t>
            </a:r>
            <a:r>
              <a:rPr lang="en-MY" sz="1200" dirty="0">
                <a:solidFill>
                  <a:schemeClr val="tx1"/>
                </a:solidFill>
              </a:rPr>
              <a:t>, such as a heart attack or stroke, within a </a:t>
            </a:r>
            <a:r>
              <a:rPr lang="en-MY" sz="1200" dirty="0">
                <a:solidFill>
                  <a:schemeClr val="tx2"/>
                </a:solidFill>
              </a:rPr>
              <a:t>specific time frame </a:t>
            </a:r>
            <a:r>
              <a:rPr lang="en-MY" sz="1200" dirty="0">
                <a:solidFill>
                  <a:schemeClr val="tx1"/>
                </a:solidFill>
              </a:rPr>
              <a:t>(10 years). </a:t>
            </a:r>
            <a:br>
              <a:rPr lang="en-MY" sz="1200" dirty="0">
                <a:solidFill>
                  <a:schemeClr val="tx1"/>
                </a:solidFill>
              </a:rPr>
            </a:br>
            <a:br>
              <a:rPr lang="en-MY" sz="1200" dirty="0">
                <a:solidFill>
                  <a:schemeClr val="tx1"/>
                </a:solidFill>
              </a:rPr>
            </a:br>
            <a:r>
              <a:rPr lang="en-MY" sz="1200" dirty="0">
                <a:solidFill>
                  <a:schemeClr val="tx1"/>
                </a:solidFill>
              </a:rPr>
              <a:t>These scores are calculated based on various </a:t>
            </a:r>
            <a:r>
              <a:rPr lang="en-MY" sz="1200" dirty="0">
                <a:solidFill>
                  <a:schemeClr val="tx2"/>
                </a:solidFill>
              </a:rPr>
              <a:t>risk factors</a:t>
            </a:r>
            <a:endParaRPr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422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1101;p53">
            <a:extLst>
              <a:ext uri="{FF2B5EF4-FFF2-40B4-BE49-F238E27FC236}">
                <a16:creationId xmlns:a16="http://schemas.microsoft.com/office/drawing/2014/main" id="{C50D79B7-0F72-1D6F-89A9-2D4335B0CA92}"/>
              </a:ext>
            </a:extLst>
          </p:cNvPr>
          <p:cNvSpPr txBox="1">
            <a:spLocks/>
          </p:cNvSpPr>
          <p:nvPr/>
        </p:nvSpPr>
        <p:spPr>
          <a:xfrm>
            <a:off x="248236" y="4099696"/>
            <a:ext cx="8185401" cy="81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>
              <a:buFont typeface="PT Sans"/>
              <a:buNone/>
            </a:pPr>
            <a:endParaRPr lang="en-MY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517345-5B29-D602-EA7A-D657AAEF8051}"/>
              </a:ext>
            </a:extLst>
          </p:cNvPr>
          <p:cNvSpPr txBox="1"/>
          <p:nvPr/>
        </p:nvSpPr>
        <p:spPr>
          <a:xfrm>
            <a:off x="4669160" y="602143"/>
            <a:ext cx="4090876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3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Why Machine Learning?</a:t>
            </a:r>
            <a:br>
              <a:rPr lang="en-MY" sz="23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</a:br>
            <a:r>
              <a:rPr lang="en-MY" sz="23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Why a Three-Year Prediction model?</a:t>
            </a: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B1836DE1-5F63-8B7E-D3CA-56B68C093276}"/>
              </a:ext>
            </a:extLst>
          </p:cNvPr>
          <p:cNvSpPr/>
          <p:nvPr/>
        </p:nvSpPr>
        <p:spPr>
          <a:xfrm>
            <a:off x="2096474" y="1528100"/>
            <a:ext cx="242715" cy="380368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0E5239-68BB-3411-7B89-7F9F1923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45839"/>
            <a:ext cx="7704000" cy="572700"/>
          </a:xfrm>
        </p:spPr>
        <p:txBody>
          <a:bodyPr/>
          <a:lstStyle/>
          <a:p>
            <a:r>
              <a:rPr lang="en-US" sz="3200" dirty="0">
                <a:solidFill>
                  <a:srgbClr val="D71D26"/>
                </a:solidFill>
                <a:latin typeface="+mn-lt"/>
              </a:rPr>
              <a:t>Solution </a:t>
            </a:r>
            <a:r>
              <a:rPr lang="en-US" sz="3200" dirty="0">
                <a:solidFill>
                  <a:srgbClr val="D71D26"/>
                </a:solidFill>
                <a:latin typeface="+mn-lt"/>
                <a:sym typeface="Wingdings" pitchFamily="2" charset="2"/>
              </a:rPr>
              <a:t> Machine Learning</a:t>
            </a:r>
            <a:endParaRPr lang="en-US" sz="3200" dirty="0"/>
          </a:p>
        </p:txBody>
      </p:sp>
      <p:pic>
        <p:nvPicPr>
          <p:cNvPr id="18" name="Picture 17" descr="A screenshot of a news&#10;&#10;Description automatically generated">
            <a:extLst>
              <a:ext uri="{FF2B5EF4-FFF2-40B4-BE49-F238E27FC236}">
                <a16:creationId xmlns:a16="http://schemas.microsoft.com/office/drawing/2014/main" id="{3C8A2085-10C0-D475-E20A-D70C8356E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36" y="879784"/>
            <a:ext cx="3824530" cy="14485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 descr="A screenshot of a medical information&#10;&#10;Description automatically generated">
            <a:extLst>
              <a:ext uri="{FF2B5EF4-FFF2-40B4-BE49-F238E27FC236}">
                <a16:creationId xmlns:a16="http://schemas.microsoft.com/office/drawing/2014/main" id="{99E360C2-C7CB-2C8B-345A-00BC74417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427" y="2367803"/>
            <a:ext cx="4246210" cy="15863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 descr="A screenshot of a social media page&#10;&#10;Description automatically generated">
            <a:extLst>
              <a:ext uri="{FF2B5EF4-FFF2-40B4-BE49-F238E27FC236}">
                <a16:creationId xmlns:a16="http://schemas.microsoft.com/office/drawing/2014/main" id="{2E120EBB-DD15-9925-8646-D48F6F1C8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236" y="2367803"/>
            <a:ext cx="3824530" cy="15731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 descr="A screenshot of a medical research page&#10;&#10;Description automatically generated">
            <a:extLst>
              <a:ext uri="{FF2B5EF4-FFF2-40B4-BE49-F238E27FC236}">
                <a16:creationId xmlns:a16="http://schemas.microsoft.com/office/drawing/2014/main" id="{95ADE29E-D73A-3E43-754F-053AA2FE12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7427" y="879784"/>
            <a:ext cx="4236573" cy="14485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A9DFE00-D462-CA4F-D89B-7E306296B03E}"/>
              </a:ext>
            </a:extLst>
          </p:cNvPr>
          <p:cNvSpPr txBox="1"/>
          <p:nvPr/>
        </p:nvSpPr>
        <p:spPr>
          <a:xfrm>
            <a:off x="625046" y="4063419"/>
            <a:ext cx="7431779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1400" dirty="0">
                <a:solidFill>
                  <a:srgbClr val="D71D26"/>
                </a:solidFill>
                <a:latin typeface="+mn-lt"/>
                <a:cs typeface="Arial"/>
              </a:rPr>
              <a:t>Research Gap = No studies that focus on ML based </a:t>
            </a:r>
            <a:r>
              <a:rPr lang="en-MY" sz="1400" b="1" dirty="0">
                <a:solidFill>
                  <a:srgbClr val="D71D26"/>
                </a:solidFill>
                <a:latin typeface="+mn-lt"/>
                <a:cs typeface="Arial"/>
              </a:rPr>
              <a:t>3-year prediction</a:t>
            </a:r>
            <a:r>
              <a:rPr lang="en-MY" sz="1400" dirty="0">
                <a:solidFill>
                  <a:srgbClr val="D71D26"/>
                </a:solidFill>
                <a:latin typeface="+mn-lt"/>
                <a:cs typeface="Arial"/>
              </a:rPr>
              <a:t> models for </a:t>
            </a:r>
            <a:r>
              <a:rPr lang="en-MY" sz="1400" b="1" dirty="0">
                <a:solidFill>
                  <a:srgbClr val="D71D26"/>
                </a:solidFill>
                <a:latin typeface="+mn-lt"/>
                <a:cs typeface="Arial"/>
              </a:rPr>
              <a:t>CVD</a:t>
            </a:r>
            <a:r>
              <a:rPr lang="en-MY" sz="1400" dirty="0">
                <a:solidFill>
                  <a:srgbClr val="D71D26"/>
                </a:solidFill>
                <a:latin typeface="+mn-lt"/>
                <a:cs typeface="Arial"/>
              </a:rPr>
              <a:t>, specifically for </a:t>
            </a:r>
            <a:r>
              <a:rPr lang="en-MY" sz="1400" b="1" dirty="0">
                <a:solidFill>
                  <a:srgbClr val="D71D26"/>
                </a:solidFill>
                <a:latin typeface="+mn-lt"/>
                <a:cs typeface="Arial"/>
              </a:rPr>
              <a:t>myocardial infarction (MI) and stroke</a:t>
            </a:r>
            <a:r>
              <a:rPr lang="en-MY" sz="1400" dirty="0">
                <a:solidFill>
                  <a:srgbClr val="D71D26"/>
                </a:solidFill>
                <a:latin typeface="+mn-lt"/>
                <a:cs typeface="Arial"/>
              </a:rPr>
              <a:t> events in the </a:t>
            </a:r>
            <a:r>
              <a:rPr lang="en-MY" sz="1400" b="1" dirty="0">
                <a:solidFill>
                  <a:srgbClr val="D71D26"/>
                </a:solidFill>
                <a:latin typeface="+mn-lt"/>
                <a:cs typeface="Arial"/>
              </a:rPr>
              <a:t>Malaysian population</a:t>
            </a:r>
            <a:r>
              <a:rPr lang="en-MY" sz="1400" dirty="0">
                <a:solidFill>
                  <a:srgbClr val="D71D26"/>
                </a:solidFill>
                <a:latin typeface="+mn-lt"/>
                <a:cs typeface="Arial"/>
              </a:rPr>
              <a:t>. </a:t>
            </a:r>
            <a:endParaRPr lang="en-US" dirty="0">
              <a:solidFill>
                <a:srgbClr val="D71D2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5372D-C7E9-38E7-D5EA-65BACA0204D0}"/>
              </a:ext>
            </a:extLst>
          </p:cNvPr>
          <p:cNvSpPr txBox="1"/>
          <p:nvPr/>
        </p:nvSpPr>
        <p:spPr>
          <a:xfrm>
            <a:off x="113038" y="4930577"/>
            <a:ext cx="5969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Sourced from</a:t>
            </a:r>
            <a:r>
              <a:rPr lang="en-US" sz="1200" dirty="0">
                <a:latin typeface="Times New Roman" panose="02020603050405020304" pitchFamily="18" charset="0"/>
              </a:rPr>
              <a:t>: Putri et al., (2023); Khan et al., (2023); Ibrahim et al., (2022); Pal et al., (2022) </a:t>
            </a:r>
          </a:p>
        </p:txBody>
      </p:sp>
    </p:spTree>
    <p:extLst>
      <p:ext uri="{BB962C8B-B14F-4D97-AF65-F5344CB8AC3E}">
        <p14:creationId xmlns:p14="http://schemas.microsoft.com/office/powerpoint/2010/main" val="4195328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01;p53">
            <a:extLst>
              <a:ext uri="{FF2B5EF4-FFF2-40B4-BE49-F238E27FC236}">
                <a16:creationId xmlns:a16="http://schemas.microsoft.com/office/drawing/2014/main" id="{A2474951-AC43-9AD5-0583-303090E78B37}"/>
              </a:ext>
            </a:extLst>
          </p:cNvPr>
          <p:cNvSpPr txBox="1">
            <a:spLocks/>
          </p:cNvSpPr>
          <p:nvPr/>
        </p:nvSpPr>
        <p:spPr>
          <a:xfrm>
            <a:off x="237782" y="1175656"/>
            <a:ext cx="4833959" cy="370432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>
              <a:buFont typeface="PT Sans"/>
              <a:buNone/>
            </a:pPr>
            <a:endParaRPr lang="en-MY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343" name="Google Shape;343;p35"/>
          <p:cNvSpPr txBox="1">
            <a:spLocks noGrp="1"/>
          </p:cNvSpPr>
          <p:nvPr>
            <p:ph type="subTitle" idx="1"/>
          </p:nvPr>
        </p:nvSpPr>
        <p:spPr>
          <a:xfrm>
            <a:off x="237782" y="1870169"/>
            <a:ext cx="4689818" cy="26059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 algn="just">
              <a:lnSpc>
                <a:spcPct val="150000"/>
              </a:lnSpc>
            </a:pPr>
            <a:br>
              <a:rPr lang="en-MY" sz="1200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en-MY" sz="1200" dirty="0">
                <a:solidFill>
                  <a:schemeClr val="bg1"/>
                </a:solidFill>
                <a:latin typeface="+mn-lt"/>
                <a:cs typeface="Arial"/>
              </a:rPr>
              <a:t>Limitations of Conventional Risk Scores:</a:t>
            </a:r>
          </a:p>
          <a:p>
            <a:pPr marL="139700" indent="0" algn="just">
              <a:lnSpc>
                <a:spcPct val="150000"/>
              </a:lnSpc>
            </a:pPr>
            <a:r>
              <a:rPr lang="en-MY" sz="1200" dirty="0">
                <a:solidFill>
                  <a:schemeClr val="bg1"/>
                </a:solidFill>
                <a:latin typeface="+mn-lt"/>
                <a:cs typeface="Arial"/>
              </a:rPr>
              <a:t>- FRS lacks population specificity for the Malaysian multi-ethnic population.</a:t>
            </a:r>
          </a:p>
          <a:p>
            <a:pPr marL="139700" indent="0" algn="just">
              <a:lnSpc>
                <a:spcPct val="150000"/>
              </a:lnSpc>
            </a:pPr>
            <a:r>
              <a:rPr lang="en-MY" sz="1200" dirty="0">
                <a:solidFill>
                  <a:schemeClr val="bg1"/>
                </a:solidFill>
                <a:latin typeface="+mn-lt"/>
                <a:cs typeface="Arial"/>
              </a:rPr>
              <a:t>- Inadequate for accurate short-term CVD predictions.</a:t>
            </a:r>
          </a:p>
          <a:p>
            <a:pPr marL="139700" indent="0" algn="just">
              <a:lnSpc>
                <a:spcPct val="150000"/>
              </a:lnSpc>
            </a:pPr>
            <a:endParaRPr lang="en-MY" sz="120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39700" indent="0" algn="just">
              <a:lnSpc>
                <a:spcPct val="150000"/>
              </a:lnSpc>
            </a:pPr>
            <a:r>
              <a:rPr lang="en-MY" sz="1200" dirty="0">
                <a:solidFill>
                  <a:schemeClr val="bg1"/>
                </a:solidFill>
                <a:latin typeface="+mn-lt"/>
                <a:cs typeface="Arial"/>
              </a:rPr>
              <a:t>Need for Short-Term Prediction:</a:t>
            </a:r>
          </a:p>
          <a:p>
            <a:pPr marL="139700" indent="0" algn="just">
              <a:lnSpc>
                <a:spcPct val="150000"/>
              </a:lnSpc>
            </a:pPr>
            <a:r>
              <a:rPr lang="en-MY" sz="1200" dirty="0">
                <a:solidFill>
                  <a:schemeClr val="bg1"/>
                </a:solidFill>
                <a:latin typeface="+mn-lt"/>
                <a:cs typeface="Arial"/>
              </a:rPr>
              <a:t>- Rapid CVD progression in some patients necessitates shorter prediction windows for early intervention.</a:t>
            </a:r>
          </a:p>
          <a:p>
            <a:pPr marL="139700" indent="0" algn="just">
              <a:lnSpc>
                <a:spcPct val="150000"/>
              </a:lnSpc>
            </a:pPr>
            <a:endParaRPr lang="en-MY" sz="120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39700" indent="0" algn="just">
              <a:lnSpc>
                <a:spcPct val="150000"/>
              </a:lnSpc>
            </a:pPr>
            <a:r>
              <a:rPr lang="en-MY" sz="1200" dirty="0">
                <a:solidFill>
                  <a:schemeClr val="bg1"/>
                </a:solidFill>
                <a:latin typeface="+mn-lt"/>
                <a:cs typeface="Arial"/>
              </a:rPr>
              <a:t>Research Gap:</a:t>
            </a:r>
          </a:p>
          <a:p>
            <a:pPr marL="139700" indent="0" algn="just">
              <a:lnSpc>
                <a:spcPct val="150000"/>
              </a:lnSpc>
            </a:pPr>
            <a:r>
              <a:rPr lang="en-MY" sz="1200" dirty="0">
                <a:solidFill>
                  <a:schemeClr val="bg1"/>
                </a:solidFill>
                <a:latin typeface="+mn-lt"/>
                <a:cs typeface="Arial"/>
              </a:rPr>
              <a:t>- Few studies focus on ML-based risk prediction models specifically for CVD events like, myocardial infarction (MI), and stroke.</a:t>
            </a:r>
          </a:p>
          <a:p>
            <a:pPr marL="139700" indent="0" algn="just">
              <a:lnSpc>
                <a:spcPct val="150000"/>
              </a:lnSpc>
            </a:pPr>
            <a:endParaRPr lang="en-MY" sz="120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39700" indent="0" algn="just">
              <a:lnSpc>
                <a:spcPct val="150000"/>
              </a:lnSpc>
            </a:pPr>
            <a:endParaRPr lang="en-MY" sz="1200" dirty="0">
              <a:solidFill>
                <a:schemeClr val="bg1"/>
              </a:solidFill>
              <a:latin typeface="+mn-lt"/>
              <a:cs typeface="Arial"/>
            </a:endParaRPr>
          </a:p>
        </p:txBody>
      </p:sp>
      <p:grpSp>
        <p:nvGrpSpPr>
          <p:cNvPr id="344" name="Google Shape;344;p35"/>
          <p:cNvGrpSpPr/>
          <p:nvPr/>
        </p:nvGrpSpPr>
        <p:grpSpPr>
          <a:xfrm>
            <a:off x="5840148" y="4547218"/>
            <a:ext cx="2226149" cy="407875"/>
            <a:chOff x="1291500" y="3868551"/>
            <a:chExt cx="2226149" cy="407875"/>
          </a:xfrm>
        </p:grpSpPr>
        <p:grpSp>
          <p:nvGrpSpPr>
            <p:cNvPr id="345" name="Google Shape;345;p35"/>
            <p:cNvGrpSpPr/>
            <p:nvPr/>
          </p:nvGrpSpPr>
          <p:grpSpPr>
            <a:xfrm>
              <a:off x="1291500" y="3868551"/>
              <a:ext cx="2075273" cy="407875"/>
              <a:chOff x="3566000" y="3011976"/>
              <a:chExt cx="2075273" cy="407875"/>
            </a:xfrm>
          </p:grpSpPr>
          <p:sp>
            <p:nvSpPr>
              <p:cNvPr id="346" name="Google Shape;346;p35"/>
              <p:cNvSpPr/>
              <p:nvPr/>
            </p:nvSpPr>
            <p:spPr>
              <a:xfrm>
                <a:off x="3566000" y="3011976"/>
                <a:ext cx="1037645" cy="407875"/>
              </a:xfrm>
              <a:custGeom>
                <a:avLst/>
                <a:gdLst/>
                <a:ahLst/>
                <a:cxnLst/>
                <a:rect l="l" t="t" r="r" b="b"/>
                <a:pathLst>
                  <a:path w="24196" h="17303" fill="none" extrusionOk="0">
                    <a:moveTo>
                      <a:pt x="13376" y="17302"/>
                    </a:moveTo>
                    <a:cubicBezTo>
                      <a:pt x="12920" y="17302"/>
                      <a:pt x="12760" y="15248"/>
                      <a:pt x="12463" y="8651"/>
                    </a:cubicBezTo>
                    <a:cubicBezTo>
                      <a:pt x="12303" y="4999"/>
                      <a:pt x="12098" y="457"/>
                      <a:pt x="11778" y="183"/>
                    </a:cubicBezTo>
                    <a:cubicBezTo>
                      <a:pt x="11504" y="366"/>
                      <a:pt x="11253" y="3744"/>
                      <a:pt x="11048" y="6209"/>
                    </a:cubicBezTo>
                    <a:cubicBezTo>
                      <a:pt x="10683" y="10934"/>
                      <a:pt x="10500" y="12395"/>
                      <a:pt x="10089" y="12395"/>
                    </a:cubicBezTo>
                    <a:cubicBezTo>
                      <a:pt x="9701" y="12395"/>
                      <a:pt x="9541" y="11687"/>
                      <a:pt x="9382" y="10843"/>
                    </a:cubicBezTo>
                    <a:cubicBezTo>
                      <a:pt x="9245" y="10249"/>
                      <a:pt x="9085" y="9450"/>
                      <a:pt x="8879" y="9450"/>
                    </a:cubicBezTo>
                    <a:cubicBezTo>
                      <a:pt x="8651" y="9450"/>
                      <a:pt x="8514" y="10044"/>
                      <a:pt x="8377" y="10523"/>
                    </a:cubicBezTo>
                    <a:cubicBezTo>
                      <a:pt x="8218" y="11139"/>
                      <a:pt x="8058" y="11733"/>
                      <a:pt x="7693" y="11733"/>
                    </a:cubicBezTo>
                    <a:lnTo>
                      <a:pt x="0" y="11733"/>
                    </a:lnTo>
                    <a:lnTo>
                      <a:pt x="0" y="11527"/>
                    </a:lnTo>
                    <a:lnTo>
                      <a:pt x="7693" y="11527"/>
                    </a:lnTo>
                    <a:cubicBezTo>
                      <a:pt x="7898" y="11527"/>
                      <a:pt x="8058" y="10934"/>
                      <a:pt x="8172" y="10455"/>
                    </a:cubicBezTo>
                    <a:cubicBezTo>
                      <a:pt x="8354" y="9838"/>
                      <a:pt x="8491" y="9245"/>
                      <a:pt x="8879" y="9245"/>
                    </a:cubicBezTo>
                    <a:cubicBezTo>
                      <a:pt x="9245" y="9245"/>
                      <a:pt x="9404" y="9975"/>
                      <a:pt x="9564" y="10797"/>
                    </a:cubicBezTo>
                    <a:cubicBezTo>
                      <a:pt x="9701" y="11390"/>
                      <a:pt x="9861" y="12189"/>
                      <a:pt x="10066" y="12189"/>
                    </a:cubicBezTo>
                    <a:cubicBezTo>
                      <a:pt x="10386" y="12030"/>
                      <a:pt x="10660" y="8651"/>
                      <a:pt x="10842" y="6186"/>
                    </a:cubicBezTo>
                    <a:cubicBezTo>
                      <a:pt x="11208" y="1461"/>
                      <a:pt x="11390" y="1"/>
                      <a:pt x="11801" y="1"/>
                    </a:cubicBezTo>
                    <a:cubicBezTo>
                      <a:pt x="12212" y="1"/>
                      <a:pt x="12372" y="2055"/>
                      <a:pt x="12668" y="8651"/>
                    </a:cubicBezTo>
                    <a:cubicBezTo>
                      <a:pt x="12828" y="12303"/>
                      <a:pt x="13034" y="16846"/>
                      <a:pt x="13353" y="17120"/>
                    </a:cubicBezTo>
                    <a:cubicBezTo>
                      <a:pt x="13513" y="16960"/>
                      <a:pt x="13627" y="15248"/>
                      <a:pt x="13718" y="13993"/>
                    </a:cubicBezTo>
                    <a:cubicBezTo>
                      <a:pt x="13901" y="11413"/>
                      <a:pt x="13992" y="10706"/>
                      <a:pt x="14266" y="10706"/>
                    </a:cubicBezTo>
                    <a:cubicBezTo>
                      <a:pt x="14563" y="10706"/>
                      <a:pt x="14700" y="11025"/>
                      <a:pt x="14814" y="11322"/>
                    </a:cubicBezTo>
                    <a:cubicBezTo>
                      <a:pt x="14905" y="11550"/>
                      <a:pt x="15019" y="11778"/>
                      <a:pt x="15156" y="11778"/>
                    </a:cubicBezTo>
                    <a:lnTo>
                      <a:pt x="15156" y="11778"/>
                    </a:lnTo>
                    <a:cubicBezTo>
                      <a:pt x="15430" y="11778"/>
                      <a:pt x="15613" y="10660"/>
                      <a:pt x="15727" y="9930"/>
                    </a:cubicBezTo>
                    <a:cubicBezTo>
                      <a:pt x="15932" y="8674"/>
                      <a:pt x="16092" y="7898"/>
                      <a:pt x="16480" y="7898"/>
                    </a:cubicBezTo>
                    <a:cubicBezTo>
                      <a:pt x="16868" y="7898"/>
                      <a:pt x="17005" y="8857"/>
                      <a:pt x="17234" y="10569"/>
                    </a:cubicBezTo>
                    <a:cubicBezTo>
                      <a:pt x="17348" y="11482"/>
                      <a:pt x="17553" y="13034"/>
                      <a:pt x="17781" y="13034"/>
                    </a:cubicBezTo>
                    <a:cubicBezTo>
                      <a:pt x="17941" y="13034"/>
                      <a:pt x="18078" y="12258"/>
                      <a:pt x="18147" y="11847"/>
                    </a:cubicBezTo>
                    <a:cubicBezTo>
                      <a:pt x="18306" y="11025"/>
                      <a:pt x="18420" y="10500"/>
                      <a:pt x="18717" y="10500"/>
                    </a:cubicBezTo>
                    <a:cubicBezTo>
                      <a:pt x="19037" y="10500"/>
                      <a:pt x="19151" y="10980"/>
                      <a:pt x="19288" y="11459"/>
                    </a:cubicBezTo>
                    <a:cubicBezTo>
                      <a:pt x="19356" y="11801"/>
                      <a:pt x="19493" y="12258"/>
                      <a:pt x="19630" y="12258"/>
                    </a:cubicBezTo>
                    <a:cubicBezTo>
                      <a:pt x="19721" y="12258"/>
                      <a:pt x="19790" y="12075"/>
                      <a:pt x="19836" y="11938"/>
                    </a:cubicBezTo>
                    <a:cubicBezTo>
                      <a:pt x="19904" y="11733"/>
                      <a:pt x="19973" y="11527"/>
                      <a:pt x="20155" y="11527"/>
                    </a:cubicBezTo>
                    <a:lnTo>
                      <a:pt x="24195" y="11527"/>
                    </a:lnTo>
                    <a:lnTo>
                      <a:pt x="24195" y="11733"/>
                    </a:lnTo>
                    <a:lnTo>
                      <a:pt x="20155" y="11733"/>
                    </a:lnTo>
                    <a:cubicBezTo>
                      <a:pt x="20110" y="11733"/>
                      <a:pt x="20064" y="11915"/>
                      <a:pt x="20018" y="11984"/>
                    </a:cubicBezTo>
                    <a:cubicBezTo>
                      <a:pt x="19950" y="12189"/>
                      <a:pt x="19881" y="12463"/>
                      <a:pt x="19630" y="12463"/>
                    </a:cubicBezTo>
                    <a:cubicBezTo>
                      <a:pt x="19333" y="12463"/>
                      <a:pt x="19197" y="12007"/>
                      <a:pt x="19082" y="11505"/>
                    </a:cubicBezTo>
                    <a:cubicBezTo>
                      <a:pt x="18991" y="11162"/>
                      <a:pt x="18877" y="10706"/>
                      <a:pt x="18717" y="10706"/>
                    </a:cubicBezTo>
                    <a:cubicBezTo>
                      <a:pt x="18580" y="10706"/>
                      <a:pt x="18443" y="11482"/>
                      <a:pt x="18352" y="11893"/>
                    </a:cubicBezTo>
                    <a:cubicBezTo>
                      <a:pt x="18215" y="12737"/>
                      <a:pt x="18101" y="13239"/>
                      <a:pt x="17804" y="13239"/>
                    </a:cubicBezTo>
                    <a:cubicBezTo>
                      <a:pt x="17393" y="13239"/>
                      <a:pt x="17256" y="12281"/>
                      <a:pt x="17028" y="10592"/>
                    </a:cubicBezTo>
                    <a:cubicBezTo>
                      <a:pt x="16914" y="9656"/>
                      <a:pt x="16709" y="8104"/>
                      <a:pt x="16480" y="8104"/>
                    </a:cubicBezTo>
                    <a:cubicBezTo>
                      <a:pt x="16229" y="8104"/>
                      <a:pt x="16047" y="9222"/>
                      <a:pt x="15932" y="9975"/>
                    </a:cubicBezTo>
                    <a:cubicBezTo>
                      <a:pt x="15727" y="11231"/>
                      <a:pt x="15567" y="11984"/>
                      <a:pt x="15179" y="11984"/>
                    </a:cubicBezTo>
                    <a:cubicBezTo>
                      <a:pt x="14883" y="11984"/>
                      <a:pt x="14746" y="11664"/>
                      <a:pt x="14631" y="11390"/>
                    </a:cubicBezTo>
                    <a:cubicBezTo>
                      <a:pt x="14517" y="11162"/>
                      <a:pt x="14426" y="10911"/>
                      <a:pt x="14266" y="10911"/>
                    </a:cubicBezTo>
                    <a:cubicBezTo>
                      <a:pt x="14129" y="11048"/>
                      <a:pt x="14015" y="12760"/>
                      <a:pt x="13924" y="14015"/>
                    </a:cubicBezTo>
                    <a:cubicBezTo>
                      <a:pt x="13741" y="16595"/>
                      <a:pt x="13650" y="17302"/>
                      <a:pt x="13376" y="17302"/>
                    </a:cubicBezTo>
                    <a:close/>
                  </a:path>
                </a:pathLst>
              </a:custGeom>
              <a:solidFill>
                <a:srgbClr val="EF3455"/>
              </a:solidFill>
              <a:ln w="19050" cap="flat" cmpd="sng">
                <a:solidFill>
                  <a:srgbClr val="EF3455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347" name="Google Shape;347;p35"/>
              <p:cNvSpPr/>
              <p:nvPr/>
            </p:nvSpPr>
            <p:spPr>
              <a:xfrm>
                <a:off x="4603627" y="3011976"/>
                <a:ext cx="1037645" cy="407875"/>
              </a:xfrm>
              <a:custGeom>
                <a:avLst/>
                <a:gdLst/>
                <a:ahLst/>
                <a:cxnLst/>
                <a:rect l="l" t="t" r="r" b="b"/>
                <a:pathLst>
                  <a:path w="24196" h="17303" fill="none" extrusionOk="0">
                    <a:moveTo>
                      <a:pt x="13376" y="17302"/>
                    </a:moveTo>
                    <a:cubicBezTo>
                      <a:pt x="12920" y="17302"/>
                      <a:pt x="12760" y="15248"/>
                      <a:pt x="12463" y="8651"/>
                    </a:cubicBezTo>
                    <a:cubicBezTo>
                      <a:pt x="12303" y="4999"/>
                      <a:pt x="12098" y="457"/>
                      <a:pt x="11778" y="183"/>
                    </a:cubicBezTo>
                    <a:cubicBezTo>
                      <a:pt x="11504" y="366"/>
                      <a:pt x="11253" y="3744"/>
                      <a:pt x="11048" y="6209"/>
                    </a:cubicBezTo>
                    <a:cubicBezTo>
                      <a:pt x="10683" y="10934"/>
                      <a:pt x="10500" y="12395"/>
                      <a:pt x="10089" y="12395"/>
                    </a:cubicBezTo>
                    <a:cubicBezTo>
                      <a:pt x="9701" y="12395"/>
                      <a:pt x="9541" y="11687"/>
                      <a:pt x="9382" y="10843"/>
                    </a:cubicBezTo>
                    <a:cubicBezTo>
                      <a:pt x="9245" y="10249"/>
                      <a:pt x="9085" y="9450"/>
                      <a:pt x="8879" y="9450"/>
                    </a:cubicBezTo>
                    <a:cubicBezTo>
                      <a:pt x="8651" y="9450"/>
                      <a:pt x="8514" y="10044"/>
                      <a:pt x="8377" y="10523"/>
                    </a:cubicBezTo>
                    <a:cubicBezTo>
                      <a:pt x="8218" y="11139"/>
                      <a:pt x="8058" y="11733"/>
                      <a:pt x="7693" y="11733"/>
                    </a:cubicBezTo>
                    <a:lnTo>
                      <a:pt x="0" y="11733"/>
                    </a:lnTo>
                    <a:lnTo>
                      <a:pt x="0" y="11527"/>
                    </a:lnTo>
                    <a:lnTo>
                      <a:pt x="7693" y="11527"/>
                    </a:lnTo>
                    <a:cubicBezTo>
                      <a:pt x="7898" y="11527"/>
                      <a:pt x="8058" y="10934"/>
                      <a:pt x="8172" y="10455"/>
                    </a:cubicBezTo>
                    <a:cubicBezTo>
                      <a:pt x="8354" y="9838"/>
                      <a:pt x="8491" y="9245"/>
                      <a:pt x="8879" y="9245"/>
                    </a:cubicBezTo>
                    <a:cubicBezTo>
                      <a:pt x="9245" y="9245"/>
                      <a:pt x="9404" y="9975"/>
                      <a:pt x="9564" y="10797"/>
                    </a:cubicBezTo>
                    <a:cubicBezTo>
                      <a:pt x="9701" y="11390"/>
                      <a:pt x="9861" y="12189"/>
                      <a:pt x="10066" y="12189"/>
                    </a:cubicBezTo>
                    <a:cubicBezTo>
                      <a:pt x="10386" y="12030"/>
                      <a:pt x="10660" y="8651"/>
                      <a:pt x="10842" y="6186"/>
                    </a:cubicBezTo>
                    <a:cubicBezTo>
                      <a:pt x="11208" y="1461"/>
                      <a:pt x="11390" y="1"/>
                      <a:pt x="11801" y="1"/>
                    </a:cubicBezTo>
                    <a:cubicBezTo>
                      <a:pt x="12212" y="1"/>
                      <a:pt x="12372" y="2055"/>
                      <a:pt x="12668" y="8651"/>
                    </a:cubicBezTo>
                    <a:cubicBezTo>
                      <a:pt x="12828" y="12303"/>
                      <a:pt x="13034" y="16846"/>
                      <a:pt x="13353" y="17120"/>
                    </a:cubicBezTo>
                    <a:cubicBezTo>
                      <a:pt x="13513" y="16960"/>
                      <a:pt x="13627" y="15248"/>
                      <a:pt x="13718" y="13993"/>
                    </a:cubicBezTo>
                    <a:cubicBezTo>
                      <a:pt x="13901" y="11413"/>
                      <a:pt x="13992" y="10706"/>
                      <a:pt x="14266" y="10706"/>
                    </a:cubicBezTo>
                    <a:cubicBezTo>
                      <a:pt x="14563" y="10706"/>
                      <a:pt x="14700" y="11025"/>
                      <a:pt x="14814" y="11322"/>
                    </a:cubicBezTo>
                    <a:cubicBezTo>
                      <a:pt x="14905" y="11550"/>
                      <a:pt x="15019" y="11778"/>
                      <a:pt x="15156" y="11778"/>
                    </a:cubicBezTo>
                    <a:lnTo>
                      <a:pt x="15156" y="11778"/>
                    </a:lnTo>
                    <a:cubicBezTo>
                      <a:pt x="15430" y="11778"/>
                      <a:pt x="15613" y="10660"/>
                      <a:pt x="15727" y="9930"/>
                    </a:cubicBezTo>
                    <a:cubicBezTo>
                      <a:pt x="15932" y="8674"/>
                      <a:pt x="16092" y="7898"/>
                      <a:pt x="16480" y="7898"/>
                    </a:cubicBezTo>
                    <a:cubicBezTo>
                      <a:pt x="16868" y="7898"/>
                      <a:pt x="17005" y="8857"/>
                      <a:pt x="17234" y="10569"/>
                    </a:cubicBezTo>
                    <a:cubicBezTo>
                      <a:pt x="17348" y="11482"/>
                      <a:pt x="17553" y="13034"/>
                      <a:pt x="17781" y="13034"/>
                    </a:cubicBezTo>
                    <a:cubicBezTo>
                      <a:pt x="17941" y="13034"/>
                      <a:pt x="18078" y="12258"/>
                      <a:pt x="18147" y="11847"/>
                    </a:cubicBezTo>
                    <a:cubicBezTo>
                      <a:pt x="18306" y="11025"/>
                      <a:pt x="18420" y="10500"/>
                      <a:pt x="18717" y="10500"/>
                    </a:cubicBezTo>
                    <a:cubicBezTo>
                      <a:pt x="19037" y="10500"/>
                      <a:pt x="19151" y="10980"/>
                      <a:pt x="19288" y="11459"/>
                    </a:cubicBezTo>
                    <a:cubicBezTo>
                      <a:pt x="19356" y="11801"/>
                      <a:pt x="19493" y="12258"/>
                      <a:pt x="19630" y="12258"/>
                    </a:cubicBezTo>
                    <a:cubicBezTo>
                      <a:pt x="19721" y="12258"/>
                      <a:pt x="19790" y="12075"/>
                      <a:pt x="19836" y="11938"/>
                    </a:cubicBezTo>
                    <a:cubicBezTo>
                      <a:pt x="19904" y="11733"/>
                      <a:pt x="19973" y="11527"/>
                      <a:pt x="20155" y="11527"/>
                    </a:cubicBezTo>
                    <a:lnTo>
                      <a:pt x="24195" y="11527"/>
                    </a:lnTo>
                    <a:lnTo>
                      <a:pt x="24195" y="11733"/>
                    </a:lnTo>
                    <a:lnTo>
                      <a:pt x="20155" y="11733"/>
                    </a:lnTo>
                    <a:cubicBezTo>
                      <a:pt x="20110" y="11733"/>
                      <a:pt x="20064" y="11915"/>
                      <a:pt x="20018" y="11984"/>
                    </a:cubicBezTo>
                    <a:cubicBezTo>
                      <a:pt x="19950" y="12189"/>
                      <a:pt x="19881" y="12463"/>
                      <a:pt x="19630" y="12463"/>
                    </a:cubicBezTo>
                    <a:cubicBezTo>
                      <a:pt x="19333" y="12463"/>
                      <a:pt x="19197" y="12007"/>
                      <a:pt x="19082" y="11505"/>
                    </a:cubicBezTo>
                    <a:cubicBezTo>
                      <a:pt x="18991" y="11162"/>
                      <a:pt x="18877" y="10706"/>
                      <a:pt x="18717" y="10706"/>
                    </a:cubicBezTo>
                    <a:cubicBezTo>
                      <a:pt x="18580" y="10706"/>
                      <a:pt x="18443" y="11482"/>
                      <a:pt x="18352" y="11893"/>
                    </a:cubicBezTo>
                    <a:cubicBezTo>
                      <a:pt x="18215" y="12737"/>
                      <a:pt x="18101" y="13239"/>
                      <a:pt x="17804" y="13239"/>
                    </a:cubicBezTo>
                    <a:cubicBezTo>
                      <a:pt x="17393" y="13239"/>
                      <a:pt x="17256" y="12281"/>
                      <a:pt x="17028" y="10592"/>
                    </a:cubicBezTo>
                    <a:cubicBezTo>
                      <a:pt x="16914" y="9656"/>
                      <a:pt x="16709" y="8104"/>
                      <a:pt x="16480" y="8104"/>
                    </a:cubicBezTo>
                    <a:cubicBezTo>
                      <a:pt x="16229" y="8104"/>
                      <a:pt x="16047" y="9222"/>
                      <a:pt x="15932" y="9975"/>
                    </a:cubicBezTo>
                    <a:cubicBezTo>
                      <a:pt x="15727" y="11231"/>
                      <a:pt x="15567" y="11984"/>
                      <a:pt x="15179" y="11984"/>
                    </a:cubicBezTo>
                    <a:cubicBezTo>
                      <a:pt x="14883" y="11984"/>
                      <a:pt x="14746" y="11664"/>
                      <a:pt x="14631" y="11390"/>
                    </a:cubicBezTo>
                    <a:cubicBezTo>
                      <a:pt x="14517" y="11162"/>
                      <a:pt x="14426" y="10911"/>
                      <a:pt x="14266" y="10911"/>
                    </a:cubicBezTo>
                    <a:cubicBezTo>
                      <a:pt x="14129" y="11048"/>
                      <a:pt x="14015" y="12760"/>
                      <a:pt x="13924" y="14015"/>
                    </a:cubicBezTo>
                    <a:cubicBezTo>
                      <a:pt x="13741" y="16595"/>
                      <a:pt x="13650" y="17302"/>
                      <a:pt x="13376" y="17302"/>
                    </a:cubicBezTo>
                    <a:close/>
                  </a:path>
                </a:pathLst>
              </a:custGeom>
              <a:solidFill>
                <a:srgbClr val="EF3455"/>
              </a:solidFill>
              <a:ln w="19050" cap="flat" cmpd="sng">
                <a:solidFill>
                  <a:srgbClr val="EF3455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+mn-lt"/>
                  <a:ea typeface="PT Sans"/>
                  <a:cs typeface="PT Sans"/>
                  <a:sym typeface="PT Sans"/>
                </a:endParaRPr>
              </a:p>
            </p:txBody>
          </p:sp>
        </p:grpSp>
        <p:sp>
          <p:nvSpPr>
            <p:cNvPr id="348" name="Google Shape;348;p35"/>
            <p:cNvSpPr/>
            <p:nvPr/>
          </p:nvSpPr>
          <p:spPr>
            <a:xfrm>
              <a:off x="3341549" y="4070726"/>
              <a:ext cx="176100" cy="171900"/>
            </a:xfrm>
            <a:prstGeom prst="heart">
              <a:avLst/>
            </a:prstGeom>
            <a:solidFill>
              <a:srgbClr val="EF34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4D15F94B-DB98-5CCF-2C34-18C2DEEDCA2C}"/>
              </a:ext>
            </a:extLst>
          </p:cNvPr>
          <p:cNvSpPr txBox="1">
            <a:spLocks/>
          </p:cNvSpPr>
          <p:nvPr/>
        </p:nvSpPr>
        <p:spPr>
          <a:xfrm>
            <a:off x="313654" y="474868"/>
            <a:ext cx="498483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5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2pPr>
            <a:lvl3pPr marR="0" lvl="2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3pPr>
            <a:lvl4pPr marR="0" lvl="3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4pPr>
            <a:lvl5pPr marR="0" lvl="4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5pPr>
            <a:lvl6pPr marR="0" lvl="5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6pPr>
            <a:lvl7pPr marR="0" lvl="6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7pPr>
            <a:lvl8pPr marR="0" lvl="7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8pPr>
            <a:lvl9pPr marR="0" lvl="8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9pPr>
          </a:lstStyle>
          <a:p>
            <a:pPr algn="ctr"/>
            <a:r>
              <a:rPr lang="en-MY" sz="3200" dirty="0">
                <a:solidFill>
                  <a:srgbClr val="D71D26"/>
                </a:solidFill>
                <a:latin typeface="+mn-lt"/>
              </a:rPr>
              <a:t>PROBLEM STATEMENT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A99B6C-718E-66D3-EC85-C0CF707FDDFA}"/>
              </a:ext>
            </a:extLst>
          </p:cNvPr>
          <p:cNvGrpSpPr/>
          <p:nvPr/>
        </p:nvGrpSpPr>
        <p:grpSpPr>
          <a:xfrm>
            <a:off x="5332326" y="1723691"/>
            <a:ext cx="3464182" cy="2752465"/>
            <a:chOff x="5222618" y="1972549"/>
            <a:chExt cx="3464182" cy="2752465"/>
          </a:xfrm>
        </p:grpSpPr>
        <p:sp>
          <p:nvSpPr>
            <p:cNvPr id="5" name="Google Shape;1101;p53">
              <a:extLst>
                <a:ext uri="{FF2B5EF4-FFF2-40B4-BE49-F238E27FC236}">
                  <a16:creationId xmlns:a16="http://schemas.microsoft.com/office/drawing/2014/main" id="{6210B0AD-5DCA-0F5B-9279-DAE11441345A}"/>
                </a:ext>
              </a:extLst>
            </p:cNvPr>
            <p:cNvSpPr txBox="1">
              <a:spLocks/>
            </p:cNvSpPr>
            <p:nvPr/>
          </p:nvSpPr>
          <p:spPr>
            <a:xfrm>
              <a:off x="5222618" y="1972549"/>
              <a:ext cx="3464182" cy="275246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PT Sans"/>
                <a:buChar char="●"/>
                <a:defRPr sz="1400" b="0" i="0" u="none" strike="noStrike" cap="none">
                  <a:solidFill>
                    <a:schemeClr val="dk1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PT Sans"/>
                <a:buChar char="○"/>
                <a:defRPr sz="1400" b="0" i="0" u="none" strike="noStrike" cap="none">
                  <a:solidFill>
                    <a:schemeClr val="dk1"/>
                  </a:solidFill>
                  <a:latin typeface="PT Sans"/>
                  <a:ea typeface="PT Sans"/>
                  <a:cs typeface="PT Sans"/>
                  <a:sym typeface="PT Sans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PT Sans"/>
                <a:buChar char="■"/>
                <a:defRPr sz="1400" b="0" i="0" u="none" strike="noStrike" cap="none">
                  <a:solidFill>
                    <a:schemeClr val="dk1"/>
                  </a:solidFill>
                  <a:latin typeface="PT Sans"/>
                  <a:ea typeface="PT Sans"/>
                  <a:cs typeface="PT Sans"/>
                  <a:sym typeface="PT Sans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PT Sans"/>
                <a:buChar char="●"/>
                <a:defRPr sz="1400" b="0" i="0" u="none" strike="noStrike" cap="none">
                  <a:solidFill>
                    <a:schemeClr val="dk1"/>
                  </a:solidFill>
                  <a:latin typeface="PT Sans"/>
                  <a:ea typeface="PT Sans"/>
                  <a:cs typeface="PT Sans"/>
                  <a:sym typeface="PT Sans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PT Sans"/>
                <a:buChar char="○"/>
                <a:defRPr sz="1400" b="0" i="0" u="none" strike="noStrike" cap="none">
                  <a:solidFill>
                    <a:schemeClr val="dk1"/>
                  </a:solidFill>
                  <a:latin typeface="PT Sans"/>
                  <a:ea typeface="PT Sans"/>
                  <a:cs typeface="PT Sans"/>
                  <a:sym typeface="PT Sans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PT Sans"/>
                <a:buChar char="■"/>
                <a:defRPr sz="1400" b="0" i="0" u="none" strike="noStrike" cap="none">
                  <a:solidFill>
                    <a:schemeClr val="dk1"/>
                  </a:solidFill>
                  <a:latin typeface="PT Sans"/>
                  <a:ea typeface="PT Sans"/>
                  <a:cs typeface="PT Sans"/>
                  <a:sym typeface="PT Sans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PT Sans"/>
                <a:buChar char="●"/>
                <a:defRPr sz="1400" b="0" i="0" u="none" strike="noStrike" cap="none">
                  <a:solidFill>
                    <a:schemeClr val="dk1"/>
                  </a:solidFill>
                  <a:latin typeface="PT Sans"/>
                  <a:ea typeface="PT Sans"/>
                  <a:cs typeface="PT Sans"/>
                  <a:sym typeface="PT Sans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PT Sans"/>
                <a:buChar char="○"/>
                <a:defRPr sz="1400" b="0" i="0" u="none" strike="noStrike" cap="none">
                  <a:solidFill>
                    <a:schemeClr val="dk1"/>
                  </a:solidFill>
                  <a:latin typeface="PT Sans"/>
                  <a:ea typeface="PT Sans"/>
                  <a:cs typeface="PT Sans"/>
                  <a:sym typeface="PT Sans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400"/>
                <a:buFont typeface="PT Sans"/>
                <a:buChar char="■"/>
                <a:defRPr sz="1400" b="0" i="0" u="none" strike="noStrike" cap="none">
                  <a:solidFill>
                    <a:schemeClr val="dk1"/>
                  </a:solidFill>
                  <a:latin typeface="PT Sans"/>
                  <a:ea typeface="PT Sans"/>
                  <a:cs typeface="PT Sans"/>
                  <a:sym typeface="PT Sans"/>
                </a:defRPr>
              </a:lvl9pPr>
            </a:lstStyle>
            <a:p>
              <a:pPr marL="0" indent="0">
                <a:buFont typeface="PT Sans"/>
                <a:buNone/>
              </a:pPr>
              <a:endParaRPr lang="en-MY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CDFA0D2-F7A2-1549-65A9-9EE6F7E13260}"/>
                </a:ext>
              </a:extLst>
            </p:cNvPr>
            <p:cNvSpPr txBox="1"/>
            <p:nvPr/>
          </p:nvSpPr>
          <p:spPr>
            <a:xfrm>
              <a:off x="5381368" y="2402174"/>
              <a:ext cx="3146682" cy="1749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39700" indent="0" algn="just">
                <a:lnSpc>
                  <a:spcPct val="200000"/>
                </a:lnSpc>
              </a:pPr>
              <a:r>
                <a:rPr lang="en-MY" sz="1400" dirty="0">
                  <a:solidFill>
                    <a:schemeClr val="bg1"/>
                  </a:solidFill>
                  <a:latin typeface="+mn-lt"/>
                  <a:cs typeface="Arial"/>
                </a:rPr>
                <a:t>To develop three-year ML-based risk prediction models for CVD, MI, and stroke for the Malaysian demographic </a:t>
              </a:r>
            </a:p>
          </p:txBody>
        </p:sp>
      </p:grpSp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C9681A4B-BF4A-A24A-D734-5D0706116B3A}"/>
              </a:ext>
            </a:extLst>
          </p:cNvPr>
          <p:cNvSpPr txBox="1">
            <a:spLocks/>
          </p:cNvSpPr>
          <p:nvPr/>
        </p:nvSpPr>
        <p:spPr>
          <a:xfrm>
            <a:off x="4572000" y="1218087"/>
            <a:ext cx="498483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5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2pPr>
            <a:lvl3pPr marR="0" lvl="2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3pPr>
            <a:lvl4pPr marR="0" lvl="3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4pPr>
            <a:lvl5pPr marR="0" lvl="4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5pPr>
            <a:lvl6pPr marR="0" lvl="5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6pPr>
            <a:lvl7pPr marR="0" lvl="6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7pPr>
            <a:lvl8pPr marR="0" lvl="7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8pPr>
            <a:lvl9pPr marR="0" lvl="8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ppio One"/>
              <a:buNone/>
              <a:defRPr sz="60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9pPr>
          </a:lstStyle>
          <a:p>
            <a:pPr algn="ctr"/>
            <a:r>
              <a:rPr lang="en-MY" sz="3200" dirty="0">
                <a:solidFill>
                  <a:srgbClr val="D71D26"/>
                </a:solidFill>
                <a:latin typeface="+mn-lt"/>
              </a:rPr>
              <a:t>AIM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01;p53">
            <a:extLst>
              <a:ext uri="{FF2B5EF4-FFF2-40B4-BE49-F238E27FC236}">
                <a16:creationId xmlns:a16="http://schemas.microsoft.com/office/drawing/2014/main" id="{3040B53C-7164-D685-22D1-8EF437DA969D}"/>
              </a:ext>
            </a:extLst>
          </p:cNvPr>
          <p:cNvSpPr txBox="1">
            <a:spLocks/>
          </p:cNvSpPr>
          <p:nvPr/>
        </p:nvSpPr>
        <p:spPr>
          <a:xfrm>
            <a:off x="392659" y="1139443"/>
            <a:ext cx="4917717" cy="361840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>
              <a:buFont typeface="PT Sans"/>
              <a:buNone/>
            </a:pPr>
            <a:endParaRPr lang="en-MY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368" name="Google Shape;36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lnSpc>
                <a:spcPct val="80000"/>
              </a:lnSpc>
              <a:buSzPts val="6000"/>
            </a:pPr>
            <a:r>
              <a:rPr lang="en-MY" sz="3600" dirty="0">
                <a:solidFill>
                  <a:srgbClr val="D71D26"/>
                </a:solidFill>
                <a:latin typeface="+mn-lt"/>
              </a:rPr>
              <a:t>RESEARCH QUESTIONS</a:t>
            </a:r>
          </a:p>
        </p:txBody>
      </p:sp>
      <p:sp>
        <p:nvSpPr>
          <p:cNvPr id="369" name="Google Shape;369;p36"/>
          <p:cNvSpPr txBox="1">
            <a:spLocks noGrp="1"/>
          </p:cNvSpPr>
          <p:nvPr>
            <p:ph type="body" idx="4294967295"/>
          </p:nvPr>
        </p:nvSpPr>
        <p:spPr>
          <a:xfrm>
            <a:off x="392659" y="1139443"/>
            <a:ext cx="4751614" cy="3618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MY" dirty="0">
                <a:solidFill>
                  <a:schemeClr val="bg1"/>
                </a:solidFill>
                <a:latin typeface="+mn-lt"/>
                <a:cs typeface="Arial"/>
              </a:rPr>
              <a:t>What are the key predictors for accurate CVD risk models?</a:t>
            </a:r>
          </a:p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endParaRPr lang="en-MY" dirty="0">
              <a:solidFill>
                <a:schemeClr val="bg1"/>
              </a:solidFill>
              <a:latin typeface="+mn-lt"/>
              <a:cs typeface="Arial"/>
            </a:endParaRPr>
          </a:p>
          <a:p>
            <a:pPr marL="342900" lvl="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MY" dirty="0">
                <a:solidFill>
                  <a:schemeClr val="bg1"/>
                </a:solidFill>
                <a:latin typeface="+mn-lt"/>
                <a:cs typeface="Arial"/>
              </a:rPr>
              <a:t>How does a 3-year CVD risk model for the Malaysian population compare to the Framingham Risk Score (FRS)?</a:t>
            </a:r>
          </a:p>
          <a:p>
            <a:pPr marL="342900" lvl="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endParaRPr lang="en-MY" dirty="0">
              <a:solidFill>
                <a:schemeClr val="bg1"/>
              </a:solidFill>
              <a:latin typeface="+mn-lt"/>
              <a:cs typeface="Arial"/>
            </a:endParaRPr>
          </a:p>
          <a:p>
            <a:pPr marL="342900" lvl="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MY" dirty="0">
                <a:solidFill>
                  <a:schemeClr val="bg1"/>
                </a:solidFill>
                <a:latin typeface="+mn-lt"/>
                <a:cs typeface="Arial"/>
              </a:rPr>
              <a:t>Can a machine learning model accurately classify MI and stroke within 3 years in the Malaysian population?</a:t>
            </a:r>
          </a:p>
          <a:p>
            <a:pPr marL="342900" lvl="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endParaRPr lang="en-MY" dirty="0">
              <a:solidFill>
                <a:schemeClr val="bg1"/>
              </a:solidFill>
              <a:latin typeface="+mn-lt"/>
              <a:cs typeface="Arial"/>
            </a:endParaRPr>
          </a:p>
          <a:p>
            <a:pPr marL="342900" lvl="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MY" dirty="0">
                <a:solidFill>
                  <a:schemeClr val="bg1"/>
                </a:solidFill>
                <a:latin typeface="+mn-lt"/>
                <a:cs typeface="Arial"/>
              </a:rPr>
              <a:t>What are the key predictors for accurate CVD risk models?</a:t>
            </a:r>
          </a:p>
          <a:p>
            <a:pPr marL="342900" lvl="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endParaRPr lang="en-MY" dirty="0">
              <a:solidFill>
                <a:schemeClr val="bg1"/>
              </a:solidFill>
              <a:latin typeface="+mn-lt"/>
              <a:cs typeface="Arial"/>
            </a:endParaRPr>
          </a:p>
        </p:txBody>
      </p:sp>
      <p:pic>
        <p:nvPicPr>
          <p:cNvPr id="7" name="Picture 6" descr="A red question mark on a white background&#10;&#10;Description automatically generated">
            <a:extLst>
              <a:ext uri="{FF2B5EF4-FFF2-40B4-BE49-F238E27FC236}">
                <a16:creationId xmlns:a16="http://schemas.microsoft.com/office/drawing/2014/main" id="{56B8FD74-D1E2-2F6F-F9E4-EDFB2542F8D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6218427" y="1716744"/>
            <a:ext cx="19558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09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01;p53">
            <a:extLst>
              <a:ext uri="{FF2B5EF4-FFF2-40B4-BE49-F238E27FC236}">
                <a16:creationId xmlns:a16="http://schemas.microsoft.com/office/drawing/2014/main" id="{3040B53C-7164-D685-22D1-8EF437DA969D}"/>
              </a:ext>
            </a:extLst>
          </p:cNvPr>
          <p:cNvSpPr txBox="1">
            <a:spLocks/>
          </p:cNvSpPr>
          <p:nvPr/>
        </p:nvSpPr>
        <p:spPr>
          <a:xfrm>
            <a:off x="424543" y="1282340"/>
            <a:ext cx="5099435" cy="362125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>
              <a:buFont typeface="PT Sans"/>
              <a:buNone/>
            </a:pPr>
            <a:endParaRPr lang="en-MY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368" name="Google Shape;36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D71D26"/>
                </a:solidFill>
                <a:latin typeface="+mn-lt"/>
              </a:rPr>
              <a:t>OBJECTIVES</a:t>
            </a:r>
            <a:endParaRPr sz="3600" dirty="0">
              <a:solidFill>
                <a:srgbClr val="D71D26"/>
              </a:solidFill>
              <a:latin typeface="+mn-lt"/>
            </a:endParaRPr>
          </a:p>
        </p:txBody>
      </p:sp>
      <p:sp>
        <p:nvSpPr>
          <p:cNvPr id="369" name="Google Shape;369;p36"/>
          <p:cNvSpPr txBox="1">
            <a:spLocks noGrp="1"/>
          </p:cNvSpPr>
          <p:nvPr>
            <p:ph type="body" idx="4294967295"/>
          </p:nvPr>
        </p:nvSpPr>
        <p:spPr>
          <a:xfrm>
            <a:off x="262410" y="1281656"/>
            <a:ext cx="5261568" cy="3024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MY" dirty="0">
                <a:solidFill>
                  <a:schemeClr val="bg1"/>
                </a:solidFill>
                <a:latin typeface="+mn-lt"/>
                <a:cs typeface="Arial"/>
              </a:rPr>
              <a:t>To identify key predictors of CVD risk.</a:t>
            </a:r>
          </a:p>
          <a:p>
            <a:pPr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endParaRPr lang="en-MY" dirty="0">
              <a:solidFill>
                <a:schemeClr val="bg1"/>
              </a:solidFill>
              <a:latin typeface="+mn-lt"/>
              <a:cs typeface="Arial"/>
            </a:endParaRPr>
          </a:p>
          <a:p>
            <a:pPr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MY" dirty="0">
                <a:solidFill>
                  <a:schemeClr val="bg1"/>
                </a:solidFill>
                <a:latin typeface="+mn-lt"/>
                <a:cs typeface="Arial"/>
              </a:rPr>
              <a:t>To develop a general  3-year CVD risk model for the Malaysian population.</a:t>
            </a:r>
          </a:p>
          <a:p>
            <a:pPr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endParaRPr lang="en-MY" dirty="0">
              <a:solidFill>
                <a:schemeClr val="bg1"/>
              </a:solidFill>
              <a:latin typeface="+mn-lt"/>
              <a:cs typeface="Arial"/>
            </a:endParaRPr>
          </a:p>
          <a:p>
            <a:pPr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MY" dirty="0">
                <a:solidFill>
                  <a:schemeClr val="bg1"/>
                </a:solidFill>
                <a:latin typeface="+mn-lt"/>
                <a:cs typeface="Arial"/>
              </a:rPr>
              <a:t>To develop a model for classifying MI and stroke within 3 years.</a:t>
            </a:r>
          </a:p>
          <a:p>
            <a:pPr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endParaRPr lang="en-MY" dirty="0">
              <a:solidFill>
                <a:schemeClr val="bg1"/>
              </a:solidFill>
              <a:latin typeface="+mn-lt"/>
              <a:cs typeface="Arial"/>
            </a:endParaRPr>
          </a:p>
          <a:p>
            <a:pPr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MY" dirty="0">
                <a:solidFill>
                  <a:schemeClr val="bg1"/>
                </a:solidFill>
                <a:latin typeface="+mn-lt"/>
                <a:cs typeface="Arial"/>
              </a:rPr>
              <a:t>To compare the performance of the general CVD risk model with conventional FRS risk  scores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9078E2-AC06-580C-42D8-EB315403F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202" y="1733526"/>
            <a:ext cx="3377197" cy="28601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tethoscope and a heart&#10;&#10;Description automatically generated">
            <a:extLst>
              <a:ext uri="{FF2B5EF4-FFF2-40B4-BE49-F238E27FC236}">
                <a16:creationId xmlns:a16="http://schemas.microsoft.com/office/drawing/2014/main" id="{6AE3664B-2955-6AB5-FB8D-A07936625A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blurRad="683420" dist="50800" dir="6060000" sx="108019" sy="108019" algn="ctr" rotWithShape="0">
              <a:srgbClr val="000000"/>
            </a:outerShdw>
          </a:effectLst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7CAF5A06-3778-AF68-B35D-B0817F2D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66" y="273048"/>
            <a:ext cx="7886700" cy="990601"/>
          </a:xfrm>
          <a:effectLst>
            <a:outerShdw blurRad="50800" dist="50800" dir="5400000" algn="ctr" rotWithShape="0">
              <a:srgbClr val="000000">
                <a:alpha val="5623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B1D9F54-C429-C878-94EB-D3E9F3FFBBA7}"/>
              </a:ext>
            </a:extLst>
          </p:cNvPr>
          <p:cNvSpPr txBox="1">
            <a:spLocks/>
          </p:cNvSpPr>
          <p:nvPr/>
        </p:nvSpPr>
        <p:spPr>
          <a:xfrm>
            <a:off x="332055" y="1263649"/>
            <a:ext cx="4233862" cy="189388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b="1" dirty="0">
                <a:solidFill>
                  <a:srgbClr val="F3F3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236250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02A3C-6241-C0E0-6720-B5B8AF308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590" y="278627"/>
            <a:ext cx="7704000" cy="572700"/>
          </a:xfrm>
        </p:spPr>
        <p:txBody>
          <a:bodyPr/>
          <a:lstStyle/>
          <a:p>
            <a:r>
              <a:rPr lang="en" sz="3200" dirty="0">
                <a:solidFill>
                  <a:srgbClr val="D71D26"/>
                </a:solidFill>
                <a:latin typeface="+mn-lt"/>
              </a:rPr>
              <a:t>Methodology - </a:t>
            </a:r>
            <a:r>
              <a:rPr lang="en-US" sz="3200" dirty="0">
                <a:solidFill>
                  <a:srgbClr val="D71D26"/>
                </a:solidFill>
                <a:latin typeface="+mn-lt"/>
              </a:rPr>
              <a:t>Study Data</a:t>
            </a:r>
          </a:p>
        </p:txBody>
      </p:sp>
      <p:sp>
        <p:nvSpPr>
          <p:cNvPr id="21" name="Google Shape;1101;p53">
            <a:extLst>
              <a:ext uri="{FF2B5EF4-FFF2-40B4-BE49-F238E27FC236}">
                <a16:creationId xmlns:a16="http://schemas.microsoft.com/office/drawing/2014/main" id="{25BF49D9-1C6C-D574-91F8-B27454B10B35}"/>
              </a:ext>
            </a:extLst>
          </p:cNvPr>
          <p:cNvSpPr txBox="1">
            <a:spLocks/>
          </p:cNvSpPr>
          <p:nvPr/>
        </p:nvSpPr>
        <p:spPr>
          <a:xfrm>
            <a:off x="576915" y="1080404"/>
            <a:ext cx="7990169" cy="70011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T Sans"/>
              <a:buChar char="■"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MY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REDISCOVER DATASET </a:t>
            </a:r>
            <a:br>
              <a:rPr lang="en-MY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MY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(Responding to Increasing Cardiovascular Disease Prevalence)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D3A52D4-8CD1-AB86-37D7-C5198B4CA926}"/>
              </a:ext>
            </a:extLst>
          </p:cNvPr>
          <p:cNvGrpSpPr/>
          <p:nvPr/>
        </p:nvGrpSpPr>
        <p:grpSpPr>
          <a:xfrm>
            <a:off x="5405781" y="2027593"/>
            <a:ext cx="4177260" cy="2025969"/>
            <a:chOff x="5405781" y="2017433"/>
            <a:chExt cx="4177260" cy="202596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DDB5B62-5BD4-0E31-0AC4-3E42BB56C7C0}"/>
                </a:ext>
              </a:extLst>
            </p:cNvPr>
            <p:cNvSpPr txBox="1"/>
            <p:nvPr/>
          </p:nvSpPr>
          <p:spPr>
            <a:xfrm>
              <a:off x="6420763" y="2046317"/>
              <a:ext cx="3162278" cy="1997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MY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 Features: 53 features</a:t>
              </a:r>
              <a:br>
                <a:rPr lang="en-MY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MY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Categories of Features: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MY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Demographic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MY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Clinical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MY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Lifestyle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MY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Family History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MY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Respiratory</a:t>
              </a:r>
            </a:p>
          </p:txBody>
        </p:sp>
        <p:pic>
          <p:nvPicPr>
            <p:cNvPr id="25" name="Picture 24" descr="A close-up of a medical icon&#10;&#10;Description automatically generated">
              <a:extLst>
                <a:ext uri="{FF2B5EF4-FFF2-40B4-BE49-F238E27FC236}">
                  <a16:creationId xmlns:a16="http://schemas.microsoft.com/office/drawing/2014/main" id="{357573AE-01F0-4502-058A-A22130A07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405781" y="2017433"/>
              <a:ext cx="752735" cy="700112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74AD4B-091E-A395-85F2-A1CA1098BEF0}"/>
              </a:ext>
            </a:extLst>
          </p:cNvPr>
          <p:cNvGrpSpPr/>
          <p:nvPr/>
        </p:nvGrpSpPr>
        <p:grpSpPr>
          <a:xfrm>
            <a:off x="629888" y="2017931"/>
            <a:ext cx="4813526" cy="2874500"/>
            <a:chOff x="629888" y="2007771"/>
            <a:chExt cx="4813526" cy="28745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ECDD5FC-C4E0-9E71-187C-3B6491BF4E13}"/>
                </a:ext>
              </a:extLst>
            </p:cNvPr>
            <p:cNvSpPr txBox="1"/>
            <p:nvPr/>
          </p:nvSpPr>
          <p:spPr>
            <a:xfrm>
              <a:off x="1556889" y="2007771"/>
              <a:ext cx="3162278" cy="773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MY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 observational longitudinal community-based study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C2030C-7679-720C-194B-959DA0F090F4}"/>
                </a:ext>
              </a:extLst>
            </p:cNvPr>
            <p:cNvSpPr txBox="1"/>
            <p:nvPr/>
          </p:nvSpPr>
          <p:spPr>
            <a:xfrm>
              <a:off x="1556889" y="2920092"/>
              <a:ext cx="3239772" cy="114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MY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12,617 participants aged 18 and up, across Eight different states</a:t>
              </a:r>
            </a:p>
            <a:p>
              <a:pPr>
                <a:lnSpc>
                  <a:spcPct val="200000"/>
                </a:lnSpc>
              </a:pPr>
              <a:r>
                <a:rPr lang="en-MY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Represents Malaysia's major ethnic groups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7594D6-9402-C5FE-F0BB-1F03FB047337}"/>
                </a:ext>
              </a:extLst>
            </p:cNvPr>
            <p:cNvSpPr txBox="1"/>
            <p:nvPr/>
          </p:nvSpPr>
          <p:spPr>
            <a:xfrm>
              <a:off x="1624947" y="4422628"/>
              <a:ext cx="3818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MY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2007 – On Going</a:t>
              </a:r>
              <a:endParaRPr lang="en-CA" sz="1200" dirty="0">
                <a:solidFill>
                  <a:schemeClr val="tx1"/>
                </a:solidFill>
              </a:endParaRPr>
            </a:p>
          </p:txBody>
        </p:sp>
        <p:pic>
          <p:nvPicPr>
            <p:cNvPr id="15" name="Picture 4" descr="People icon. Download flag icon of Malaysia at PNG format">
              <a:extLst>
                <a:ext uri="{FF2B5EF4-FFF2-40B4-BE49-F238E27FC236}">
                  <a16:creationId xmlns:a16="http://schemas.microsoft.com/office/drawing/2014/main" id="{BBD3724C-C702-6CEC-F790-B59FE9AC42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888" y="3122572"/>
              <a:ext cx="995059" cy="7462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11748CB-7256-5B0A-83DF-75A7AE6B3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595" y="4239986"/>
              <a:ext cx="642285" cy="642285"/>
            </a:xfrm>
            <a:prstGeom prst="rect">
              <a:avLst/>
            </a:prstGeom>
          </p:spPr>
        </p:pic>
        <p:pic>
          <p:nvPicPr>
            <p:cNvPr id="27" name="Picture 26" descr="A hand holding a magnifying glass over a paper&#10;&#10;Description automatically generated">
              <a:extLst>
                <a:ext uri="{FF2B5EF4-FFF2-40B4-BE49-F238E27FC236}">
                  <a16:creationId xmlns:a16="http://schemas.microsoft.com/office/drawing/2014/main" id="{6E32496D-D85F-FC2F-C0BF-2148EEFD0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5F5F5"/>
                </a:clrFrom>
                <a:clrTo>
                  <a:srgbClr val="F5F5F5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36595" y="2090994"/>
              <a:ext cx="903675" cy="7736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900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02A3C-6241-C0E0-6720-B5B8AF308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12367"/>
            <a:ext cx="7704000" cy="572700"/>
          </a:xfrm>
        </p:spPr>
        <p:txBody>
          <a:bodyPr/>
          <a:lstStyle/>
          <a:p>
            <a:r>
              <a:rPr lang="en" sz="3200" dirty="0">
                <a:solidFill>
                  <a:srgbClr val="D71D26"/>
                </a:solidFill>
                <a:latin typeface="+mn-lt"/>
              </a:rPr>
              <a:t>Framework</a:t>
            </a:r>
            <a:endParaRPr lang="en-US" dirty="0"/>
          </a:p>
        </p:txBody>
      </p:sp>
      <p:pic>
        <p:nvPicPr>
          <p:cNvPr id="5" name="Picture 4" descr="A diagram of a model training&#10;&#10;Description automatically generated">
            <a:extLst>
              <a:ext uri="{FF2B5EF4-FFF2-40B4-BE49-F238E27FC236}">
                <a16:creationId xmlns:a16="http://schemas.microsoft.com/office/drawing/2014/main" id="{0CBC4DD8-CFA1-CED0-C5F9-41EE94DB402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2720" y="670560"/>
            <a:ext cx="8808720" cy="426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95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tethoscope and a heart&#10;&#10;Description automatically generated">
            <a:extLst>
              <a:ext uri="{FF2B5EF4-FFF2-40B4-BE49-F238E27FC236}">
                <a16:creationId xmlns:a16="http://schemas.microsoft.com/office/drawing/2014/main" id="{6AE3664B-2955-6AB5-FB8D-A07936625A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blurRad="683420" dist="50800" dir="6060000" sx="108019" sy="108019" algn="ctr" rotWithShape="0">
              <a:srgbClr val="000000"/>
            </a:outerShdw>
          </a:effectLst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7CAF5A06-3778-AF68-B35D-B0817F2D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66" y="273048"/>
            <a:ext cx="7886700" cy="990601"/>
          </a:xfrm>
          <a:effectLst>
            <a:outerShdw blurRad="50800" dist="50800" dir="5400000" algn="ctr" rotWithShape="0">
              <a:srgbClr val="000000">
                <a:alpha val="5623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B1D9F54-C429-C878-94EB-D3E9F3FFBBA7}"/>
              </a:ext>
            </a:extLst>
          </p:cNvPr>
          <p:cNvSpPr txBox="1">
            <a:spLocks/>
          </p:cNvSpPr>
          <p:nvPr/>
        </p:nvSpPr>
        <p:spPr>
          <a:xfrm>
            <a:off x="332055" y="1263649"/>
            <a:ext cx="4233862" cy="189388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b="1" dirty="0">
                <a:solidFill>
                  <a:srgbClr val="F3F3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&amp;</a:t>
            </a:r>
            <a:br>
              <a:rPr lang="en-US" sz="4400" b="1" dirty="0">
                <a:solidFill>
                  <a:srgbClr val="F3F3F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b="1" dirty="0">
                <a:solidFill>
                  <a:srgbClr val="F3F3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2019772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D4BDB-1648-03F6-D95A-57D222D28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1929" y="211058"/>
            <a:ext cx="7704000" cy="572700"/>
          </a:xfrm>
        </p:spPr>
        <p:txBody>
          <a:bodyPr/>
          <a:lstStyle/>
          <a:p>
            <a:r>
              <a:rPr lang="en-US" sz="2800" dirty="0">
                <a:solidFill>
                  <a:srgbClr val="D71D26"/>
                </a:solidFill>
                <a:latin typeface="+mn-lt"/>
              </a:rPr>
              <a:t>Feature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D71D26"/>
                </a:solidFill>
                <a:latin typeface="+mn-lt"/>
              </a:rPr>
              <a:t>Comparison - Model 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915C0A-C5FF-C5FC-D21B-16EC4EEDD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42" y="11606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CBD5D3-B09B-AD06-C3D2-6BCADA79E4BE}"/>
              </a:ext>
            </a:extLst>
          </p:cNvPr>
          <p:cNvSpPr txBox="1"/>
          <p:nvPr/>
        </p:nvSpPr>
        <p:spPr>
          <a:xfrm>
            <a:off x="6589671" y="783758"/>
            <a:ext cx="2384574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Common predictors of all ML models with FRS score: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3300"/>
                </a:solidFill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3300"/>
                </a:solidFill>
              </a:rPr>
              <a:t>HDL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3300"/>
                </a:solidFill>
              </a:rPr>
              <a:t>Systolic BP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FB97D4-4774-5B1C-A842-9EC743F96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686082"/>
              </p:ext>
            </p:extLst>
          </p:nvPr>
        </p:nvGraphicFramePr>
        <p:xfrm>
          <a:off x="325422" y="863598"/>
          <a:ext cx="6187138" cy="3992891"/>
        </p:xfrm>
        <a:graphic>
          <a:graphicData uri="http://schemas.openxmlformats.org/drawingml/2006/table">
            <a:tbl>
              <a:tblPr>
                <a:tableStyleId>{F56950C4-1E84-488A-8373-B8880B70C4BE}</a:tableStyleId>
              </a:tblPr>
              <a:tblGrid>
                <a:gridCol w="1604978">
                  <a:extLst>
                    <a:ext uri="{9D8B030D-6E8A-4147-A177-3AD203B41FA5}">
                      <a16:colId xmlns:a16="http://schemas.microsoft.com/office/drawing/2014/main" val="2361386804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3696054083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947449447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89511441"/>
                    </a:ext>
                  </a:extLst>
                </a:gridCol>
              </a:tblGrid>
              <a:tr h="339257"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  FRS (7)</a:t>
                      </a:r>
                      <a:endParaRPr lang="en-MY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MY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Shap based BE (26 features)</a:t>
                      </a:r>
                      <a:endParaRPr lang="en-MY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   RFE  (10 features)</a:t>
                      </a:r>
                      <a:endParaRPr lang="en-MY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487700"/>
                  </a:ext>
                </a:extLst>
              </a:tr>
              <a:tr h="248788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1. Sex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1. Area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14. Diabetes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1. Area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2139305643"/>
                  </a:ext>
                </a:extLst>
              </a:tr>
              <a:tr h="282713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 2. Age</a:t>
                      </a:r>
                      <a:endParaRPr lang="en-MY" sz="10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</a:t>
                      </a:r>
                      <a:r>
                        <a:rPr lang="en-MY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 Systolic BP</a:t>
                      </a:r>
                      <a:endParaRPr lang="en-MY" sz="10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15. </a:t>
                      </a:r>
                      <a:r>
                        <a:rPr lang="en-MY" sz="1000" u="none" strike="noStrike" dirty="0" err="1">
                          <a:effectLst/>
                        </a:rPr>
                        <a:t>Heartdisease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</a:t>
                      </a:r>
                      <a:r>
                        <a:rPr lang="en-MY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 Age</a:t>
                      </a:r>
                      <a:endParaRPr lang="en-MY" sz="10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1317609453"/>
                  </a:ext>
                </a:extLst>
              </a:tr>
              <a:tr h="271405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3. Total cholesterol or LDL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</a:t>
                      </a:r>
                      <a:r>
                        <a:rPr lang="en-MY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3. Age</a:t>
                      </a:r>
                      <a:endParaRPr lang="en-MY" sz="10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16. Height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</a:t>
                      </a:r>
                      <a:r>
                        <a:rPr lang="en-MY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3. Systolic BP</a:t>
                      </a:r>
                      <a:endParaRPr lang="en-MY" sz="10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3554798393"/>
                  </a:ext>
                </a:extLst>
              </a:tr>
              <a:tr h="260096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</a:t>
                      </a:r>
                      <a:r>
                        <a:rPr lang="en-MY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4. HDL</a:t>
                      </a:r>
                      <a:endParaRPr lang="en-MY" sz="10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4. Waist Hip Ratio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17. </a:t>
                      </a:r>
                      <a:r>
                        <a:rPr lang="en-MY" sz="1000" u="none" strike="noStrike" dirty="0" err="1">
                          <a:effectLst/>
                        </a:rPr>
                        <a:t>Hpt_f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4. Diastolic BP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3197966113"/>
                  </a:ext>
                </a:extLst>
              </a:tr>
              <a:tr h="282713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</a:t>
                      </a:r>
                      <a:r>
                        <a:rPr lang="en-MY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5. Systolic bp</a:t>
                      </a:r>
                      <a:endParaRPr lang="en-MY" sz="10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5. </a:t>
                      </a:r>
                      <a:r>
                        <a:rPr lang="en-MY" sz="1000" u="none" strike="noStrike" dirty="0" err="1">
                          <a:effectLst/>
                        </a:rPr>
                        <a:t>Hpt_med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18. </a:t>
                      </a:r>
                      <a:r>
                        <a:rPr lang="en-MY" sz="1000" u="none" strike="noStrike" dirty="0" err="1">
                          <a:effectLst/>
                        </a:rPr>
                        <a:t>Glucose_baseline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5. Waist 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1618854228"/>
                  </a:ext>
                </a:extLst>
              </a:tr>
              <a:tr h="282713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6. Diabetes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6. Gender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19. </a:t>
                      </a:r>
                      <a:r>
                        <a:rPr lang="en-MY" sz="1000" u="none" strike="noStrike" dirty="0" err="1">
                          <a:effectLst/>
                        </a:rPr>
                        <a:t>Bmi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6. Waist Hip Ratio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1849370774"/>
                  </a:ext>
                </a:extLst>
              </a:tr>
              <a:tr h="271405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7. Smoking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7. FVC 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20. </a:t>
                      </a:r>
                      <a:r>
                        <a:rPr lang="en-MY" sz="1000" u="none" strike="noStrike" dirty="0" err="1">
                          <a:effectLst/>
                        </a:rPr>
                        <a:t>Handgrip_nondominant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7. Glucose baseline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584190747"/>
                  </a:ext>
                </a:extLst>
              </a:tr>
              <a:tr h="237480"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 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b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</a:t>
                      </a:r>
                      <a:r>
                        <a:rPr lang="en-MY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8. HDL</a:t>
                      </a:r>
                      <a:endParaRPr lang="en-MY" sz="10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21. Smoking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8. TG baseline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2384181843"/>
                  </a:ext>
                </a:extLst>
              </a:tr>
              <a:tr h="260096"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 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b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9. </a:t>
                      </a:r>
                      <a:r>
                        <a:rPr lang="en-MY" sz="1000" u="none" strike="noStrike" dirty="0" err="1">
                          <a:effectLst/>
                        </a:rPr>
                        <a:t>Hpt_b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22. </a:t>
                      </a:r>
                      <a:r>
                        <a:rPr lang="en-MY" sz="1000" u="none" strike="noStrike" dirty="0" err="1">
                          <a:effectLst/>
                        </a:rPr>
                        <a:t>Rightcalf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 9. HDL</a:t>
                      </a:r>
                      <a:endParaRPr lang="en-MY" sz="10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1761235073"/>
                  </a:ext>
                </a:extLst>
              </a:tr>
              <a:tr h="373182"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 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b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10. Waist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23. Head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10. Forced Expiratory Volume  </a:t>
                      </a:r>
                    </a:p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      in 1 Second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2739644059"/>
                  </a:ext>
                </a:extLst>
              </a:tr>
              <a:tr h="271405"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 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b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11. </a:t>
                      </a:r>
                      <a:r>
                        <a:rPr lang="en-MY" sz="1000" u="none" strike="noStrike" dirty="0" err="1">
                          <a:effectLst/>
                        </a:rPr>
                        <a:t>TG_baseline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24. </a:t>
                      </a:r>
                      <a:r>
                        <a:rPr lang="en-MY" sz="1000" u="none" strike="noStrike" dirty="0" err="1">
                          <a:effectLst/>
                        </a:rPr>
                        <a:t>Rightarm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 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b"/>
                </a:tc>
                <a:extLst>
                  <a:ext uri="{0D108BD9-81ED-4DB2-BD59-A6C34878D82A}">
                    <a16:rowId xmlns:a16="http://schemas.microsoft.com/office/drawing/2014/main" val="3485166607"/>
                  </a:ext>
                </a:extLst>
              </a:tr>
              <a:tr h="271405"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 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b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12. Diastolic BP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25. </a:t>
                      </a:r>
                      <a:r>
                        <a:rPr lang="en-MY" sz="1000" u="none" strike="noStrike" dirty="0" err="1">
                          <a:effectLst/>
                        </a:rPr>
                        <a:t>Diabetes_f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 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b"/>
                </a:tc>
                <a:extLst>
                  <a:ext uri="{0D108BD9-81ED-4DB2-BD59-A6C34878D82A}">
                    <a16:rowId xmlns:a16="http://schemas.microsoft.com/office/drawing/2014/main" val="2036330146"/>
                  </a:ext>
                </a:extLst>
              </a:tr>
              <a:tr h="248788"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 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b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13. Diastolic BP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26. </a:t>
                      </a:r>
                      <a:r>
                        <a:rPr lang="en-MY" sz="1000" u="none" strike="noStrike" dirty="0" err="1">
                          <a:effectLst/>
                        </a:rPr>
                        <a:t>Ldl_baseline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 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b"/>
                </a:tc>
                <a:extLst>
                  <a:ext uri="{0D108BD9-81ED-4DB2-BD59-A6C34878D82A}">
                    <a16:rowId xmlns:a16="http://schemas.microsoft.com/office/drawing/2014/main" val="703639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232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1A1AA-5D94-3961-E593-8AED5278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46" y="345683"/>
            <a:ext cx="5254304" cy="572700"/>
          </a:xfrm>
        </p:spPr>
        <p:txBody>
          <a:bodyPr/>
          <a:lstStyle/>
          <a:p>
            <a:r>
              <a:rPr lang="en-US" sz="3200" dirty="0">
                <a:solidFill>
                  <a:srgbClr val="D71D26"/>
                </a:solidFill>
                <a:latin typeface="+mn-lt"/>
              </a:rPr>
              <a:t>Model 1 (CVD/No CVD)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29856D-F8D2-50DE-51C0-A53EB61FC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515713"/>
              </p:ext>
            </p:extLst>
          </p:nvPr>
        </p:nvGraphicFramePr>
        <p:xfrm>
          <a:off x="281646" y="1146175"/>
          <a:ext cx="5682274" cy="3408821"/>
        </p:xfrm>
        <a:graphic>
          <a:graphicData uri="http://schemas.openxmlformats.org/drawingml/2006/table">
            <a:tbl>
              <a:tblPr/>
              <a:tblGrid>
                <a:gridCol w="603572">
                  <a:extLst>
                    <a:ext uri="{9D8B030D-6E8A-4147-A177-3AD203B41FA5}">
                      <a16:colId xmlns:a16="http://schemas.microsoft.com/office/drawing/2014/main" val="2976519503"/>
                    </a:ext>
                  </a:extLst>
                </a:gridCol>
                <a:gridCol w="1349047">
                  <a:extLst>
                    <a:ext uri="{9D8B030D-6E8A-4147-A177-3AD203B41FA5}">
                      <a16:colId xmlns:a16="http://schemas.microsoft.com/office/drawing/2014/main" val="1170664787"/>
                    </a:ext>
                  </a:extLst>
                </a:gridCol>
                <a:gridCol w="509631">
                  <a:extLst>
                    <a:ext uri="{9D8B030D-6E8A-4147-A177-3AD203B41FA5}">
                      <a16:colId xmlns:a16="http://schemas.microsoft.com/office/drawing/2014/main" val="3164217712"/>
                    </a:ext>
                  </a:extLst>
                </a:gridCol>
                <a:gridCol w="834154">
                  <a:extLst>
                    <a:ext uri="{9D8B030D-6E8A-4147-A177-3AD203B41FA5}">
                      <a16:colId xmlns:a16="http://schemas.microsoft.com/office/drawing/2014/main" val="1151757810"/>
                    </a:ext>
                  </a:extLst>
                </a:gridCol>
                <a:gridCol w="820295">
                  <a:extLst>
                    <a:ext uri="{9D8B030D-6E8A-4147-A177-3AD203B41FA5}">
                      <a16:colId xmlns:a16="http://schemas.microsoft.com/office/drawing/2014/main" val="99432420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391542553"/>
                    </a:ext>
                  </a:extLst>
                </a:gridCol>
                <a:gridCol w="701975">
                  <a:extLst>
                    <a:ext uri="{9D8B030D-6E8A-4147-A177-3AD203B41FA5}">
                      <a16:colId xmlns:a16="http://schemas.microsoft.com/office/drawing/2014/main" val="3622221325"/>
                    </a:ext>
                  </a:extLst>
                </a:gridCol>
              </a:tblGrid>
              <a:tr h="324820">
                <a:tc rowSpan="2"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1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</a:rPr>
                        <a:t>Model (best)</a:t>
                      </a:r>
                      <a:endParaRPr lang="en-MY" sz="1100" dirty="0">
                        <a:effectLst/>
                        <a:highlight>
                          <a:srgbClr val="DF4365"/>
                        </a:highlight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1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Feature extraction (feature numbers)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1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Test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1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AUC diff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999767"/>
                  </a:ext>
                </a:extLst>
              </a:tr>
              <a:tr h="4677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1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AUC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1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Accuracy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1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Sensitivity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1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Specificity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174584"/>
                  </a:ext>
                </a:extLst>
              </a:tr>
              <a:tr h="371843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XGBoost</a:t>
                      </a:r>
                      <a:endParaRPr lang="en-MY" sz="800" dirty="0">
                        <a:effectLst/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dirty="0">
                          <a:effectLst/>
                        </a:rPr>
                        <a:t>None (48)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0.828</a:t>
                      </a:r>
                      <a:endParaRPr lang="en-MY" sz="900" dirty="0">
                        <a:effectLst/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0.792</a:t>
                      </a:r>
                      <a:endParaRPr lang="en-MY" sz="900" dirty="0">
                        <a:effectLst/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0.666</a:t>
                      </a:r>
                      <a:endParaRPr lang="en-MY" sz="900" dirty="0">
                        <a:effectLst/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0.794</a:t>
                      </a:r>
                      <a:endParaRPr lang="en-MY" sz="900" dirty="0">
                        <a:effectLst/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0.040</a:t>
                      </a:r>
                      <a:endParaRPr lang="en-MY" sz="900" dirty="0">
                        <a:effectLst/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705073"/>
                  </a:ext>
                </a:extLst>
              </a:tr>
              <a:tr h="371843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RF</a:t>
                      </a:r>
                      <a:endParaRPr lang="en-MY" sz="80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dirty="0">
                          <a:effectLst/>
                          <a:highlight>
                            <a:srgbClr val="FFFFFF"/>
                          </a:highlight>
                        </a:rPr>
                        <a:t>RFE (10)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0.828</a:t>
                      </a:r>
                      <a:endParaRPr lang="en-MY" sz="90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0.760</a:t>
                      </a:r>
                      <a:endParaRPr lang="en-MY" sz="90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0.761</a:t>
                      </a:r>
                      <a:endParaRPr lang="en-MY" sz="90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0.760</a:t>
                      </a:r>
                      <a:endParaRPr lang="en-MY" sz="90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0.025</a:t>
                      </a:r>
                      <a:endParaRPr lang="en-MY" sz="90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140571"/>
                  </a:ext>
                </a:extLst>
              </a:tr>
              <a:tr h="371843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RF</a:t>
                      </a:r>
                      <a:endParaRPr lang="en-MY" sz="8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dirty="0">
                          <a:solidFill>
                            <a:srgbClr val="FF0000"/>
                          </a:solidFill>
                          <a:effectLst/>
                        </a:rPr>
                        <a:t>Shap based BE (26)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0.858</a:t>
                      </a:r>
                      <a:endParaRPr lang="en-MY" sz="9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0.810</a:t>
                      </a:r>
                      <a:endParaRPr lang="en-MY" sz="9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0.761</a:t>
                      </a:r>
                      <a:endParaRPr lang="en-MY" sz="9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0.811</a:t>
                      </a:r>
                      <a:endParaRPr lang="en-MY" sz="9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0.024</a:t>
                      </a:r>
                      <a:endParaRPr lang="en-MY" sz="9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15257"/>
                  </a:ext>
                </a:extLst>
              </a:tr>
              <a:tr h="371843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SVC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dirty="0">
                          <a:solidFill>
                            <a:schemeClr val="tx1"/>
                          </a:solidFill>
                          <a:effectLst/>
                        </a:rPr>
                        <a:t>Shap based BE (26)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0.766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0.822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0.666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0.767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0.026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013094"/>
                  </a:ext>
                </a:extLst>
              </a:tr>
              <a:tr h="371843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GBM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dirty="0">
                          <a:solidFill>
                            <a:schemeClr val="tx1"/>
                          </a:solidFill>
                          <a:effectLst/>
                        </a:rPr>
                        <a:t>Shap based BE (26)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0.820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0.770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0.666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0.771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0.038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059660"/>
                  </a:ext>
                </a:extLst>
              </a:tr>
              <a:tr h="371843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7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ALL_SVC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dirty="0">
                          <a:solidFill>
                            <a:schemeClr val="tx1"/>
                          </a:solidFill>
                          <a:effectLst/>
                        </a:rPr>
                        <a:t>Shap based BE (26)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0.820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0.772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0.857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0.771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0.179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595520"/>
                  </a:ext>
                </a:extLst>
              </a:tr>
              <a:tr h="371843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7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ALL_GBM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dirty="0">
                          <a:solidFill>
                            <a:schemeClr val="tx1"/>
                          </a:solidFill>
                          <a:effectLst/>
                        </a:rPr>
                        <a:t>Shap based BE (26)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0.817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0.767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0.761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0.767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0.182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743449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19B7AFC-19F0-8F2F-2042-1A0AE95B0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1461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7B32A-94FF-8D5E-026F-0293C6FF18B2}"/>
              </a:ext>
            </a:extLst>
          </p:cNvPr>
          <p:cNvSpPr txBox="1"/>
          <p:nvPr/>
        </p:nvSpPr>
        <p:spPr>
          <a:xfrm>
            <a:off x="6167121" y="1111547"/>
            <a:ext cx="2611120" cy="2989665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marL="28575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MY" sz="1200" dirty="0">
                <a:solidFill>
                  <a:schemeClr val="bg1"/>
                </a:solidFill>
              </a:rPr>
              <a:t>The RF models give better or comparable performance (</a:t>
            </a:r>
            <a:r>
              <a:rPr lang="en-MY" sz="1200" dirty="0">
                <a:solidFill>
                  <a:srgbClr val="92D050"/>
                </a:solidFill>
              </a:rPr>
              <a:t>AUC 0.858 &amp; 0.828</a:t>
            </a:r>
            <a:r>
              <a:rPr lang="en-MY" sz="1200" dirty="0">
                <a:solidFill>
                  <a:schemeClr val="bg1"/>
                </a:solidFill>
              </a:rPr>
              <a:t>) compared to the FRS risk score (</a:t>
            </a:r>
            <a:r>
              <a:rPr lang="en-MY" sz="1200" dirty="0">
                <a:solidFill>
                  <a:srgbClr val="FFFF00"/>
                </a:solidFill>
              </a:rPr>
              <a:t>AUC = 0.834</a:t>
            </a:r>
            <a:r>
              <a:rPr lang="en-MY" sz="1200" dirty="0">
                <a:solidFill>
                  <a:schemeClr val="bg1"/>
                </a:solidFill>
              </a:rPr>
              <a:t>)</a:t>
            </a:r>
          </a:p>
          <a:p>
            <a:pPr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MY" sz="12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MY" sz="1200" dirty="0">
                <a:solidFill>
                  <a:schemeClr val="bg1"/>
                </a:solidFill>
              </a:rPr>
              <a:t>The best model for predicting is the </a:t>
            </a:r>
            <a:r>
              <a:rPr lang="en-MY" sz="1200" dirty="0">
                <a:solidFill>
                  <a:srgbClr val="FF0000"/>
                </a:solidFill>
              </a:rPr>
              <a:t>RF model </a:t>
            </a:r>
            <a:r>
              <a:rPr lang="en-MY" sz="1200" dirty="0">
                <a:solidFill>
                  <a:schemeClr val="bg1"/>
                </a:solidFill>
              </a:rPr>
              <a:t>with 26 selected features (</a:t>
            </a:r>
            <a:r>
              <a:rPr lang="en-MY" sz="1200" dirty="0">
                <a:solidFill>
                  <a:srgbClr val="FF0000"/>
                </a:solidFill>
              </a:rPr>
              <a:t>AUC = 0.858</a:t>
            </a:r>
            <a:r>
              <a:rPr lang="en-MY" sz="1200" dirty="0">
                <a:solidFill>
                  <a:schemeClr val="bg1"/>
                </a:solidFill>
              </a:rPr>
              <a:t>)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648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1F90-6194-6ECF-D1E7-09F40DCB9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00" y="284604"/>
            <a:ext cx="7704000" cy="572700"/>
          </a:xfrm>
        </p:spPr>
        <p:txBody>
          <a:bodyPr/>
          <a:lstStyle/>
          <a:p>
            <a:r>
              <a:rPr lang="en-MY" sz="2400" dirty="0">
                <a:solidFill>
                  <a:srgbClr val="D71D26"/>
                </a:solidFill>
                <a:latin typeface="+mn-lt"/>
              </a:rPr>
              <a:t>Net Reclassification Improvement (NRI) Index</a:t>
            </a:r>
            <a:endParaRPr lang="en-US" sz="2400" dirty="0">
              <a:solidFill>
                <a:srgbClr val="D71D26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2C014E-DCCD-F61A-D3A9-C1A529F314F7}"/>
              </a:ext>
            </a:extLst>
          </p:cNvPr>
          <p:cNvSpPr txBox="1"/>
          <p:nvPr/>
        </p:nvSpPr>
        <p:spPr>
          <a:xfrm>
            <a:off x="631697" y="3534046"/>
            <a:ext cx="3582421" cy="114307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MY" sz="1200" dirty="0">
                <a:solidFill>
                  <a:schemeClr val="bg1"/>
                </a:solidFill>
              </a:rPr>
              <a:t>Purpose of NRI: Compares how well two models (FRS vs. ML) distinguish between low- and high-risk individuals.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B29B8-5265-B134-DD66-DA844789167E}"/>
              </a:ext>
            </a:extLst>
          </p:cNvPr>
          <p:cNvSpPr txBox="1"/>
          <p:nvPr/>
        </p:nvSpPr>
        <p:spPr>
          <a:xfrm>
            <a:off x="4419600" y="3534046"/>
            <a:ext cx="4092703" cy="114300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MY" sz="1200" b="1" dirty="0">
                <a:solidFill>
                  <a:schemeClr val="bg1"/>
                </a:solidFill>
              </a:rPr>
              <a:t>Optimal Threshold:</a:t>
            </a:r>
            <a:r>
              <a:rPr lang="en-MY" sz="1200" dirty="0">
                <a:solidFill>
                  <a:schemeClr val="bg1"/>
                </a:solidFill>
              </a:rPr>
              <a:t> 0.05 with NRI of +0.194, indicating the best reclassification improvement. </a:t>
            </a:r>
            <a:br>
              <a:rPr lang="en-MY" sz="1200" dirty="0">
                <a:solidFill>
                  <a:schemeClr val="bg1"/>
                </a:solidFill>
              </a:rPr>
            </a:br>
            <a:r>
              <a:rPr lang="en-MY" sz="1200" dirty="0">
                <a:solidFill>
                  <a:schemeClr val="bg1"/>
                </a:solidFill>
              </a:rPr>
              <a:t>(19% improvement of RF model)</a:t>
            </a:r>
          </a:p>
        </p:txBody>
      </p:sp>
      <p:pic>
        <p:nvPicPr>
          <p:cNvPr id="9" name="Picture 8" descr="A screenshot of a data sheet&#10;&#10;Description automatically generated">
            <a:extLst>
              <a:ext uri="{FF2B5EF4-FFF2-40B4-BE49-F238E27FC236}">
                <a16:creationId xmlns:a16="http://schemas.microsoft.com/office/drawing/2014/main" id="{34D8BEDE-FBD0-8A7C-1693-F8D47426B5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5613"/>
          <a:stretch/>
        </p:blipFill>
        <p:spPr>
          <a:xfrm>
            <a:off x="567600" y="1063088"/>
            <a:ext cx="7944703" cy="23505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C37BF4-CBFF-388B-797C-E35537F54F42}"/>
              </a:ext>
            </a:extLst>
          </p:cNvPr>
          <p:cNvSpPr txBox="1"/>
          <p:nvPr/>
        </p:nvSpPr>
        <p:spPr>
          <a:xfrm>
            <a:off x="3220040" y="910224"/>
            <a:ext cx="3069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NRI for best RF model vs FRS</a:t>
            </a:r>
          </a:p>
        </p:txBody>
      </p:sp>
    </p:spTree>
    <p:extLst>
      <p:ext uri="{BB962C8B-B14F-4D97-AF65-F5344CB8AC3E}">
        <p14:creationId xmlns:p14="http://schemas.microsoft.com/office/powerpoint/2010/main" val="3631169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29856D-F8D2-50DE-51C0-A53EB61FC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815784"/>
              </p:ext>
            </p:extLst>
          </p:nvPr>
        </p:nvGraphicFramePr>
        <p:xfrm>
          <a:off x="251026" y="918383"/>
          <a:ext cx="5574875" cy="4055974"/>
        </p:xfrm>
        <a:graphic>
          <a:graphicData uri="http://schemas.openxmlformats.org/drawingml/2006/table">
            <a:tbl>
              <a:tblPr/>
              <a:tblGrid>
                <a:gridCol w="825148">
                  <a:extLst>
                    <a:ext uri="{9D8B030D-6E8A-4147-A177-3AD203B41FA5}">
                      <a16:colId xmlns:a16="http://schemas.microsoft.com/office/drawing/2014/main" val="2976519503"/>
                    </a:ext>
                  </a:extLst>
                </a:gridCol>
                <a:gridCol w="884377">
                  <a:extLst>
                    <a:ext uri="{9D8B030D-6E8A-4147-A177-3AD203B41FA5}">
                      <a16:colId xmlns:a16="http://schemas.microsoft.com/office/drawing/2014/main" val="3231539102"/>
                    </a:ext>
                  </a:extLst>
                </a:gridCol>
                <a:gridCol w="589660">
                  <a:extLst>
                    <a:ext uri="{9D8B030D-6E8A-4147-A177-3AD203B41FA5}">
                      <a16:colId xmlns:a16="http://schemas.microsoft.com/office/drawing/2014/main" val="316421771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51757810"/>
                    </a:ext>
                  </a:extLst>
                </a:gridCol>
                <a:gridCol w="957129">
                  <a:extLst>
                    <a:ext uri="{9D8B030D-6E8A-4147-A177-3AD203B41FA5}">
                      <a16:colId xmlns:a16="http://schemas.microsoft.com/office/drawing/2014/main" val="994324203"/>
                    </a:ext>
                  </a:extLst>
                </a:gridCol>
                <a:gridCol w="871671">
                  <a:extLst>
                    <a:ext uri="{9D8B030D-6E8A-4147-A177-3AD203B41FA5}">
                      <a16:colId xmlns:a16="http://schemas.microsoft.com/office/drawing/2014/main" val="3391542553"/>
                    </a:ext>
                  </a:extLst>
                </a:gridCol>
                <a:gridCol w="532490">
                  <a:extLst>
                    <a:ext uri="{9D8B030D-6E8A-4147-A177-3AD203B41FA5}">
                      <a16:colId xmlns:a16="http://schemas.microsoft.com/office/drawing/2014/main" val="3622221325"/>
                    </a:ext>
                  </a:extLst>
                </a:gridCol>
              </a:tblGrid>
              <a:tr h="348522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</a:rPr>
                        <a:t>Model (best)</a:t>
                      </a:r>
                      <a:endParaRPr lang="en-MY" sz="1200" dirty="0">
                        <a:effectLst/>
                        <a:highlight>
                          <a:srgbClr val="DF4365"/>
                        </a:highlight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Feature extraction (feature numbers)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MY" sz="1200" dirty="0">
                        <a:effectLst/>
                        <a:highlight>
                          <a:srgbClr val="DF4365"/>
                        </a:highlight>
                      </a:endParaRP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4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Test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AUC diff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999767"/>
                  </a:ext>
                </a:extLst>
              </a:tr>
              <a:tr h="4868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AUC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Accuracy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Sensitivity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 b="0" i="0" u="none" strike="noStrike" cap="none" dirty="0">
                          <a:solidFill>
                            <a:srgbClr val="FFFFFF"/>
                          </a:solidFill>
                          <a:effectLst/>
                          <a:highlight>
                            <a:srgbClr val="DF4365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Specificity</a:t>
                      </a:r>
                    </a:p>
                  </a:txBody>
                  <a:tcPr marL="85280" marR="85280" marT="85280" marB="8528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436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174584"/>
                  </a:ext>
                </a:extLst>
              </a:tr>
              <a:tr h="298504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RF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cap="none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sym typeface="Arial"/>
                        </a:rPr>
                        <a:t>None</a:t>
                      </a:r>
                      <a:endParaRPr lang="en-MY" sz="800" b="0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0.759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0.666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0.555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0.636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-0.048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705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SVC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cap="none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sym typeface="Arial"/>
                        </a:rPr>
                        <a:t>None</a:t>
                      </a:r>
                      <a:endParaRPr lang="en-MY" sz="800" b="0" i="0" u="none" strike="noStrike" cap="none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0.716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0.611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0.555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0.777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-0.046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140571"/>
                  </a:ext>
                </a:extLst>
              </a:tr>
              <a:tr h="337558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ALL_RF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MY" sz="800" b="0" i="0" u="none" strike="noStrike" cap="none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sym typeface="Arial"/>
                        </a:rPr>
                        <a:t>RFE-RF</a:t>
                      </a:r>
                      <a:endParaRPr lang="en-MY" sz="800" b="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0.691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0.611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0.777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0.444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-0.004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715257"/>
                  </a:ext>
                </a:extLst>
              </a:tr>
              <a:tr h="337558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RF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MY" sz="800" b="0" i="0" u="none" strike="noStrike" cap="none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sym typeface="Arial"/>
                        </a:rPr>
                        <a:t>RFE-LR</a:t>
                      </a:r>
                      <a:endParaRPr lang="en-MY" sz="800" b="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0.728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0.722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0.777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0.666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-0.039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441822"/>
                  </a:ext>
                </a:extLst>
              </a:tr>
              <a:tr h="337558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DT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MY" sz="800" b="0" i="0" u="none" strike="noStrike" cap="none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  <a:latin typeface="+mn-lt"/>
                          <a:ea typeface="+mn-ea"/>
                          <a:cs typeface="+mn-cs"/>
                          <a:sym typeface="Arial"/>
                        </a:rPr>
                        <a:t>RFE-RF</a:t>
                      </a:r>
                      <a:endParaRPr lang="en-MY" sz="800" b="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0.722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0.722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0.555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0.888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-0.051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013094"/>
                  </a:ext>
                </a:extLst>
              </a:tr>
              <a:tr h="337558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ALL_SVC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800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Shap based BE (14)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0.925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0.833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0.666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0.888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-0.006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38686"/>
                  </a:ext>
                </a:extLst>
              </a:tr>
              <a:tr h="337558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ALL_RF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800" dirty="0">
                          <a:solidFill>
                            <a:srgbClr val="FF0000"/>
                          </a:solidFill>
                          <a:effectLst/>
                        </a:rPr>
                        <a:t>Shap based BE (14)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0.944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0.833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0.777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0.888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0.020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270043"/>
                  </a:ext>
                </a:extLst>
              </a:tr>
              <a:tr h="337558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8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ALL_GBM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800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Shap based BE (14)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0.870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0.888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0.777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1.000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900" b="0" i="0" u="none" strike="noStrike" cap="non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0.010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49270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19B7AFC-19F0-8F2F-2042-1A0AE95B0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1461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7B32A-94FF-8D5E-026F-0293C6FF18B2}"/>
              </a:ext>
            </a:extLst>
          </p:cNvPr>
          <p:cNvSpPr txBox="1"/>
          <p:nvPr/>
        </p:nvSpPr>
        <p:spPr>
          <a:xfrm>
            <a:off x="5963920" y="918383"/>
            <a:ext cx="2722880" cy="3358996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marL="28575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MY" sz="1200" dirty="0">
                <a:solidFill>
                  <a:schemeClr val="bg1"/>
                </a:solidFill>
              </a:rPr>
              <a:t>Most </a:t>
            </a:r>
            <a:r>
              <a:rPr lang="en-MY" sz="1200" dirty="0">
                <a:solidFill>
                  <a:srgbClr val="92D050"/>
                </a:solidFill>
              </a:rPr>
              <a:t>Ensemble models</a:t>
            </a:r>
            <a:r>
              <a:rPr lang="en-MY" sz="1200" dirty="0">
                <a:solidFill>
                  <a:schemeClr val="bg1"/>
                </a:solidFill>
              </a:rPr>
              <a:t> give better performance than the single models. </a:t>
            </a:r>
          </a:p>
          <a:p>
            <a:pPr marL="28575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MY" sz="1200" dirty="0">
              <a:solidFill>
                <a:schemeClr val="bg1"/>
              </a:solidFill>
            </a:endParaRPr>
          </a:p>
          <a:p>
            <a:pPr marL="28575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MY" sz="1200" dirty="0">
                <a:solidFill>
                  <a:srgbClr val="FF0000"/>
                </a:solidFill>
              </a:rPr>
              <a:t>RF Ensemble </a:t>
            </a:r>
            <a:r>
              <a:rPr lang="en-MY" sz="1200" dirty="0">
                <a:solidFill>
                  <a:schemeClr val="bg1"/>
                </a:solidFill>
              </a:rPr>
              <a:t>was the best model with a very high performance (</a:t>
            </a:r>
            <a:r>
              <a:rPr lang="en-MY" sz="1200" dirty="0">
                <a:solidFill>
                  <a:srgbClr val="FF0000"/>
                </a:solidFill>
              </a:rPr>
              <a:t>AUC = 0.944</a:t>
            </a:r>
            <a:r>
              <a:rPr lang="en-MY" sz="1200" dirty="0">
                <a:solidFill>
                  <a:schemeClr val="bg1"/>
                </a:solidFill>
              </a:rPr>
              <a:t>) </a:t>
            </a:r>
            <a:br>
              <a:rPr lang="en-MY" sz="1200" dirty="0">
                <a:solidFill>
                  <a:schemeClr val="bg1"/>
                </a:solidFill>
              </a:rPr>
            </a:br>
            <a:r>
              <a:rPr lang="en-MY" sz="1200" dirty="0">
                <a:solidFill>
                  <a:schemeClr val="bg1"/>
                </a:solidFill>
              </a:rPr>
              <a:t>and good classification between MI and Stroke classes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068812-695F-54E7-3C7E-3369A16A8AE5}"/>
              </a:ext>
            </a:extLst>
          </p:cNvPr>
          <p:cNvSpPr txBox="1">
            <a:spLocks/>
          </p:cNvSpPr>
          <p:nvPr/>
        </p:nvSpPr>
        <p:spPr>
          <a:xfrm>
            <a:off x="281646" y="345683"/>
            <a:ext cx="525430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9pPr>
          </a:lstStyle>
          <a:p>
            <a:r>
              <a:rPr lang="en-US" sz="3200" dirty="0">
                <a:solidFill>
                  <a:srgbClr val="D71D26"/>
                </a:solidFill>
                <a:latin typeface="+mn-lt"/>
              </a:rPr>
              <a:t>Model 2 (MI/Stroke)</a:t>
            </a:r>
          </a:p>
        </p:txBody>
      </p:sp>
    </p:spTree>
    <p:extLst>
      <p:ext uri="{BB962C8B-B14F-4D97-AF65-F5344CB8AC3E}">
        <p14:creationId xmlns:p14="http://schemas.microsoft.com/office/powerpoint/2010/main" val="2461691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D4BDB-1648-03F6-D95A-57D222D28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55429" y="188596"/>
            <a:ext cx="7704000" cy="572700"/>
          </a:xfrm>
        </p:spPr>
        <p:txBody>
          <a:bodyPr/>
          <a:lstStyle/>
          <a:p>
            <a:r>
              <a:rPr lang="en-US" sz="2800" dirty="0">
                <a:solidFill>
                  <a:srgbClr val="D71D26"/>
                </a:solidFill>
                <a:latin typeface="+mn-lt"/>
              </a:rPr>
              <a:t>Feature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D71D26"/>
                </a:solidFill>
                <a:latin typeface="+mn-lt"/>
              </a:rPr>
              <a:t>Interpretability (SHAP)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915C0A-C5FF-C5FC-D21B-16EC4EEDD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42" y="11606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screen shot of a chart&#10;&#10;Description automatically generated">
            <a:extLst>
              <a:ext uri="{FF2B5EF4-FFF2-40B4-BE49-F238E27FC236}">
                <a16:creationId xmlns:a16="http://schemas.microsoft.com/office/drawing/2014/main" id="{6C261EC9-E113-9D4E-B4CA-81BB78965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50" y="787048"/>
            <a:ext cx="3445290" cy="40987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9609D1-B797-8233-50D5-BE21AA679F00}"/>
              </a:ext>
            </a:extLst>
          </p:cNvPr>
          <p:cNvSpPr txBox="1"/>
          <p:nvPr/>
        </p:nvSpPr>
        <p:spPr>
          <a:xfrm>
            <a:off x="6044954" y="474946"/>
            <a:ext cx="2760126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MY" sz="1000" b="1" dirty="0">
                <a:solidFill>
                  <a:schemeClr val="tx2"/>
                </a:solidFill>
              </a:rPr>
              <a:t>Positive Impact:</a:t>
            </a:r>
            <a:endParaRPr lang="en-MY" sz="1000" dirty="0">
              <a:solidFill>
                <a:schemeClr val="tx2"/>
              </a:solidFill>
            </a:endParaRPr>
          </a:p>
          <a:p>
            <a:pPr algn="just">
              <a:lnSpc>
                <a:spcPct val="200000"/>
              </a:lnSpc>
            </a:pPr>
            <a:r>
              <a:rPr lang="en-MY" sz="1000" dirty="0"/>
              <a:t>Higher Systolic and Diastolic BP values increase the likelihood of predicting myocardial infarction (MI).</a:t>
            </a:r>
          </a:p>
          <a:p>
            <a:pPr algn="just">
              <a:lnSpc>
                <a:spcPct val="200000"/>
              </a:lnSpc>
            </a:pPr>
            <a:r>
              <a:rPr lang="en-MY" sz="1000" b="1" dirty="0">
                <a:solidFill>
                  <a:srgbClr val="0070C0"/>
                </a:solidFill>
              </a:rPr>
              <a:t>Negative Impact</a:t>
            </a:r>
            <a:r>
              <a:rPr lang="en-MY" sz="1000" b="1" dirty="0"/>
              <a:t>:</a:t>
            </a:r>
            <a:endParaRPr lang="en-MY" sz="1000" dirty="0"/>
          </a:p>
          <a:p>
            <a:pPr algn="just">
              <a:lnSpc>
                <a:spcPct val="200000"/>
              </a:lnSpc>
            </a:pPr>
            <a:r>
              <a:rPr lang="en-MY" sz="1000" dirty="0"/>
              <a:t>Lower values of FVC, Diabetes Medication use, and PERF increase the likelihood of predicting MI and decrease the likelihood of predicting stroke.</a:t>
            </a:r>
          </a:p>
          <a:p>
            <a:pPr algn="just">
              <a:lnSpc>
                <a:spcPct val="200000"/>
              </a:lnSpc>
            </a:pPr>
            <a:r>
              <a:rPr lang="en-MY" sz="1000" b="1" dirty="0">
                <a:solidFill>
                  <a:srgbClr val="00B050"/>
                </a:solidFill>
              </a:rPr>
              <a:t>Less Influential Features</a:t>
            </a:r>
            <a:r>
              <a:rPr lang="en-MY" sz="1000" b="1" dirty="0"/>
              <a:t>:</a:t>
            </a:r>
            <a:endParaRPr lang="en-MY" sz="1000" dirty="0"/>
          </a:p>
          <a:p>
            <a:pPr algn="just">
              <a:lnSpc>
                <a:spcPct val="200000"/>
              </a:lnSpc>
            </a:pPr>
            <a:r>
              <a:rPr lang="en-MY" sz="1000" dirty="0"/>
              <a:t>Handgrip strength, weight, and smoking have minimal influence on distinguishing between MI and stroke in the model.</a:t>
            </a:r>
          </a:p>
          <a:p>
            <a:pPr algn="just"/>
            <a:br>
              <a:rPr lang="en-MY" sz="1000" dirty="0"/>
            </a:br>
            <a:br>
              <a:rPr lang="en-MY" sz="1100" dirty="0"/>
            </a:br>
            <a:endParaRPr lang="en-MY" sz="1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CC3AA8-15B0-D18A-46FD-0DB5E679E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552109"/>
              </p:ext>
            </p:extLst>
          </p:nvPr>
        </p:nvGraphicFramePr>
        <p:xfrm>
          <a:off x="570047" y="787048"/>
          <a:ext cx="1583989" cy="4150239"/>
        </p:xfrm>
        <a:graphic>
          <a:graphicData uri="http://schemas.openxmlformats.org/drawingml/2006/table">
            <a:tbl>
              <a:tblPr>
                <a:tableStyleId>{F56950C4-1E84-488A-8373-B8880B70C4BE}</a:tableStyleId>
              </a:tblPr>
              <a:tblGrid>
                <a:gridCol w="1583989">
                  <a:extLst>
                    <a:ext uri="{9D8B030D-6E8A-4147-A177-3AD203B41FA5}">
                      <a16:colId xmlns:a16="http://schemas.microsoft.com/office/drawing/2014/main" val="1676438867"/>
                    </a:ext>
                  </a:extLst>
                </a:gridCol>
              </a:tblGrid>
              <a:tr h="325347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MY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Shap based BE (14 features)</a:t>
                      </a:r>
                      <a:endParaRPr lang="en-MY" sz="12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596785"/>
                  </a:ext>
                </a:extLst>
              </a:tr>
              <a:tr h="248788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000" u="none" strike="noStrike" dirty="0">
                          <a:effectLst/>
                        </a:rPr>
                        <a:t>  1. </a:t>
                      </a:r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Diastolic BP</a:t>
                      </a: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3102816990"/>
                  </a:ext>
                </a:extLst>
              </a:tr>
              <a:tr h="282713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 2. Systolic BP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3135550059"/>
                  </a:ext>
                </a:extLst>
              </a:tr>
              <a:tr h="271405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 3. HDL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1258539928"/>
                  </a:ext>
                </a:extLst>
              </a:tr>
              <a:tr h="260096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000" u="none" strike="noStrike" dirty="0">
                          <a:effectLst/>
                        </a:rPr>
                        <a:t>  4. </a:t>
                      </a:r>
                      <a:r>
                        <a:rPr lang="en-MY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Glucose_baseline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566847219"/>
                  </a:ext>
                </a:extLst>
              </a:tr>
              <a:tr h="282713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5. </a:t>
                      </a:r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Height</a:t>
                      </a: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3290306105"/>
                  </a:ext>
                </a:extLst>
              </a:tr>
              <a:tr h="271405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6. </a:t>
                      </a:r>
                      <a:r>
                        <a:rPr lang="en-MY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Rightcalf</a:t>
                      </a:r>
                      <a:r>
                        <a:rPr lang="en-MY" sz="1000" u="none" strike="noStrike" dirty="0">
                          <a:effectLst/>
                        </a:rPr>
                        <a:t> 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766969149"/>
                  </a:ext>
                </a:extLst>
              </a:tr>
              <a:tr h="237480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 7. </a:t>
                      </a:r>
                      <a:r>
                        <a:rPr lang="en-MY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FVC</a:t>
                      </a: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1464502084"/>
                  </a:ext>
                </a:extLst>
              </a:tr>
              <a:tr h="260096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000" u="none" strike="noStrike" dirty="0">
                          <a:effectLst/>
                        </a:rPr>
                        <a:t>  8. </a:t>
                      </a:r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Waist Hip Ratio</a:t>
                      </a: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2946600494"/>
                  </a:ext>
                </a:extLst>
              </a:tr>
              <a:tr h="373182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000" u="none" strike="noStrike" dirty="0">
                          <a:effectLst/>
                        </a:rPr>
                        <a:t>  9. </a:t>
                      </a:r>
                      <a:r>
                        <a:rPr lang="en-MY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Tg_baseline</a:t>
                      </a:r>
                      <a:endParaRPr lang="en-MY" sz="10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3192872557"/>
                  </a:ext>
                </a:extLst>
              </a:tr>
              <a:tr h="271405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10. </a:t>
                      </a:r>
                      <a:r>
                        <a:rPr lang="en-MY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Age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2044977693"/>
                  </a:ext>
                </a:extLst>
              </a:tr>
              <a:tr h="271405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u="none" strike="noStrike" dirty="0">
                          <a:effectLst/>
                        </a:rPr>
                        <a:t>  11. </a:t>
                      </a:r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Waist</a:t>
                      </a: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835647296"/>
                  </a:ext>
                </a:extLst>
              </a:tr>
              <a:tr h="248788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000" u="none" strike="noStrike" dirty="0">
                          <a:effectLst/>
                        </a:rPr>
                        <a:t>  12. </a:t>
                      </a:r>
                      <a:r>
                        <a:rPr lang="en-MY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Diabetes_med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4016823644"/>
                  </a:ext>
                </a:extLst>
              </a:tr>
              <a:tr h="248788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13. </a:t>
                      </a:r>
                      <a:r>
                        <a:rPr lang="en-MY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Tc_baseline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2069468063"/>
                  </a:ext>
                </a:extLst>
              </a:tr>
              <a:tr h="248788">
                <a:tc>
                  <a:txBody>
                    <a:bodyPr/>
                    <a:lstStyle/>
                    <a:p>
                      <a:pPr algn="just" rtl="0" fontAlgn="ctr">
                        <a:lnSpc>
                          <a:spcPct val="150000"/>
                        </a:lnSpc>
                      </a:pPr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14. PERF</a:t>
                      </a:r>
                    </a:p>
                  </a:txBody>
                  <a:tcPr marL="7427" marR="7427" marT="7427" marB="0" anchor="ctr"/>
                </a:tc>
                <a:extLst>
                  <a:ext uri="{0D108BD9-81ED-4DB2-BD59-A6C34878D82A}">
                    <a16:rowId xmlns:a16="http://schemas.microsoft.com/office/drawing/2014/main" val="1927913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306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tethoscope and a heart&#10;&#10;Description automatically generated">
            <a:extLst>
              <a:ext uri="{FF2B5EF4-FFF2-40B4-BE49-F238E27FC236}">
                <a16:creationId xmlns:a16="http://schemas.microsoft.com/office/drawing/2014/main" id="{6AE3664B-2955-6AB5-FB8D-A07936625A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blurRad="683420" dist="50800" dir="6060000" sx="108019" sy="108019" algn="ctr" rotWithShape="0">
              <a:srgbClr val="000000"/>
            </a:outerShdw>
          </a:effectLst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7CAF5A06-3778-AF68-B35D-B0817F2D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66" y="273048"/>
            <a:ext cx="7886700" cy="990601"/>
          </a:xfrm>
          <a:effectLst>
            <a:outerShdw blurRad="50800" dist="50800" dir="5400000" algn="ctr" rotWithShape="0">
              <a:srgbClr val="000000">
                <a:alpha val="5623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B1D9F54-C429-C878-94EB-D3E9F3FFBBA7}"/>
              </a:ext>
            </a:extLst>
          </p:cNvPr>
          <p:cNvSpPr txBox="1">
            <a:spLocks/>
          </p:cNvSpPr>
          <p:nvPr/>
        </p:nvSpPr>
        <p:spPr>
          <a:xfrm>
            <a:off x="332055" y="1263649"/>
            <a:ext cx="4233862" cy="189388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b="1" dirty="0">
                <a:solidFill>
                  <a:srgbClr val="F3F3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765820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B1D9F54-C429-C878-94EB-D3E9F3FFBBA7}"/>
              </a:ext>
            </a:extLst>
          </p:cNvPr>
          <p:cNvSpPr txBox="1">
            <a:spLocks/>
          </p:cNvSpPr>
          <p:nvPr/>
        </p:nvSpPr>
        <p:spPr>
          <a:xfrm>
            <a:off x="332055" y="1263649"/>
            <a:ext cx="4233862" cy="189388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4400" b="1" dirty="0">
              <a:solidFill>
                <a:srgbClr val="F3F3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F03778-E055-54D4-7525-8131EDCFFCFC}"/>
              </a:ext>
            </a:extLst>
          </p:cNvPr>
          <p:cNvSpPr txBox="1">
            <a:spLocks/>
          </p:cNvSpPr>
          <p:nvPr/>
        </p:nvSpPr>
        <p:spPr>
          <a:xfrm>
            <a:off x="421482" y="44141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oppio One"/>
              <a:buNone/>
              <a:defRPr sz="35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9pPr>
          </a:lstStyle>
          <a:p>
            <a:r>
              <a:rPr lang="en-US" sz="3200" dirty="0">
                <a:solidFill>
                  <a:srgbClr val="D71D26"/>
                </a:solidFill>
                <a:latin typeface="+mn-lt"/>
              </a:rPr>
              <a:t>Conclusions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B78E04-9157-475B-06B8-C7549515D542}"/>
              </a:ext>
            </a:extLst>
          </p:cNvPr>
          <p:cNvSpPr txBox="1"/>
          <p:nvPr/>
        </p:nvSpPr>
        <p:spPr>
          <a:xfrm>
            <a:off x="332055" y="2942427"/>
            <a:ext cx="3869226" cy="144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 3-year general model for CVD/ No CVD </a:t>
            </a: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MY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Malaysians</a:t>
            </a: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 demonstrated </a:t>
            </a:r>
            <a:r>
              <a:rPr lang="en-MY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performance</a:t>
            </a: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 than the 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conventional risk scoring method (FRS) </a:t>
            </a: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that was derived from the </a:t>
            </a:r>
            <a:r>
              <a:rPr lang="en-MY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Western population at a certain threshold level. </a:t>
            </a:r>
            <a:endParaRPr 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B984A7-D3FD-D97F-6E87-44E7A44DFB2C}"/>
              </a:ext>
            </a:extLst>
          </p:cNvPr>
          <p:cNvCxnSpPr>
            <a:cxnSpLocks/>
          </p:cNvCxnSpPr>
          <p:nvPr/>
        </p:nvCxnSpPr>
        <p:spPr>
          <a:xfrm>
            <a:off x="4273482" y="1618116"/>
            <a:ext cx="0" cy="3106729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545252E-E782-C37C-9281-6A38857DACD5}"/>
              </a:ext>
            </a:extLst>
          </p:cNvPr>
          <p:cNvSpPr txBox="1"/>
          <p:nvPr/>
        </p:nvSpPr>
        <p:spPr>
          <a:xfrm>
            <a:off x="4565917" y="2930574"/>
            <a:ext cx="4246028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MY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second model, designed to classify myocardial infarction (MI) and stroke events for 3 years, showed </a:t>
            </a:r>
            <a:r>
              <a:rPr lang="en-MY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predictive performance.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EEF4B3-FE98-B17D-FA33-054AF44E8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276" y="961654"/>
            <a:ext cx="1947309" cy="1947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 descr="Person Holding Heart Photos, Images &amp; Pictures | Shutterstock">
            <a:extLst>
              <a:ext uri="{FF2B5EF4-FFF2-40B4-BE49-F238E27FC236}">
                <a16:creationId xmlns:a16="http://schemas.microsoft.com/office/drawing/2014/main" id="{D681780D-2F98-5F2E-A319-F5A98DE495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DE4DE"/>
              </a:clrFrom>
              <a:clrTo>
                <a:srgbClr val="FDE4D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9"/>
          <a:stretch/>
        </p:blipFill>
        <p:spPr bwMode="auto">
          <a:xfrm>
            <a:off x="1243366" y="1046036"/>
            <a:ext cx="1839653" cy="1802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086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FAADF1B-21E2-019D-2EBE-CBB8CF62878E}"/>
              </a:ext>
            </a:extLst>
          </p:cNvPr>
          <p:cNvSpPr txBox="1"/>
          <p:nvPr/>
        </p:nvSpPr>
        <p:spPr>
          <a:xfrm>
            <a:off x="1199966" y="2577265"/>
            <a:ext cx="46825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D71D26"/>
                </a:solidFill>
                <a:latin typeface="+mn-lt"/>
                <a:sym typeface="Doppio One"/>
              </a:rPr>
              <a:t>THANK</a:t>
            </a:r>
            <a:r>
              <a:rPr lang="en-US" sz="4400" b="1" dirty="0">
                <a:solidFill>
                  <a:schemeClr val="lt2"/>
                </a:solidFill>
                <a:latin typeface="+mn-lt"/>
                <a:sym typeface="Doppio One"/>
              </a:rPr>
              <a:t> </a:t>
            </a:r>
            <a:r>
              <a:rPr lang="en-US" sz="4400" b="1" dirty="0">
                <a:solidFill>
                  <a:srgbClr val="D71D26"/>
                </a:solidFill>
                <a:latin typeface="+mn-lt"/>
                <a:sym typeface="Doppio One"/>
              </a:rPr>
              <a:t>YOU!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99F3ACD-1A75-E103-EEC1-3A9EED3434DC}"/>
              </a:ext>
            </a:extLst>
          </p:cNvPr>
          <p:cNvGrpSpPr/>
          <p:nvPr/>
        </p:nvGrpSpPr>
        <p:grpSpPr>
          <a:xfrm>
            <a:off x="5139159" y="1504710"/>
            <a:ext cx="3123399" cy="2285952"/>
            <a:chOff x="4849474" y="1380109"/>
            <a:chExt cx="3443030" cy="2521096"/>
          </a:xfrm>
        </p:grpSpPr>
        <p:grpSp>
          <p:nvGrpSpPr>
            <p:cNvPr id="3" name="Google Shape;842;p46">
              <a:extLst>
                <a:ext uri="{FF2B5EF4-FFF2-40B4-BE49-F238E27FC236}">
                  <a16:creationId xmlns:a16="http://schemas.microsoft.com/office/drawing/2014/main" id="{99D4B556-4AF3-8144-382F-83B5FF7BF4AD}"/>
                </a:ext>
              </a:extLst>
            </p:cNvPr>
            <p:cNvGrpSpPr/>
            <p:nvPr/>
          </p:nvGrpSpPr>
          <p:grpSpPr>
            <a:xfrm rot="653442">
              <a:off x="4849474" y="1380109"/>
              <a:ext cx="3443030" cy="2521096"/>
              <a:chOff x="2813800" y="1533435"/>
              <a:chExt cx="3425551" cy="2508297"/>
            </a:xfrm>
          </p:grpSpPr>
          <p:sp>
            <p:nvSpPr>
              <p:cNvPr id="8" name="Google Shape;843;p46">
                <a:extLst>
                  <a:ext uri="{FF2B5EF4-FFF2-40B4-BE49-F238E27FC236}">
                    <a16:creationId xmlns:a16="http://schemas.microsoft.com/office/drawing/2014/main" id="{2C14666E-5831-197B-C122-5557C8E9F00D}"/>
                  </a:ext>
                </a:extLst>
              </p:cNvPr>
              <p:cNvSpPr/>
              <p:nvPr/>
            </p:nvSpPr>
            <p:spPr>
              <a:xfrm>
                <a:off x="3335285" y="2759074"/>
                <a:ext cx="2904066" cy="1282658"/>
              </a:xfrm>
              <a:custGeom>
                <a:avLst/>
                <a:gdLst/>
                <a:ahLst/>
                <a:cxnLst/>
                <a:rect l="l" t="t" r="r" b="b"/>
                <a:pathLst>
                  <a:path w="36109" h="15948" extrusionOk="0">
                    <a:moveTo>
                      <a:pt x="3365" y="0"/>
                    </a:moveTo>
                    <a:cubicBezTo>
                      <a:pt x="3229" y="114"/>
                      <a:pt x="0" y="2729"/>
                      <a:pt x="1402" y="8140"/>
                    </a:cubicBezTo>
                    <a:cubicBezTo>
                      <a:pt x="1986" y="10399"/>
                      <a:pt x="3578" y="12074"/>
                      <a:pt x="6011" y="12984"/>
                    </a:cubicBezTo>
                    <a:cubicBezTo>
                      <a:pt x="7814" y="13658"/>
                      <a:pt x="9429" y="13673"/>
                      <a:pt x="9497" y="13673"/>
                    </a:cubicBezTo>
                    <a:lnTo>
                      <a:pt x="9687" y="13673"/>
                    </a:lnTo>
                    <a:lnTo>
                      <a:pt x="11036" y="11650"/>
                    </a:lnTo>
                    <a:lnTo>
                      <a:pt x="11862" y="13802"/>
                    </a:lnTo>
                    <a:lnTo>
                      <a:pt x="13400" y="11544"/>
                    </a:lnTo>
                    <a:lnTo>
                      <a:pt x="14803" y="15947"/>
                    </a:lnTo>
                    <a:lnTo>
                      <a:pt x="15796" y="14007"/>
                    </a:lnTo>
                    <a:lnTo>
                      <a:pt x="16637" y="15235"/>
                    </a:lnTo>
                    <a:lnTo>
                      <a:pt x="16796" y="15257"/>
                    </a:lnTo>
                    <a:cubicBezTo>
                      <a:pt x="16923" y="15269"/>
                      <a:pt x="18166" y="15388"/>
                      <a:pt x="19997" y="15388"/>
                    </a:cubicBezTo>
                    <a:cubicBezTo>
                      <a:pt x="22858" y="15388"/>
                      <a:pt x="27155" y="15097"/>
                      <a:pt x="30871" y="13651"/>
                    </a:cubicBezTo>
                    <a:cubicBezTo>
                      <a:pt x="34971" y="12059"/>
                      <a:pt x="35805" y="9793"/>
                      <a:pt x="35942" y="8580"/>
                    </a:cubicBezTo>
                    <a:cubicBezTo>
                      <a:pt x="36108" y="7064"/>
                      <a:pt x="35373" y="5556"/>
                      <a:pt x="34024" y="4654"/>
                    </a:cubicBezTo>
                    <a:cubicBezTo>
                      <a:pt x="32359" y="3534"/>
                      <a:pt x="30622" y="3317"/>
                      <a:pt x="29526" y="3317"/>
                    </a:cubicBezTo>
                    <a:cubicBezTo>
                      <a:pt x="28871" y="3317"/>
                      <a:pt x="28445" y="3395"/>
                      <a:pt x="28400" y="3403"/>
                    </a:cubicBezTo>
                    <a:lnTo>
                      <a:pt x="28529" y="4086"/>
                    </a:lnTo>
                    <a:cubicBezTo>
                      <a:pt x="28540" y="4083"/>
                      <a:pt x="28911" y="4017"/>
                      <a:pt x="29497" y="4017"/>
                    </a:cubicBezTo>
                    <a:cubicBezTo>
                      <a:pt x="30495" y="4017"/>
                      <a:pt x="32114" y="4208"/>
                      <a:pt x="33637" y="5230"/>
                    </a:cubicBezTo>
                    <a:cubicBezTo>
                      <a:pt x="34774" y="5988"/>
                      <a:pt x="35388" y="7246"/>
                      <a:pt x="35252" y="8504"/>
                    </a:cubicBezTo>
                    <a:cubicBezTo>
                      <a:pt x="35047" y="10323"/>
                      <a:pt x="33402" y="11923"/>
                      <a:pt x="30621" y="12999"/>
                    </a:cubicBezTo>
                    <a:cubicBezTo>
                      <a:pt x="27018" y="14403"/>
                      <a:pt x="22753" y="14680"/>
                      <a:pt x="19939" y="14680"/>
                    </a:cubicBezTo>
                    <a:cubicBezTo>
                      <a:pt x="18485" y="14680"/>
                      <a:pt x="17418" y="14606"/>
                      <a:pt x="17031" y="14575"/>
                    </a:cubicBezTo>
                    <a:lnTo>
                      <a:pt x="15705" y="12650"/>
                    </a:lnTo>
                    <a:lnTo>
                      <a:pt x="14954" y="14121"/>
                    </a:lnTo>
                    <a:lnTo>
                      <a:pt x="13628" y="9967"/>
                    </a:lnTo>
                    <a:lnTo>
                      <a:pt x="12036" y="12309"/>
                    </a:lnTo>
                    <a:lnTo>
                      <a:pt x="11202" y="10141"/>
                    </a:lnTo>
                    <a:lnTo>
                      <a:pt x="9315" y="12969"/>
                    </a:lnTo>
                    <a:cubicBezTo>
                      <a:pt x="8292" y="12915"/>
                      <a:pt x="3229" y="12415"/>
                      <a:pt x="2077" y="7966"/>
                    </a:cubicBezTo>
                    <a:cubicBezTo>
                      <a:pt x="788" y="3017"/>
                      <a:pt x="3676" y="644"/>
                      <a:pt x="3797" y="546"/>
                    </a:cubicBezTo>
                    <a:lnTo>
                      <a:pt x="33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9" name="Google Shape;844;p46">
                <a:extLst>
                  <a:ext uri="{FF2B5EF4-FFF2-40B4-BE49-F238E27FC236}">
                    <a16:creationId xmlns:a16="http://schemas.microsoft.com/office/drawing/2014/main" id="{29DD4A05-E6D7-132D-5BC5-676C57F46252}"/>
                  </a:ext>
                </a:extLst>
              </p:cNvPr>
              <p:cNvSpPr/>
              <p:nvPr/>
            </p:nvSpPr>
            <p:spPr>
              <a:xfrm>
                <a:off x="2813800" y="1533435"/>
                <a:ext cx="1901569" cy="1371369"/>
              </a:xfrm>
              <a:custGeom>
                <a:avLst/>
                <a:gdLst/>
                <a:ahLst/>
                <a:cxnLst/>
                <a:rect l="l" t="t" r="r" b="b"/>
                <a:pathLst>
                  <a:path w="23644" h="17051" extrusionOk="0">
                    <a:moveTo>
                      <a:pt x="15269" y="0"/>
                    </a:moveTo>
                    <a:cubicBezTo>
                      <a:pt x="11405" y="0"/>
                      <a:pt x="9531" y="4135"/>
                      <a:pt x="9531" y="4135"/>
                    </a:cubicBezTo>
                    <a:cubicBezTo>
                      <a:pt x="9531" y="4135"/>
                      <a:pt x="8629" y="3882"/>
                      <a:pt x="7410" y="3882"/>
                    </a:cubicBezTo>
                    <a:cubicBezTo>
                      <a:pt x="5843" y="3882"/>
                      <a:pt x="3752" y="4301"/>
                      <a:pt x="2384" y="6220"/>
                    </a:cubicBezTo>
                    <a:cubicBezTo>
                      <a:pt x="0" y="9571"/>
                      <a:pt x="3157" y="17050"/>
                      <a:pt x="14903" y="17050"/>
                    </a:cubicBezTo>
                    <a:cubicBezTo>
                      <a:pt x="15110" y="17050"/>
                      <a:pt x="15321" y="17048"/>
                      <a:pt x="15534" y="17043"/>
                    </a:cubicBezTo>
                    <a:cubicBezTo>
                      <a:pt x="23644" y="7849"/>
                      <a:pt x="19900" y="361"/>
                      <a:pt x="15731" y="20"/>
                    </a:cubicBezTo>
                    <a:cubicBezTo>
                      <a:pt x="15574" y="7"/>
                      <a:pt x="15420" y="0"/>
                      <a:pt x="15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10" name="Google Shape;845;p46">
                <a:extLst>
                  <a:ext uri="{FF2B5EF4-FFF2-40B4-BE49-F238E27FC236}">
                    <a16:creationId xmlns:a16="http://schemas.microsoft.com/office/drawing/2014/main" id="{44553E7E-5F3C-D572-A173-E95A6EF2E0B1}"/>
                  </a:ext>
                </a:extLst>
              </p:cNvPr>
              <p:cNvSpPr/>
              <p:nvPr/>
            </p:nvSpPr>
            <p:spPr>
              <a:xfrm>
                <a:off x="3885081" y="1600592"/>
                <a:ext cx="442016" cy="351951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4376" extrusionOk="0">
                    <a:moveTo>
                      <a:pt x="1982" y="0"/>
                    </a:moveTo>
                    <a:cubicBezTo>
                      <a:pt x="1200" y="0"/>
                      <a:pt x="508" y="249"/>
                      <a:pt x="334" y="716"/>
                    </a:cubicBezTo>
                    <a:cubicBezTo>
                      <a:pt x="1" y="1633"/>
                      <a:pt x="736" y="2353"/>
                      <a:pt x="2009" y="3225"/>
                    </a:cubicBezTo>
                    <a:cubicBezTo>
                      <a:pt x="2888" y="3821"/>
                      <a:pt x="3623" y="4375"/>
                      <a:pt x="4212" y="4375"/>
                    </a:cubicBezTo>
                    <a:cubicBezTo>
                      <a:pt x="4446" y="4375"/>
                      <a:pt x="4656" y="4288"/>
                      <a:pt x="4844" y="4081"/>
                    </a:cubicBezTo>
                    <a:cubicBezTo>
                      <a:pt x="5496" y="3361"/>
                      <a:pt x="5223" y="1724"/>
                      <a:pt x="4116" y="723"/>
                    </a:cubicBezTo>
                    <a:cubicBezTo>
                      <a:pt x="3577" y="232"/>
                      <a:pt x="2737" y="0"/>
                      <a:pt x="19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11" name="Google Shape;846;p46">
                <a:extLst>
                  <a:ext uri="{FF2B5EF4-FFF2-40B4-BE49-F238E27FC236}">
                    <a16:creationId xmlns:a16="http://schemas.microsoft.com/office/drawing/2014/main" id="{CDD141C8-229A-8ABA-11D6-637D1A84C882}"/>
                  </a:ext>
                </a:extLst>
              </p:cNvPr>
              <p:cNvSpPr/>
              <p:nvPr/>
            </p:nvSpPr>
            <p:spPr>
              <a:xfrm>
                <a:off x="3933574" y="2211941"/>
                <a:ext cx="1625791" cy="1333247"/>
              </a:xfrm>
              <a:custGeom>
                <a:avLst/>
                <a:gdLst/>
                <a:ahLst/>
                <a:cxnLst/>
                <a:rect l="l" t="t" r="r" b="b"/>
                <a:pathLst>
                  <a:path w="20215" h="16577" extrusionOk="0">
                    <a:moveTo>
                      <a:pt x="1320" y="1"/>
                    </a:moveTo>
                    <a:cubicBezTo>
                      <a:pt x="592" y="1"/>
                      <a:pt x="1" y="607"/>
                      <a:pt x="1" y="1350"/>
                    </a:cubicBezTo>
                    <a:lnTo>
                      <a:pt x="1" y="15220"/>
                    </a:lnTo>
                    <a:cubicBezTo>
                      <a:pt x="1" y="15971"/>
                      <a:pt x="592" y="16577"/>
                      <a:pt x="1320" y="16577"/>
                    </a:cubicBezTo>
                    <a:lnTo>
                      <a:pt x="18896" y="16577"/>
                    </a:lnTo>
                    <a:cubicBezTo>
                      <a:pt x="19624" y="16577"/>
                      <a:pt x="20215" y="15971"/>
                      <a:pt x="20215" y="15220"/>
                    </a:cubicBezTo>
                    <a:lnTo>
                      <a:pt x="20215" y="1350"/>
                    </a:lnTo>
                    <a:cubicBezTo>
                      <a:pt x="20215" y="607"/>
                      <a:pt x="19624" y="1"/>
                      <a:pt x="18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12" name="Google Shape;847;p46">
                <a:extLst>
                  <a:ext uri="{FF2B5EF4-FFF2-40B4-BE49-F238E27FC236}">
                    <a16:creationId xmlns:a16="http://schemas.microsoft.com/office/drawing/2014/main" id="{803BFDD4-F4BC-E990-CECE-D8A707AB5307}"/>
                  </a:ext>
                </a:extLst>
              </p:cNvPr>
              <p:cNvSpPr/>
              <p:nvPr/>
            </p:nvSpPr>
            <p:spPr>
              <a:xfrm>
                <a:off x="3934624" y="2215268"/>
                <a:ext cx="1560567" cy="1218718"/>
              </a:xfrm>
              <a:custGeom>
                <a:avLst/>
                <a:gdLst/>
                <a:ahLst/>
                <a:cxnLst/>
                <a:rect l="l" t="t" r="r" b="b"/>
                <a:pathLst>
                  <a:path w="19404" h="15153" extrusionOk="0">
                    <a:moveTo>
                      <a:pt x="1820" y="1"/>
                    </a:moveTo>
                    <a:cubicBezTo>
                      <a:pt x="819" y="1"/>
                      <a:pt x="1" y="812"/>
                      <a:pt x="1" y="1812"/>
                    </a:cubicBezTo>
                    <a:lnTo>
                      <a:pt x="1" y="13341"/>
                    </a:lnTo>
                    <a:cubicBezTo>
                      <a:pt x="1" y="14341"/>
                      <a:pt x="819" y="15152"/>
                      <a:pt x="1820" y="15152"/>
                    </a:cubicBezTo>
                    <a:lnTo>
                      <a:pt x="17593" y="15152"/>
                    </a:lnTo>
                    <a:cubicBezTo>
                      <a:pt x="18593" y="15152"/>
                      <a:pt x="19404" y="14341"/>
                      <a:pt x="19404" y="13341"/>
                    </a:cubicBezTo>
                    <a:lnTo>
                      <a:pt x="19404" y="1812"/>
                    </a:lnTo>
                    <a:cubicBezTo>
                      <a:pt x="19404" y="812"/>
                      <a:pt x="18593" y="1"/>
                      <a:pt x="175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13" name="Google Shape;848;p46">
                <a:extLst>
                  <a:ext uri="{FF2B5EF4-FFF2-40B4-BE49-F238E27FC236}">
                    <a16:creationId xmlns:a16="http://schemas.microsoft.com/office/drawing/2014/main" id="{3E2CBAE5-05CD-FB17-E8A6-D716FDA8292C}"/>
                  </a:ext>
                </a:extLst>
              </p:cNvPr>
              <p:cNvSpPr/>
              <p:nvPr/>
            </p:nvSpPr>
            <p:spPr>
              <a:xfrm>
                <a:off x="4046014" y="3176012"/>
                <a:ext cx="173798" cy="173804"/>
              </a:xfrm>
              <a:custGeom>
                <a:avLst/>
                <a:gdLst/>
                <a:ahLst/>
                <a:cxnLst/>
                <a:rect l="l" t="t" r="r" b="b"/>
                <a:pathLst>
                  <a:path w="2161" h="2161" extrusionOk="0">
                    <a:moveTo>
                      <a:pt x="1077" y="1"/>
                    </a:moveTo>
                    <a:cubicBezTo>
                      <a:pt x="486" y="1"/>
                      <a:pt x="1" y="486"/>
                      <a:pt x="1" y="1077"/>
                    </a:cubicBezTo>
                    <a:cubicBezTo>
                      <a:pt x="1" y="1676"/>
                      <a:pt x="486" y="2161"/>
                      <a:pt x="1077" y="2161"/>
                    </a:cubicBezTo>
                    <a:cubicBezTo>
                      <a:pt x="1676" y="2161"/>
                      <a:pt x="2161" y="1676"/>
                      <a:pt x="2161" y="1077"/>
                    </a:cubicBezTo>
                    <a:cubicBezTo>
                      <a:pt x="2161" y="486"/>
                      <a:pt x="1676" y="1"/>
                      <a:pt x="1077" y="1"/>
                    </a:cubicBezTo>
                    <a:close/>
                  </a:path>
                </a:pathLst>
              </a:custGeom>
              <a:solidFill>
                <a:srgbClr val="C2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15" name="Google Shape;849;p46">
                <a:extLst>
                  <a:ext uri="{FF2B5EF4-FFF2-40B4-BE49-F238E27FC236}">
                    <a16:creationId xmlns:a16="http://schemas.microsoft.com/office/drawing/2014/main" id="{5A562BB7-B16C-5E28-3C6C-3915B1E5B868}"/>
                  </a:ext>
                </a:extLst>
              </p:cNvPr>
              <p:cNvSpPr/>
              <p:nvPr/>
            </p:nvSpPr>
            <p:spPr>
              <a:xfrm>
                <a:off x="4075933" y="3189444"/>
                <a:ext cx="114043" cy="13174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638" extrusionOk="0">
                    <a:moveTo>
                      <a:pt x="849" y="463"/>
                    </a:moveTo>
                    <a:cubicBezTo>
                      <a:pt x="1054" y="523"/>
                      <a:pt x="1198" y="705"/>
                      <a:pt x="1198" y="933"/>
                    </a:cubicBezTo>
                    <a:cubicBezTo>
                      <a:pt x="1198" y="1198"/>
                      <a:pt x="978" y="1425"/>
                      <a:pt x="705" y="1425"/>
                    </a:cubicBezTo>
                    <a:cubicBezTo>
                      <a:pt x="432" y="1425"/>
                      <a:pt x="212" y="1198"/>
                      <a:pt x="212" y="933"/>
                    </a:cubicBezTo>
                    <a:cubicBezTo>
                      <a:pt x="212" y="705"/>
                      <a:pt x="364" y="523"/>
                      <a:pt x="569" y="463"/>
                    </a:cubicBezTo>
                    <a:lnTo>
                      <a:pt x="569" y="599"/>
                    </a:lnTo>
                    <a:cubicBezTo>
                      <a:pt x="569" y="675"/>
                      <a:pt x="629" y="743"/>
                      <a:pt x="705" y="743"/>
                    </a:cubicBezTo>
                    <a:cubicBezTo>
                      <a:pt x="788" y="743"/>
                      <a:pt x="849" y="675"/>
                      <a:pt x="849" y="599"/>
                    </a:cubicBezTo>
                    <a:lnTo>
                      <a:pt x="849" y="463"/>
                    </a:lnTo>
                    <a:close/>
                    <a:moveTo>
                      <a:pt x="705" y="0"/>
                    </a:moveTo>
                    <a:cubicBezTo>
                      <a:pt x="629" y="0"/>
                      <a:pt x="569" y="68"/>
                      <a:pt x="569" y="144"/>
                    </a:cubicBezTo>
                    <a:lnTo>
                      <a:pt x="569" y="235"/>
                    </a:lnTo>
                    <a:cubicBezTo>
                      <a:pt x="243" y="303"/>
                      <a:pt x="0" y="584"/>
                      <a:pt x="0" y="933"/>
                    </a:cubicBezTo>
                    <a:cubicBezTo>
                      <a:pt x="0" y="1319"/>
                      <a:pt x="318" y="1637"/>
                      <a:pt x="705" y="1637"/>
                    </a:cubicBezTo>
                    <a:cubicBezTo>
                      <a:pt x="1099" y="1637"/>
                      <a:pt x="1417" y="1319"/>
                      <a:pt x="1417" y="933"/>
                    </a:cubicBezTo>
                    <a:cubicBezTo>
                      <a:pt x="1417" y="584"/>
                      <a:pt x="1167" y="303"/>
                      <a:pt x="849" y="235"/>
                    </a:cubicBezTo>
                    <a:lnTo>
                      <a:pt x="849" y="144"/>
                    </a:lnTo>
                    <a:cubicBezTo>
                      <a:pt x="849" y="68"/>
                      <a:pt x="788" y="0"/>
                      <a:pt x="7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16" name="Google Shape;850;p46">
                <a:extLst>
                  <a:ext uri="{FF2B5EF4-FFF2-40B4-BE49-F238E27FC236}">
                    <a16:creationId xmlns:a16="http://schemas.microsoft.com/office/drawing/2014/main" id="{E798084E-49F3-C5F9-AA06-CFE4587EDE96}"/>
                  </a:ext>
                </a:extLst>
              </p:cNvPr>
              <p:cNvSpPr/>
              <p:nvPr/>
            </p:nvSpPr>
            <p:spPr>
              <a:xfrm>
                <a:off x="4063918" y="2332953"/>
                <a:ext cx="1027269" cy="788913"/>
              </a:xfrm>
              <a:custGeom>
                <a:avLst/>
                <a:gdLst/>
                <a:ahLst/>
                <a:cxnLst/>
                <a:rect l="l" t="t" r="r" b="b"/>
                <a:pathLst>
                  <a:path w="12773" h="9809" extrusionOk="0">
                    <a:moveTo>
                      <a:pt x="956" y="1"/>
                    </a:moveTo>
                    <a:cubicBezTo>
                      <a:pt x="433" y="1"/>
                      <a:pt x="1" y="425"/>
                      <a:pt x="1" y="956"/>
                    </a:cubicBezTo>
                    <a:lnTo>
                      <a:pt x="1" y="8854"/>
                    </a:lnTo>
                    <a:cubicBezTo>
                      <a:pt x="1" y="9376"/>
                      <a:pt x="433" y="9809"/>
                      <a:pt x="956" y="9809"/>
                    </a:cubicBezTo>
                    <a:lnTo>
                      <a:pt x="11817" y="9809"/>
                    </a:lnTo>
                    <a:cubicBezTo>
                      <a:pt x="12340" y="9809"/>
                      <a:pt x="12772" y="9376"/>
                      <a:pt x="12772" y="8854"/>
                    </a:cubicBezTo>
                    <a:lnTo>
                      <a:pt x="12772" y="956"/>
                    </a:lnTo>
                    <a:cubicBezTo>
                      <a:pt x="12772" y="425"/>
                      <a:pt x="12340" y="1"/>
                      <a:pt x="118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17" name="Google Shape;851;p46">
                <a:extLst>
                  <a:ext uri="{FF2B5EF4-FFF2-40B4-BE49-F238E27FC236}">
                    <a16:creationId xmlns:a16="http://schemas.microsoft.com/office/drawing/2014/main" id="{AF4D22A1-2706-D8C0-8CF1-BD87BE12EDEF}"/>
                  </a:ext>
                </a:extLst>
              </p:cNvPr>
              <p:cNvSpPr/>
              <p:nvPr/>
            </p:nvSpPr>
            <p:spPr>
              <a:xfrm>
                <a:off x="4309331" y="3208344"/>
                <a:ext cx="279316" cy="113403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410" extrusionOk="0">
                    <a:moveTo>
                      <a:pt x="653" y="0"/>
                    </a:moveTo>
                    <a:cubicBezTo>
                      <a:pt x="297" y="0"/>
                      <a:pt x="1" y="296"/>
                      <a:pt x="1" y="652"/>
                    </a:cubicBezTo>
                    <a:lnTo>
                      <a:pt x="1" y="758"/>
                    </a:lnTo>
                    <a:cubicBezTo>
                      <a:pt x="1" y="1114"/>
                      <a:pt x="297" y="1410"/>
                      <a:pt x="653" y="1410"/>
                    </a:cubicBezTo>
                    <a:lnTo>
                      <a:pt x="2813" y="1410"/>
                    </a:lnTo>
                    <a:cubicBezTo>
                      <a:pt x="3177" y="1410"/>
                      <a:pt x="3472" y="1114"/>
                      <a:pt x="3472" y="758"/>
                    </a:cubicBezTo>
                    <a:lnTo>
                      <a:pt x="3472" y="652"/>
                    </a:lnTo>
                    <a:cubicBezTo>
                      <a:pt x="3472" y="296"/>
                      <a:pt x="3177" y="0"/>
                      <a:pt x="28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18" name="Google Shape;852;p46">
                <a:extLst>
                  <a:ext uri="{FF2B5EF4-FFF2-40B4-BE49-F238E27FC236}">
                    <a16:creationId xmlns:a16="http://schemas.microsoft.com/office/drawing/2014/main" id="{9E45DD66-46D2-285D-E49A-B15B01FC0E21}"/>
                  </a:ext>
                </a:extLst>
              </p:cNvPr>
              <p:cNvSpPr/>
              <p:nvPr/>
            </p:nvSpPr>
            <p:spPr>
              <a:xfrm>
                <a:off x="4731811" y="3208344"/>
                <a:ext cx="279236" cy="113403"/>
              </a:xfrm>
              <a:custGeom>
                <a:avLst/>
                <a:gdLst/>
                <a:ahLst/>
                <a:cxnLst/>
                <a:rect l="l" t="t" r="r" b="b"/>
                <a:pathLst>
                  <a:path w="3472" h="1410" extrusionOk="0">
                    <a:moveTo>
                      <a:pt x="652" y="0"/>
                    </a:moveTo>
                    <a:cubicBezTo>
                      <a:pt x="296" y="0"/>
                      <a:pt x="0" y="296"/>
                      <a:pt x="0" y="652"/>
                    </a:cubicBezTo>
                    <a:lnTo>
                      <a:pt x="0" y="758"/>
                    </a:lnTo>
                    <a:cubicBezTo>
                      <a:pt x="0" y="1114"/>
                      <a:pt x="296" y="1410"/>
                      <a:pt x="652" y="1410"/>
                    </a:cubicBezTo>
                    <a:lnTo>
                      <a:pt x="2820" y="1410"/>
                    </a:lnTo>
                    <a:cubicBezTo>
                      <a:pt x="3176" y="1410"/>
                      <a:pt x="3472" y="1114"/>
                      <a:pt x="3472" y="758"/>
                    </a:cubicBezTo>
                    <a:lnTo>
                      <a:pt x="3472" y="652"/>
                    </a:lnTo>
                    <a:cubicBezTo>
                      <a:pt x="3472" y="296"/>
                      <a:pt x="3176" y="0"/>
                      <a:pt x="28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19" name="Google Shape;853;p46">
                <a:extLst>
                  <a:ext uri="{FF2B5EF4-FFF2-40B4-BE49-F238E27FC236}">
                    <a16:creationId xmlns:a16="http://schemas.microsoft.com/office/drawing/2014/main" id="{AE9321DB-38B9-1840-1B2B-4C94E693D517}"/>
                  </a:ext>
                </a:extLst>
              </p:cNvPr>
              <p:cNvSpPr/>
              <p:nvPr/>
            </p:nvSpPr>
            <p:spPr>
              <a:xfrm>
                <a:off x="5156704" y="2302486"/>
                <a:ext cx="268298" cy="35549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4420" extrusionOk="0">
                    <a:moveTo>
                      <a:pt x="766" y="0"/>
                    </a:moveTo>
                    <a:cubicBezTo>
                      <a:pt x="341" y="0"/>
                      <a:pt x="0" y="341"/>
                      <a:pt x="0" y="766"/>
                    </a:cubicBezTo>
                    <a:lnTo>
                      <a:pt x="0" y="3654"/>
                    </a:lnTo>
                    <a:cubicBezTo>
                      <a:pt x="0" y="4078"/>
                      <a:pt x="341" y="4419"/>
                      <a:pt x="766" y="4419"/>
                    </a:cubicBezTo>
                    <a:lnTo>
                      <a:pt x="2570" y="4419"/>
                    </a:lnTo>
                    <a:cubicBezTo>
                      <a:pt x="2994" y="4419"/>
                      <a:pt x="3335" y="4078"/>
                      <a:pt x="3335" y="3654"/>
                    </a:cubicBezTo>
                    <a:lnTo>
                      <a:pt x="3335" y="766"/>
                    </a:lnTo>
                    <a:cubicBezTo>
                      <a:pt x="3335" y="341"/>
                      <a:pt x="2994" y="0"/>
                      <a:pt x="25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0" name="Google Shape;854;p46">
                <a:extLst>
                  <a:ext uri="{FF2B5EF4-FFF2-40B4-BE49-F238E27FC236}">
                    <a16:creationId xmlns:a16="http://schemas.microsoft.com/office/drawing/2014/main" id="{A5B25179-FDDE-274C-519D-D026E0E1DF56}"/>
                  </a:ext>
                </a:extLst>
              </p:cNvPr>
              <p:cNvSpPr/>
              <p:nvPr/>
            </p:nvSpPr>
            <p:spPr>
              <a:xfrm>
                <a:off x="5156704" y="2726742"/>
                <a:ext cx="268298" cy="356053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4427" extrusionOk="0">
                    <a:moveTo>
                      <a:pt x="766" y="1"/>
                    </a:moveTo>
                    <a:cubicBezTo>
                      <a:pt x="341" y="1"/>
                      <a:pt x="0" y="349"/>
                      <a:pt x="0" y="774"/>
                    </a:cubicBezTo>
                    <a:lnTo>
                      <a:pt x="0" y="3661"/>
                    </a:lnTo>
                    <a:cubicBezTo>
                      <a:pt x="0" y="4078"/>
                      <a:pt x="341" y="4427"/>
                      <a:pt x="766" y="4427"/>
                    </a:cubicBezTo>
                    <a:lnTo>
                      <a:pt x="2570" y="4427"/>
                    </a:lnTo>
                    <a:cubicBezTo>
                      <a:pt x="2994" y="4427"/>
                      <a:pt x="3335" y="4078"/>
                      <a:pt x="3335" y="3661"/>
                    </a:cubicBezTo>
                    <a:lnTo>
                      <a:pt x="3335" y="774"/>
                    </a:lnTo>
                    <a:cubicBezTo>
                      <a:pt x="3335" y="349"/>
                      <a:pt x="2994" y="1"/>
                      <a:pt x="25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1" name="Google Shape;860;p46">
                <a:extLst>
                  <a:ext uri="{FF2B5EF4-FFF2-40B4-BE49-F238E27FC236}">
                    <a16:creationId xmlns:a16="http://schemas.microsoft.com/office/drawing/2014/main" id="{42108314-97A6-41BE-60AD-0C6821B5D65D}"/>
                  </a:ext>
                </a:extLst>
              </p:cNvPr>
              <p:cNvSpPr/>
              <p:nvPr/>
            </p:nvSpPr>
            <p:spPr>
              <a:xfrm>
                <a:off x="4172203" y="2805401"/>
                <a:ext cx="488341" cy="173160"/>
              </a:xfrm>
              <a:custGeom>
                <a:avLst/>
                <a:gdLst/>
                <a:ahLst/>
                <a:cxnLst/>
                <a:rect l="l" t="t" r="r" b="b"/>
                <a:pathLst>
                  <a:path w="6072" h="2153" fill="none" extrusionOk="0">
                    <a:moveTo>
                      <a:pt x="6072" y="2153"/>
                    </a:moveTo>
                    <a:lnTo>
                      <a:pt x="3714" y="2153"/>
                    </a:lnTo>
                    <a:lnTo>
                      <a:pt x="3199" y="1137"/>
                    </a:lnTo>
                    <a:lnTo>
                      <a:pt x="2903" y="1880"/>
                    </a:lnTo>
                    <a:lnTo>
                      <a:pt x="2631" y="1137"/>
                    </a:lnTo>
                    <a:lnTo>
                      <a:pt x="2115" y="2032"/>
                    </a:lnTo>
                    <a:lnTo>
                      <a:pt x="1539" y="0"/>
                    </a:lnTo>
                    <a:lnTo>
                      <a:pt x="1153" y="2153"/>
                    </a:lnTo>
                    <a:lnTo>
                      <a:pt x="1" y="2153"/>
                    </a:lnTo>
                  </a:path>
                </a:pathLst>
              </a:custGeom>
              <a:solidFill>
                <a:schemeClr val="dk2"/>
              </a:solidFill>
              <a:ln w="19050" cap="rnd" cmpd="sng">
                <a:solidFill>
                  <a:srgbClr val="EF34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2" name="Google Shape;861;p46">
                <a:extLst>
                  <a:ext uri="{FF2B5EF4-FFF2-40B4-BE49-F238E27FC236}">
                    <a16:creationId xmlns:a16="http://schemas.microsoft.com/office/drawing/2014/main" id="{C9420E86-2306-8A2D-7815-A03FCDBB8041}"/>
                  </a:ext>
                </a:extLst>
              </p:cNvPr>
              <p:cNvSpPr/>
              <p:nvPr/>
            </p:nvSpPr>
            <p:spPr>
              <a:xfrm>
                <a:off x="4164885" y="2478542"/>
                <a:ext cx="340198" cy="222704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2769" extrusionOk="0">
                    <a:moveTo>
                      <a:pt x="3007" y="0"/>
                    </a:moveTo>
                    <a:cubicBezTo>
                      <a:pt x="2511" y="0"/>
                      <a:pt x="2108" y="320"/>
                      <a:pt x="2108" y="320"/>
                    </a:cubicBezTo>
                    <a:cubicBezTo>
                      <a:pt x="2108" y="320"/>
                      <a:pt x="1713" y="7"/>
                      <a:pt x="1227" y="7"/>
                    </a:cubicBezTo>
                    <a:cubicBezTo>
                      <a:pt x="1067" y="7"/>
                      <a:pt x="897" y="41"/>
                      <a:pt x="728" y="131"/>
                    </a:cubicBezTo>
                    <a:cubicBezTo>
                      <a:pt x="39" y="487"/>
                      <a:pt x="1" y="1934"/>
                      <a:pt x="2115" y="2768"/>
                    </a:cubicBezTo>
                    <a:cubicBezTo>
                      <a:pt x="4230" y="1912"/>
                      <a:pt x="4177" y="472"/>
                      <a:pt x="3495" y="115"/>
                    </a:cubicBezTo>
                    <a:cubicBezTo>
                      <a:pt x="3329" y="32"/>
                      <a:pt x="3164" y="0"/>
                      <a:pt x="30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sp>
            <p:nvSpPr>
              <p:cNvPr id="23" name="Google Shape;862;p46">
                <a:extLst>
                  <a:ext uri="{FF2B5EF4-FFF2-40B4-BE49-F238E27FC236}">
                    <a16:creationId xmlns:a16="http://schemas.microsoft.com/office/drawing/2014/main" id="{CEF23054-5FCD-1765-9AFE-CBD546754EA2}"/>
                  </a:ext>
                </a:extLst>
              </p:cNvPr>
              <p:cNvSpPr/>
              <p:nvPr/>
            </p:nvSpPr>
            <p:spPr>
              <a:xfrm>
                <a:off x="5521841" y="3004138"/>
                <a:ext cx="144524" cy="143885"/>
              </a:xfrm>
              <a:custGeom>
                <a:avLst/>
                <a:gdLst/>
                <a:ahLst/>
                <a:cxnLst/>
                <a:rect l="l" t="t" r="r" b="b"/>
                <a:pathLst>
                  <a:path w="1797" h="1789" extrusionOk="0">
                    <a:moveTo>
                      <a:pt x="0" y="0"/>
                    </a:moveTo>
                    <a:lnTo>
                      <a:pt x="0" y="1789"/>
                    </a:lnTo>
                    <a:lnTo>
                      <a:pt x="1797" y="1789"/>
                    </a:lnTo>
                    <a:lnTo>
                      <a:pt x="17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002AA5B-FA09-3CD7-668E-5AE39D317DC1}"/>
                </a:ext>
              </a:extLst>
            </p:cNvPr>
            <p:cNvGrpSpPr/>
            <p:nvPr/>
          </p:nvGrpSpPr>
          <p:grpSpPr>
            <a:xfrm>
              <a:off x="6669423" y="2383396"/>
              <a:ext cx="432773" cy="556319"/>
              <a:chOff x="6669423" y="2383396"/>
              <a:chExt cx="432773" cy="556319"/>
            </a:xfrm>
          </p:grpSpPr>
          <p:pic>
            <p:nvPicPr>
              <p:cNvPr id="5" name="Picture 4" descr="Resistant Hypertension | Singapore Heart Foundation">
                <a:extLst>
                  <a:ext uri="{FF2B5EF4-FFF2-40B4-BE49-F238E27FC236}">
                    <a16:creationId xmlns:a16="http://schemas.microsoft.com/office/drawing/2014/main" id="{9ACB2A72-1C0C-623D-7B75-A4E2C0E84C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458" t="40756" r="68972" b="52183"/>
              <a:stretch/>
            </p:blipFill>
            <p:spPr bwMode="auto">
              <a:xfrm>
                <a:off x="6697683" y="2673489"/>
                <a:ext cx="370091" cy="2662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Picture 4" descr="Resistant Hypertension | Singapore Heart Foundation">
                <a:extLst>
                  <a:ext uri="{FF2B5EF4-FFF2-40B4-BE49-F238E27FC236}">
                    <a16:creationId xmlns:a16="http://schemas.microsoft.com/office/drawing/2014/main" id="{241885C2-47C4-7CBB-8A13-E62BE7CFA7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127" t="33197" r="68261" b="59742"/>
              <a:stretch/>
            </p:blipFill>
            <p:spPr bwMode="auto">
              <a:xfrm>
                <a:off x="6669423" y="2383396"/>
                <a:ext cx="432773" cy="268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58"/>
          <p:cNvSpPr txBox="1">
            <a:spLocks noGrp="1"/>
          </p:cNvSpPr>
          <p:nvPr>
            <p:ph type="title"/>
          </p:nvPr>
        </p:nvSpPr>
        <p:spPr>
          <a:xfrm>
            <a:off x="720000" y="2735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3200" dirty="0">
                <a:solidFill>
                  <a:srgbClr val="D71D26"/>
                </a:solidFill>
                <a:latin typeface="+mn-lt"/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CB2ECE-CAEC-3523-10B3-D4F8A4C70236}"/>
              </a:ext>
            </a:extLst>
          </p:cNvPr>
          <p:cNvSpPr txBox="1"/>
          <p:nvPr/>
        </p:nvSpPr>
        <p:spPr>
          <a:xfrm>
            <a:off x="299356" y="846275"/>
            <a:ext cx="8628743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50" dirty="0">
                <a:latin typeface="Times New Roman" panose="02020603050405020304" pitchFamily="18" charset="0"/>
              </a:rPr>
              <a:t>Chia, Y. C., Gray, S. Y. W., Ching, S. M., Lim, H. M., &amp; Chinna, K. (2015). Validation of the Framingham general cardiovascular risk score in a multiethnic Asian population: A retrospective cohort study. </a:t>
            </a:r>
            <a:r>
              <a:rPr lang="en-MY" sz="1050" i="1" dirty="0">
                <a:latin typeface="Times New Roman" panose="02020603050405020304" pitchFamily="18" charset="0"/>
              </a:rPr>
              <a:t>BMJ Open, 5</a:t>
            </a:r>
            <a:r>
              <a:rPr lang="en-MY" sz="1050" dirty="0">
                <a:latin typeface="Times New Roman" panose="02020603050405020304" pitchFamily="18" charset="0"/>
              </a:rPr>
              <a:t>(5), e007324. https://</a:t>
            </a:r>
            <a:r>
              <a:rPr lang="en-MY" sz="1050" dirty="0" err="1">
                <a:latin typeface="Times New Roman" panose="02020603050405020304" pitchFamily="18" charset="0"/>
              </a:rPr>
              <a:t>doi.org</a:t>
            </a:r>
            <a:r>
              <a:rPr lang="en-MY" sz="1050" dirty="0">
                <a:latin typeface="Times New Roman" panose="02020603050405020304" pitchFamily="18" charset="0"/>
              </a:rPr>
              <a:t>/10.1136/bmjopen-2014-007324</a:t>
            </a:r>
          </a:p>
          <a:p>
            <a:r>
              <a:rPr lang="en-US" sz="10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MY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MY" sz="1050" dirty="0">
                <a:latin typeface="Times New Roman" panose="02020603050405020304" pitchFamily="18" charset="0"/>
              </a:rPr>
              <a:t>Department of Statistics Malaysia. (2022). Statistics on causes of death Malaysia, 2022. Department of Statistics Malaysia.</a:t>
            </a:r>
          </a:p>
          <a:p>
            <a:endParaRPr lang="en-MY" sz="1050" dirty="0">
              <a:latin typeface="Times New Roman" panose="02020603050405020304" pitchFamily="18" charset="0"/>
            </a:endParaRPr>
          </a:p>
          <a:p>
            <a:r>
              <a:rPr lang="en-MY" sz="1050" dirty="0">
                <a:latin typeface="Times New Roman" panose="02020603050405020304" pitchFamily="18" charset="0"/>
              </a:rPr>
              <a:t>Hwang, S.Y., Kim, S.H., Uhm, I.A., Shin, J., &amp; Lim, Y. (2022). Prognostic implications for patients after myocardial infarction: an integrative literature review and in-depth interviews with patients and experts. </a:t>
            </a:r>
            <a:r>
              <a:rPr lang="en-MY" sz="1050" i="1" dirty="0">
                <a:latin typeface="Times New Roman" panose="02020603050405020304" pitchFamily="18" charset="0"/>
              </a:rPr>
              <a:t>BMC Cardiovasc </a:t>
            </a:r>
            <a:r>
              <a:rPr lang="en-MY" sz="1050" i="1" dirty="0" err="1">
                <a:latin typeface="Times New Roman" panose="02020603050405020304" pitchFamily="18" charset="0"/>
              </a:rPr>
              <a:t>Disord</a:t>
            </a:r>
            <a:r>
              <a:rPr lang="en-MY" sz="1050" i="1" dirty="0">
                <a:latin typeface="Times New Roman" panose="02020603050405020304" pitchFamily="18" charset="0"/>
              </a:rPr>
              <a:t> 22</a:t>
            </a:r>
            <a:r>
              <a:rPr lang="en-MY" sz="1050" dirty="0">
                <a:latin typeface="Times New Roman" panose="02020603050405020304" pitchFamily="18" charset="0"/>
              </a:rPr>
              <a:t>(348). https://doi.org/10.1186/s12872-022-02753-z</a:t>
            </a:r>
          </a:p>
          <a:p>
            <a:endParaRPr lang="en-MY" sz="1050" dirty="0">
              <a:latin typeface="Times New Roman" panose="02020603050405020304" pitchFamily="18" charset="0"/>
            </a:endParaRPr>
          </a:p>
          <a:p>
            <a:r>
              <a:rPr lang="en-MY" sz="1050" dirty="0">
                <a:latin typeface="Times New Roman" panose="02020603050405020304" pitchFamily="18" charset="0"/>
              </a:rPr>
              <a:t>National Institutes of Health. Ministry of Health Malaysia. National Health and Morbidity Survey (NHMS) 2019: NCDs-Non-Communicable Diseases: Risk Factors and Other Health Problems. Volume 1 National Institutes of Health; Shah Alam, Malaysia: 2019.</a:t>
            </a:r>
          </a:p>
          <a:p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MY" sz="1050" dirty="0" err="1">
                <a:latin typeface="Times New Roman" panose="02020603050405020304" pitchFamily="18" charset="0"/>
              </a:rPr>
              <a:t>Selvarajah</a:t>
            </a:r>
            <a:r>
              <a:rPr lang="en-MY" sz="1050" dirty="0">
                <a:latin typeface="Times New Roman" panose="02020603050405020304" pitchFamily="18" charset="0"/>
              </a:rPr>
              <a:t>, S., Kaur, G., </a:t>
            </a:r>
            <a:r>
              <a:rPr lang="en-MY" sz="1050" dirty="0" err="1">
                <a:latin typeface="Times New Roman" panose="02020603050405020304" pitchFamily="18" charset="0"/>
              </a:rPr>
              <a:t>Haniff</a:t>
            </a:r>
            <a:r>
              <a:rPr lang="en-MY" sz="1050" dirty="0">
                <a:latin typeface="Times New Roman" panose="02020603050405020304" pitchFamily="18" charset="0"/>
              </a:rPr>
              <a:t>, J., Cheong, K. C., </a:t>
            </a:r>
            <a:r>
              <a:rPr lang="en-MY" sz="1050" dirty="0" err="1">
                <a:latin typeface="Times New Roman" panose="02020603050405020304" pitchFamily="18" charset="0"/>
              </a:rPr>
              <a:t>Hiong</a:t>
            </a:r>
            <a:r>
              <a:rPr lang="en-MY" sz="1050" dirty="0">
                <a:latin typeface="Times New Roman" panose="02020603050405020304" pitchFamily="18" charset="0"/>
              </a:rPr>
              <a:t>, T. G., van der Graaf, Y., &amp; Bots, M. L. (2014). Comparison of the Framingham Risk Score, SCORE and WHO/ISH cardiovascular risk prediction models in an Asian population. </a:t>
            </a:r>
            <a:r>
              <a:rPr lang="en-MY" sz="1050" i="1" dirty="0">
                <a:latin typeface="Times New Roman" panose="02020603050405020304" pitchFamily="18" charset="0"/>
              </a:rPr>
              <a:t>International Journal of Cardiology, 176</a:t>
            </a:r>
            <a:r>
              <a:rPr lang="en-MY" sz="1050" dirty="0">
                <a:latin typeface="Times New Roman" panose="02020603050405020304" pitchFamily="18" charset="0"/>
              </a:rPr>
              <a:t>(1), 211–218.</a:t>
            </a:r>
          </a:p>
          <a:p>
            <a:r>
              <a:rPr lang="en-MY" sz="1050" dirty="0">
                <a:latin typeface="Times New Roman" panose="02020603050405020304" pitchFamily="18" charset="0"/>
              </a:rPr>
              <a:t>https://</a:t>
            </a:r>
            <a:r>
              <a:rPr lang="en-MY" sz="1050" dirty="0" err="1">
                <a:latin typeface="Times New Roman" panose="02020603050405020304" pitchFamily="18" charset="0"/>
              </a:rPr>
              <a:t>doi.org</a:t>
            </a:r>
            <a:r>
              <a:rPr lang="en-MY" sz="1050" dirty="0">
                <a:latin typeface="Times New Roman" panose="02020603050405020304" pitchFamily="18" charset="0"/>
              </a:rPr>
              <a:t>/10.1016/j.ijcard.2014.07.066</a:t>
            </a:r>
          </a:p>
          <a:p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MY" sz="10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World Heart Federation. https://world-heart-federation.org/world-heart-day/cvd-causes-conditions/what-is </a:t>
            </a:r>
            <a:r>
              <a:rPr lang="en-MY" sz="105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cvd</a:t>
            </a:r>
            <a:r>
              <a:rPr lang="en-MY" sz="10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/#:~:text=More%20people%20die%20from%20CVD,%2D%20and%20middle%2Dincome%20countries </a:t>
            </a:r>
          </a:p>
          <a:p>
            <a:r>
              <a:rPr lang="en-US" sz="10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MY" sz="1050" dirty="0">
                <a:latin typeface="Times New Roman" panose="02020603050405020304" pitchFamily="18" charset="0"/>
              </a:rPr>
              <a:t>World Health Organization. (2021, June 11). Cardiovascular diseases (CVDs). https://www.who.int/news-room/fact-sheets/detail/cardiovascular-diseases(cvds)?gad_source=1&amp;gclid=CjwKCAjwnqK1BhBvEiwAi7o0X2bzovWpYhL0jV2jBwTYJfX1GdXm1Azj40gD3p3d6xXcG0jm1VqTCBoCF14QAvD_BwE </a:t>
            </a:r>
          </a:p>
          <a:p>
            <a:endParaRPr lang="en-MY" sz="1050" dirty="0">
              <a:latin typeface="Times New Roman" panose="02020603050405020304" pitchFamily="18" charset="0"/>
            </a:endParaRPr>
          </a:p>
          <a:p>
            <a:r>
              <a:rPr lang="en-MY" sz="1050" dirty="0">
                <a:latin typeface="Times New Roman" panose="02020603050405020304" pitchFamily="18" charset="0"/>
              </a:rPr>
              <a:t>Ye, G., Gamage, P. T., Balasubramanian, V., Li J. K-J., Subasi, E., Subasi, M. M., &amp; Kaya, M. (2023). Short-Term Risk Estimation and Treatment Planning for Cardiovascular Disease Patients after First Diagnostic Catheterizations with Machine Learning Models. </a:t>
            </a:r>
            <a:r>
              <a:rPr lang="en-MY" sz="1050" i="1" dirty="0">
                <a:latin typeface="Times New Roman" panose="02020603050405020304" pitchFamily="18" charset="0"/>
              </a:rPr>
              <a:t>Applied Sciences, 13</a:t>
            </a:r>
            <a:r>
              <a:rPr lang="en-MY" sz="1050" dirty="0">
                <a:latin typeface="Times New Roman" panose="02020603050405020304" pitchFamily="18" charset="0"/>
              </a:rPr>
              <a:t>(8), 5191. https://</a:t>
            </a:r>
            <a:r>
              <a:rPr lang="en-MY" sz="1050" dirty="0" err="1">
                <a:latin typeface="Times New Roman" panose="02020603050405020304" pitchFamily="18" charset="0"/>
              </a:rPr>
              <a:t>doi.org</a:t>
            </a:r>
            <a:r>
              <a:rPr lang="en-MY" sz="1050" dirty="0">
                <a:latin typeface="Times New Roman" panose="02020603050405020304" pitchFamily="18" charset="0"/>
              </a:rPr>
              <a:t>/10.3390/app13085191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rt Disease Prevention Conference by Slidesgo">
  <a:themeElements>
    <a:clrScheme name="Simple Light">
      <a:dk1>
        <a:srgbClr val="191919"/>
      </a:dk1>
      <a:lt1>
        <a:srgbClr val="FFFFFF"/>
      </a:lt1>
      <a:dk2>
        <a:srgbClr val="EF3455"/>
      </a:dk2>
      <a:lt2>
        <a:srgbClr val="DF4365"/>
      </a:lt2>
      <a:accent1>
        <a:srgbClr val="F0A7B7"/>
      </a:accent1>
      <a:accent2>
        <a:srgbClr val="6666B7"/>
      </a:accent2>
      <a:accent3>
        <a:srgbClr val="C2C2D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3663</TotalTime>
  <Words>2608</Words>
  <Application>Microsoft Macintosh PowerPoint</Application>
  <PresentationFormat>On-screen Show (16:9)</PresentationFormat>
  <Paragraphs>369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Doppio One</vt:lpstr>
      <vt:lpstr>PT Sans</vt:lpstr>
      <vt:lpstr>Times New Roman</vt:lpstr>
      <vt:lpstr>Heart Disease Prevention Conference by Slidesgo</vt:lpstr>
      <vt:lpstr> MACHINE LEARNING-BASED THREE-YEAR PREDICTION OF CARDIOVASCULAR DISEASE AND MAJOR EVENTS IN PATIENTS WITH NO PRIOR HISTORY  </vt:lpstr>
      <vt:lpstr>Contents</vt:lpstr>
      <vt:lpstr>01</vt:lpstr>
      <vt:lpstr>CARDIOVASCULAR DISEASE</vt:lpstr>
      <vt:lpstr>PowerPoint Presentation</vt:lpstr>
      <vt:lpstr>CVD RISK SCORES</vt:lpstr>
      <vt:lpstr>Solution  Machine Learning</vt:lpstr>
      <vt:lpstr>PowerPoint Presentation</vt:lpstr>
      <vt:lpstr>RESEARCH QUESTIONS</vt:lpstr>
      <vt:lpstr>OBJECTIVES</vt:lpstr>
      <vt:lpstr>02</vt:lpstr>
      <vt:lpstr>Methodology - Study Data</vt:lpstr>
      <vt:lpstr>Framework</vt:lpstr>
      <vt:lpstr>03</vt:lpstr>
      <vt:lpstr>Feature Comparison - Model 1</vt:lpstr>
      <vt:lpstr>Model 1 (CVD/No CVD)</vt:lpstr>
      <vt:lpstr>Net Reclassification Improvement (NRI) Index</vt:lpstr>
      <vt:lpstr>PowerPoint Presentation</vt:lpstr>
      <vt:lpstr>Feature Interpretability (SHAP)</vt:lpstr>
      <vt:lpstr>04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INTEGRATING AIRBORNE PARTICULATE MATTER EXPOSURE INTO PREDICTIVE MODELS FOR ACUTE CORONARY SYNDROME EVENTS AND IN-HOSPITAL MORTALITY: A MACHINE LEARNING APPROACH.</dc:title>
  <cp:lastModifiedBy>MALITHI GISHARA MICHELLE DE SILVA</cp:lastModifiedBy>
  <cp:revision>32</cp:revision>
  <dcterms:modified xsi:type="dcterms:W3CDTF">2024-08-16T03:40:34Z</dcterms:modified>
</cp:coreProperties>
</file>